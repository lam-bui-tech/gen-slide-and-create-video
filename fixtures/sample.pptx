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Triết học Mác - Lênin không chuyên, Chương 1; Đề cương chi tiết học phần. Hình minh họa được tạo riêng cho bài giảng.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11; Đề cương chi tiết học phần</a:t>
            </a:r>
          </a:p>
          <a:p>
            <a:r>
              <a:t>Gợi ý giảng dạy: Giới thiệu cho sinh viên ba câu hỏi xuyên suốt: Triết học là gì? Triết học Mác - Lênin ra đời như thế nào? Học triết học để làm gì?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12-15</a:t>
            </a:r>
          </a:p>
          <a:p>
            <a:r>
              <a:t>Ví dụ giảng dạy: Từ nhiều lần quan sát mưa, nắng và mùa vụ, con người dần hình thành nhận xét khái quát về thời tiết.</a:t>
            </a:r>
          </a:p>
          <a:p>
            <a:r>
              <a:t>Nguồn tham khảo trực tuyến: https://www.apaonline.org/page/undergraduates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12-15</a:t>
            </a:r>
          </a:p>
          <a:p>
            <a:r>
              <a:t>Ví dụ giảng dạy: Một sinh viên nhận thấy mỗi lần ôn đều trước giờ kiểm tra thì nhớ bài tốt hơn; từ nhiều trường hợp riêng, có thể hình thành nhận xét chung về luyện tập.</a:t>
            </a:r>
          </a:p>
          <a:p>
            <a:r>
              <a:t>Nguồn tham khảo trực tuyến: https://www.apaonline.org/page/undergraduates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15-18</a:t>
            </a:r>
          </a:p>
          <a:p>
            <a:r>
              <a:t>Ví dụ giảng dạy: Sự phát triển của sản xuất và phân công lao động tạo điều kiện để một bộ phận chuyên làm công việc tư duy, hệ thống hóa tri thức.</a:t>
            </a:r>
          </a:p>
          <a:p>
            <a:r>
              <a:t>Nguồn tham khảo trực tuyến: https://www.apaonline.org/page/undergraduates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19-22</a:t>
            </a:r>
          </a:p>
          <a:p>
            <a:r>
              <a:t>Ví dụ giảng dạy: Vật lý nghiên cứu một nhóm quy luật của tự nhiên; triết học đặt câu hỏi rộng hơn về những quy luật chung và vị trí của con người trong thế giới.</a:t>
            </a:r>
          </a:p>
          <a:p>
            <a:r>
              <a:t>Nguồn tham khảo trực tuyến: https://www.apaonline.org/page/undergraduates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23-26</a:t>
            </a:r>
          </a:p>
          <a:p>
            <a:r>
              <a:t>Ví dụ giảng dạy: Trước đây, một nhà tư tưởng có thể cùng lúc bàn về thiên văn, y học và đạo đức; ngày nay các lĩnh vực đó đã phát triển thành những khoa học chuyên ngành.</a:t>
            </a:r>
          </a:p>
          <a:p>
            <a:r>
              <a:t>Nguồn tham khảo trực tuyến: https://www.apaonline.org/page/undergraduates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27-30</a:t>
            </a:r>
          </a:p>
          <a:p>
            <a:r>
              <a:t>Ví dụ giảng dạy: Cùng một thất bại, người coi đó là dữ liệu để điều chỉnh cách làm sẽ hành động khác người cho rằng mọi việc đã được định sẵn.</a:t>
            </a:r>
          </a:p>
          <a:p>
            <a:r>
              <a:t>Nguồn tham khảo trực tuyến: https://www.apaonline.org/page/undergraduates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29-32</a:t>
            </a:r>
          </a:p>
          <a:p>
            <a:r>
              <a:t>Ví dụ giảng dạy: Khi đánh giá một tin trên mạng, cần xem nguồn tin, bằng chứng, bối cảnh và mối liên hệ của nó thay vì chỉ nhìn một chi tiết.</a:t>
            </a:r>
          </a:p>
          <a:p>
            <a:r>
              <a:t>Nguồn tham khảo trực tuyến: https://www.apaonline.org/page/undergraduates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33-35</a:t>
            </a:r>
          </a:p>
          <a:p>
            <a:r>
              <a:t>Ví dụ giảng dạy: Câu hỏi “ý tưởng về một sản phẩm xuất hiện trước hay điều kiện vật chất để sản xuất nó có trước?” gợi đến quan hệ giữa ý thức và vật chất.</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34-35</a:t>
            </a:r>
          </a:p>
          <a:p>
            <a:r>
              <a:t>Ví dụ giảng dạy: Mặt thứ nhất hỏi cái nào có trước và quyết định; mặt thứ hai hỏi con người có thể nhận thức đúng thế giới đến đâu.</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35-38</a:t>
            </a:r>
          </a:p>
          <a:p>
            <a:r>
              <a:t>Ví dụ giảng dạy: Cây vẫn tồn tại khách quan dù con người chưa quan sát; suy nghĩ và tri thức của con người phải xuất phát từ hiện thực đó.</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35-37</a:t>
            </a:r>
          </a:p>
          <a:p>
            <a:r>
              <a:t>Ví dụ giảng dạy: Duy vật chất phác có thể đồng nhất bản nguyên với một chất cụ thể; duy vật biện chứng xem xét sự vật trong quan hệ và quá trình phát triển.</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37-38</a:t>
            </a:r>
          </a:p>
          <a:p>
            <a:r>
              <a:t>Ví dụ giảng dạy: Nhầm cảm giác “trời lạnh” của cá nhân với bản thân nhiệt độ ngoài trời là cách minh họa đơn giản cho việc tuyệt đối hóa cảm giác chủ quan.</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38-39</a:t>
            </a:r>
          </a:p>
          <a:p>
            <a:r>
              <a:t>Ví dụ giảng dạy: Nhị nguyên luận xem vật chất và tinh thần như hai bản nguyên cùng tồn tại, thay vì quy toàn bộ thế giới về một bản nguyên duy nhất.</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39-42</a:t>
            </a:r>
          </a:p>
          <a:p>
            <a:r>
              <a:t>Ví dụ giảng dạy: Con người chưa hiểu hết một căn bệnh không có nghĩa là bệnh đó vĩnh viễn không thể được nghiên cứu và giải thích.</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43-45</a:t>
            </a:r>
          </a:p>
          <a:p>
            <a:r>
              <a:t>Ví dụ giảng dạy: Chỉ nhìn điểm số của một lần kiểm tra mà bỏ qua quá trình học, sức khỏe và hoàn cảnh là cách nhìn tách rời, thiên về siêu hình.</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45-47</a:t>
            </a:r>
          </a:p>
          <a:p>
            <a:r>
              <a:t>Ví dụ giảng dạy: Muốn hiểu kết quả học tập, cần xem đồng thời phương pháp học, thời gian ôn, sức khỏe và môi trường học tập.</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46-47</a:t>
            </a:r>
          </a:p>
          <a:p>
            <a:r>
              <a:t>Ví dụ giảng dạy: Một cuộc tranh luận có thể làm rõ mâu thuẫn trong quan điểm ban đầu và giúp người học hình thành cách hiểu đầy đủ hơn.</a:t>
            </a:r>
          </a:p>
          <a:p>
            <a:r>
              <a:t>Nguồn tham khảo trực tuyến: https://plato.stanford.edu/entries/hegel-dialectics/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48-52</a:t>
            </a:r>
          </a:p>
          <a:p>
            <a:r>
              <a:t>Ví dụ giảng dạy: Sự phát triển của máy móc công nghiệp làm tăng năng suất, đồng thời làm nảy sinh những vấn đề xã hội mới về lao động và phân phối lợi ích.</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52-54</a:t>
            </a:r>
          </a:p>
          <a:p>
            <a:r>
              <a:t>Ví dụ giảng dạy: Mác tiếp thu có chọn lọc các thành tựu của triết học Đức, kinh tế chính trị Anh và chủ nghĩa xã hội không tưởng Pháp.</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54-57</a:t>
            </a:r>
          </a:p>
          <a:p>
            <a:r>
              <a:t>Ví dụ giảng dạy: Thuyết tế bào cho thấy cơ thể sống có cấu tạo từ tế bào; thuyết tiến hóa cho thấy sinh vật biến đổi qua lịch sử. Nguồn tham khảo: National Academies of Sciences.</a:t>
            </a:r>
          </a:p>
          <a:p>
            <a:r>
              <a:t>Nguồn tham khảo trực tuyến: https://www.nationalacademies.org/evolution-resources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57-58</a:t>
            </a:r>
          </a:p>
          <a:p>
            <a:r>
              <a:t>Ví dụ giảng dạy: Một học thuyết lớn không chỉ phụ thuộc vào hoàn cảnh khách quan mà còn cần năng lực, sự cộng tác và hoạt động thực tiễn của những người xây dựng nó.</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59-65</a:t>
            </a:r>
          </a:p>
          <a:p>
            <a:r>
              <a:t>Ví dụ giảng dạy: Các mốc 1841–1844 cho thấy tư tưởng của Mác chuyển biến qua quá trình nghiên cứu và tham gia hoạt động xã hội, không hình thành trong một ngày.</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65-69</a:t>
            </a:r>
          </a:p>
          <a:p>
            <a:r>
              <a:t>Ví dụ giảng dạy: Luận cương về Feuerbach nhấn mạnh rằng con người cần kiểm nghiệm tư tưởng bằng hoạt động thực tiễn, không chỉ bằng suy luận.</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69-71</a:t>
            </a:r>
          </a:p>
          <a:p>
            <a:r>
              <a:t>Ví dụ giảng dạy: Những công trình sau này của Mác và Ăngghen tiếp tục mở rộng lý luận khi các ông phân tích những vấn đề mới của xã hội và phong trào công nhân.</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71-76</a:t>
            </a:r>
          </a:p>
          <a:p>
            <a:r>
              <a:t>Ví dụ giảng dạy: Không chỉ giải thích vì sao sinh viên học chưa hiệu quả, người dạy còn thử nghiệm cách ôn tập mới để cải thiện kết quả.</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72-74</a:t>
            </a:r>
          </a:p>
          <a:p>
            <a:r>
              <a:t>Ví dụ giảng dạy: Khi công nghệ sản xuất thay đổi, cách tổ chức lao động và các quan hệ xã hội cũng có thể thay đổi theo. Nội dung liên hệ với cách trình bày về historical materialism trong Stanford Encyclopedia of Philosophy.</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79-81</a:t>
            </a:r>
          </a:p>
          <a:p>
            <a:r>
              <a:t>Ví dụ giảng dạy: Khi khoa học xuất hiện phát hiện mới, những khái niệm cũ cần được kiểm tra và phát triển thay vì giữ nguyên một cách giáo điều.</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81-86</a:t>
            </a:r>
          </a:p>
          <a:p>
            <a:r>
              <a:t>Ví dụ giảng dạy: Lênin vừa bảo vệ nền tảng duy vật vừa phát triển các khái niệm để giải thích bối cảnh khoa học và xã hội mới.</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87-94</a:t>
            </a:r>
          </a:p>
          <a:p>
            <a:r>
              <a:t>Ví dụ giảng dạy: Một học thuyết chỉ có sức sống khi tiếp tục được kiểm nghiệm, bổ sung và phát triển trước những thay đổi của đời sống.</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92-94</a:t>
            </a:r>
          </a:p>
          <a:p>
            <a:r>
              <a:t>Ví dụ giảng dạy: Vận dụng lý luận vào Việt Nam đòi hỏi xuất phát từ điều kiện lịch sử, kinh tế và xã hội cụ thể của Việt Nam.</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97-99</a:t>
            </a:r>
          </a:p>
          <a:p>
            <a:r>
              <a:t>Ví dụ giảng dạy: Kinh tế học nghiên cứu quy luật của hoạt động kinh tế; triết học khái quát cách nhìn về mối liên hệ giữa kinh tế, xã hội và con người.</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95-98</a:t>
            </a:r>
          </a:p>
          <a:p>
            <a:r>
              <a:t>Ví dụ giảng dạy: Tính mở của học thuyết thể hiện ở việc tiếp thu thành tựu khoa học mới và tổng kết thực tiễn để phát triển nhận thức.</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96-99</a:t>
            </a:r>
          </a:p>
          <a:p>
            <a:r>
              <a:t>Ví dụ giảng dạy: Sinh học nghiên cứu quy luật của tế bào; triết học khái quát hơn về mối liên hệ, vận động và phát triển của tự nhiên.</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99-100</a:t>
            </a:r>
          </a:p>
          <a:p>
            <a:r>
              <a:t>Ví dụ giảng dạy: Khi một kế hoạch học tập không đạt kết quả, tư duy biện chứng yêu cầu xem xét mục tiêu, phương pháp, thời gian, sức khỏe và hoàn cảnh cùng nhau.</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100-101</a:t>
            </a:r>
          </a:p>
          <a:p>
            <a:r>
              <a:t>Ví dụ giảng dạy: Phương pháp luận triết học gợi nguyên tắc xem xét toàn diện, nhưng việc giải quyết bài toán kỹ thuật vẫn cần kiến thức chuyên ngành và dữ liệu thực tế.</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102-106</a:t>
            </a:r>
          </a:p>
          <a:p>
            <a:r>
              <a:t>Ví dụ giảng dạy: Khi giải quyết một vấn đề ở lớp học, cần xác định điều kiện cụ thể, nhận ra các yếu tố liên quan và thử giải pháp trong thực tiễn.</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tr. 102-106</a:t>
            </a:r>
          </a:p>
          <a:p>
            <a:r>
              <a:t>Ví dụ giảng dạy: Một chính sách chỉ phù hợp khi xuất phát từ điều kiện cụ thể, được kiểm nghiệm trong thực tiễn và điều chỉnh khi hoàn cảnh thay đổi.</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Giáo trình Chương 1; Đề cương chi tiết học phần</a:t>
            </a:r>
          </a:p>
          <a:p>
            <a:r>
              <a:t>Gợi ý thảo luận: Chọn một vấn đề trong ngành học của sinh viên, xác định điều kiện khách quan, các mối liên hệ và cách kiểm nghiệm giải pháp bằng thực tiễn.</a:t>
            </a:r>
          </a:p>
          <a:p>
            <a:r>
              <a:t>Nguồn tham khảo trực tuyến: https://plato.stanford.edu/entries/marx/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B43"/>
        </a:solidFill>
        <a:effectLst/>
      </p:bgPr>
    </p:bg>
    <p:spTree>
      <p:nvGrpSpPr>
        <p:cNvPr id="1" name=""/>
        <p:cNvGrpSpPr/>
        <p:nvPr/>
      </p:nvGrpSpPr>
      <p:grpSpPr>
        <a:xfrm>
          <a:off x="0" y="0"/>
          <a:ext cx="0" cy="0"/>
          <a:chOff x="0" y="0"/>
          <a:chExt cx="0" cy="0"/>
        </a:xfrm>
      </p:grpSpPr>
      <p:pic>
        <p:nvPicPr>
          <p:cNvPr id="9" name="Hình ảnh 8"/>
          <p:cNvPicPr>
            <a:picLocks noChangeAspect="1"/>
          </p:cNvPicPr>
          <p:nvPr/>
        </p:nvPicPr>
        <p:blipFill>
          <a:blip r:embed="rId3"/>
          <a:srcRect t="27" b="27"/>
          <a:stretch>
            <a:fillRect/>
          </a:stretch>
        </p:blipFill>
        <p:spPr>
          <a:xfrm>
            <a:off x="0" y="0"/>
            <a:ext cx="12192000" cy="6858000"/>
          </a:xfrm>
          <a:prstGeom prst="rect">
            <a:avLst/>
          </a:prstGeom>
        </p:spPr>
      </p:pic>
      <p:sp>
        <p:nvSpPr>
          <p:cNvPr id="2" name="Hình chữ nhật 1">
            <a:extLst>
              <a:ext uri="{FF2B5EF4-FFF2-40B4-BE49-F238E27FC236}">
                <a16:creationId xmlns:a16="http://schemas.microsoft.com/office/drawing/2014/main" id="{5C3346A7-FF29-4178-AB78-96E85718B68D}"/>
              </a:ext>
            </a:extLst>
          </p:cNvPr>
          <p:cNvSpPr>
            <a:spLocks noGrp="1"/>
          </p:cNvSpPr>
          <p:nvPr/>
        </p:nvSpPr>
        <p:spPr>
          <a:xfrm>
            <a:off x="0" y="0"/>
            <a:ext cx="5619750" cy="6858000"/>
          </a:xfrm>
          <a:prstGeom prst="rect">
            <a:avLst/>
          </a:prstGeom>
          <a:solidFill>
            <a:srgbClr val="142B43"/>
          </a:solidFill>
          <a:ln w="0">
            <a:solidFill>
              <a:srgbClr val="142B43"/>
            </a:solidFill>
          </a:ln>
        </p:spPr>
        <p:txBody>
          <a:bodyPr/>
          <a:lstStyle/>
          <a:p>
            <a:endParaRPr/>
          </a:p>
        </p:txBody>
      </p:sp>
      <p:sp>
        <p:nvSpPr>
          <p:cNvPr id="3" name="Hình chữ nhật 2">
            <a:extLst>
              <a:ext uri="{FF2B5EF4-FFF2-40B4-BE49-F238E27FC236}">
                <a16:creationId xmlns:a16="http://schemas.microsoft.com/office/drawing/2014/main" id="{F8489F5E-6C39-4E40-BD94-C8CCB12EC1D3}"/>
              </a:ext>
            </a:extLst>
          </p:cNvPr>
          <p:cNvSpPr>
            <a:spLocks noGrp="1"/>
          </p:cNvSpPr>
          <p:nvPr/>
        </p:nvSpPr>
        <p:spPr>
          <a:xfrm>
            <a:off x="685800" y="704850"/>
            <a:ext cx="914400" cy="57150"/>
          </a:xfrm>
          <a:prstGeom prst="rect">
            <a:avLst/>
          </a:prstGeom>
          <a:solidFill>
            <a:srgbClr val="C65B4B"/>
          </a:solidFill>
          <a:ln w="0">
            <a:solidFill>
              <a:srgbClr val="C65B4B"/>
            </a:solidFill>
          </a:ln>
        </p:spPr>
        <p:txBody>
          <a:bodyPr/>
          <a:lstStyle/>
          <a:p>
            <a:endParaRPr/>
          </a:p>
        </p:txBody>
      </p:sp>
      <p:sp>
        <p:nvSpPr>
          <p:cNvPr id="4" name="Hình chữ nhật 3">
            <a:extLst>
              <a:ext uri="{FF2B5EF4-FFF2-40B4-BE49-F238E27FC236}">
                <a16:creationId xmlns:a16="http://schemas.microsoft.com/office/drawing/2014/main" id="{72413112-0CFB-404B-AAD7-83810B110A95}"/>
              </a:ext>
            </a:extLst>
          </p:cNvPr>
          <p:cNvSpPr>
            <a:spLocks noGrp="1"/>
          </p:cNvSpPr>
          <p:nvPr/>
        </p:nvSpPr>
        <p:spPr>
          <a:xfrm>
            <a:off x="685800" y="1066800"/>
            <a:ext cx="3429000" cy="304800"/>
          </a:xfrm>
          <a:prstGeom prst="rect">
            <a:avLst/>
          </a:prstGeom>
          <a:noFill/>
          <a:ln w="0">
            <a:noFill/>
          </a:ln>
        </p:spPr>
        <p:txBody>
          <a:bodyPr anchor="t">
            <a:noAutofit/>
          </a:bodyPr>
          <a:lstStyle/>
          <a:p>
            <a:pPr algn="l">
              <a:buNone/>
              <a:defRPr sz="1500" b="1" i="0">
                <a:solidFill>
                  <a:srgbClr val="D6A756"/>
                </a:solidFill>
                <a:latin typeface="Times New Roman"/>
                <a:ea typeface="Times New Roman"/>
                <a:cs typeface="Times New Roman"/>
              </a:defRPr>
            </a:pPr>
            <a:r>
              <a:rPr sz="1650" b="1" i="0">
                <a:solidFill>
                  <a:srgbClr val="D6A756"/>
                </a:solidFill>
                <a:latin typeface="Times New Roman"/>
                <a:ea typeface="Times New Roman"/>
                <a:cs typeface="Times New Roman"/>
              </a:rPr>
              <a:t>CHƯƠNG 1</a:t>
            </a:r>
          </a:p>
        </p:txBody>
      </p:sp>
      <p:sp>
        <p:nvSpPr>
          <p:cNvPr id="5" name="Hình chữ nhật 4">
            <a:extLst>
              <a:ext uri="{FF2B5EF4-FFF2-40B4-BE49-F238E27FC236}">
                <a16:creationId xmlns:a16="http://schemas.microsoft.com/office/drawing/2014/main" id="{936D6E45-73F8-4165-A2C6-A8F0275DD952}"/>
              </a:ext>
            </a:extLst>
          </p:cNvPr>
          <p:cNvSpPr>
            <a:spLocks noGrp="1"/>
          </p:cNvSpPr>
          <p:nvPr/>
        </p:nvSpPr>
        <p:spPr>
          <a:xfrm>
            <a:off x="685800" y="1581150"/>
            <a:ext cx="4429125" cy="2857500"/>
          </a:xfrm>
          <a:prstGeom prst="rect">
            <a:avLst/>
          </a:prstGeom>
          <a:noFill/>
          <a:ln w="0">
            <a:noFill/>
          </a:ln>
        </p:spPr>
        <p:txBody>
          <a:bodyPr anchor="t"/>
          <a:lstStyle/>
          <a:p>
            <a:pPr algn="l">
              <a:buNone/>
              <a:defRPr sz="3150" b="1" i="0">
                <a:solidFill>
                  <a:srgbClr val="FFFFFF"/>
                </a:solidFill>
                <a:latin typeface="Times New Roman"/>
                <a:ea typeface="Times New Roman"/>
                <a:cs typeface="Times New Roman"/>
              </a:defRPr>
            </a:pPr>
            <a:r>
              <a:rPr sz="3450" b="1" i="0">
                <a:solidFill>
                  <a:srgbClr val="FFFFFF"/>
                </a:solidFill>
                <a:latin typeface="Times New Roman"/>
                <a:ea typeface="Times New Roman"/>
                <a:cs typeface="Times New Roman"/>
              </a:rPr>
              <a:t>KHÁI LUẬN VỀ</a:t>
            </a:r>
          </a:p>
          <a:p>
            <a:pPr algn="l">
              <a:buNone/>
              <a:defRPr sz="3150" b="1" i="0">
                <a:solidFill>
                  <a:srgbClr val="FFFFFF"/>
                </a:solidFill>
                <a:latin typeface="Times New Roman"/>
                <a:ea typeface="Times New Roman"/>
                <a:cs typeface="Times New Roman"/>
              </a:defRPr>
            </a:pPr>
            <a:r>
              <a:rPr sz="3450" b="1" i="0">
                <a:solidFill>
                  <a:srgbClr val="FFFFFF"/>
                </a:solidFill>
                <a:latin typeface="Times New Roman"/>
                <a:ea typeface="Times New Roman"/>
                <a:cs typeface="Times New Roman"/>
              </a:rPr>
              <a:t>TRIẾT HỌC VÀ</a:t>
            </a:r>
          </a:p>
          <a:p>
            <a:pPr algn="l">
              <a:buNone/>
              <a:defRPr sz="3150" b="1" i="0">
                <a:solidFill>
                  <a:srgbClr val="FFFFFF"/>
                </a:solidFill>
                <a:latin typeface="Times New Roman"/>
                <a:ea typeface="Times New Roman"/>
                <a:cs typeface="Times New Roman"/>
              </a:defRPr>
            </a:pPr>
            <a:r>
              <a:rPr sz="3450" b="1" i="0">
                <a:solidFill>
                  <a:srgbClr val="FFFFFF"/>
                </a:solidFill>
                <a:latin typeface="Times New Roman"/>
                <a:ea typeface="Times New Roman"/>
                <a:cs typeface="Times New Roman"/>
              </a:rPr>
              <a:t>TRIẾT HỌC</a:t>
            </a:r>
          </a:p>
          <a:p>
            <a:pPr algn="l">
              <a:buNone/>
              <a:defRPr sz="3150" b="1" i="0">
                <a:solidFill>
                  <a:srgbClr val="FFFFFF"/>
                </a:solidFill>
                <a:latin typeface="Times New Roman"/>
                <a:ea typeface="Times New Roman"/>
                <a:cs typeface="Times New Roman"/>
              </a:defRPr>
            </a:pPr>
            <a:r>
              <a:rPr sz="3450" b="1" i="0">
                <a:solidFill>
                  <a:srgbClr val="FFFFFF"/>
                </a:solidFill>
                <a:latin typeface="Times New Roman"/>
                <a:ea typeface="Times New Roman"/>
                <a:cs typeface="Times New Roman"/>
              </a:rPr>
              <a:t>MÁC - LÊNIN</a:t>
            </a:r>
          </a:p>
        </p:txBody>
      </p:sp>
      <p:sp>
        <p:nvSpPr>
          <p:cNvPr id="6" name="Hình chữ nhật 5">
            <a:extLst>
              <a:ext uri="{FF2B5EF4-FFF2-40B4-BE49-F238E27FC236}">
                <a16:creationId xmlns:a16="http://schemas.microsoft.com/office/drawing/2014/main" id="{A03DAADF-2642-4469-BB2C-6D5A2B593BA4}"/>
              </a:ext>
            </a:extLst>
          </p:cNvPr>
          <p:cNvSpPr>
            <a:spLocks noGrp="1"/>
          </p:cNvSpPr>
          <p:nvPr/>
        </p:nvSpPr>
        <p:spPr>
          <a:xfrm>
            <a:off x="685799" y="4838700"/>
            <a:ext cx="4772609" cy="552450"/>
          </a:xfrm>
          <a:prstGeom prst="rect">
            <a:avLst/>
          </a:prstGeom>
          <a:noFill/>
          <a:ln w="0">
            <a:noFill/>
          </a:ln>
        </p:spPr>
        <p:txBody>
          <a:bodyPr anchor="t">
            <a:noAutofit/>
          </a:bodyPr>
          <a:lstStyle/>
          <a:p>
            <a:pPr algn="l">
              <a:buNone/>
              <a:defRPr sz="1575" b="0" i="0">
                <a:solidFill>
                  <a:srgbClr val="D9E7EC"/>
                </a:solidFill>
                <a:latin typeface="Times New Roman"/>
                <a:ea typeface="Times New Roman"/>
                <a:cs typeface="Times New Roman"/>
              </a:defRPr>
            </a:pPr>
            <a:r>
              <a:rPr sz="1725" b="0" i="0" dirty="0" err="1">
                <a:solidFill>
                  <a:srgbClr val="D9E7EC"/>
                </a:solidFill>
                <a:latin typeface="Times New Roman"/>
                <a:ea typeface="Times New Roman"/>
                <a:cs typeface="Times New Roman"/>
              </a:rPr>
              <a:t>Dành</a:t>
            </a:r>
            <a:r>
              <a:rPr sz="1725" b="0" i="0" dirty="0">
                <a:solidFill>
                  <a:srgbClr val="D9E7EC"/>
                </a:solidFill>
                <a:latin typeface="Times New Roman"/>
                <a:ea typeface="Times New Roman"/>
                <a:cs typeface="Times New Roman"/>
              </a:rPr>
              <a:t> </a:t>
            </a:r>
            <a:r>
              <a:rPr sz="1725" b="0" i="0" dirty="0" err="1">
                <a:solidFill>
                  <a:srgbClr val="D9E7EC"/>
                </a:solidFill>
                <a:latin typeface="Times New Roman"/>
                <a:ea typeface="Times New Roman"/>
                <a:cs typeface="Times New Roman"/>
              </a:rPr>
              <a:t>cho</a:t>
            </a:r>
            <a:r>
              <a:rPr sz="1725" b="0" i="0" dirty="0">
                <a:solidFill>
                  <a:srgbClr val="D9E7EC"/>
                </a:solidFill>
                <a:latin typeface="Times New Roman"/>
                <a:ea typeface="Times New Roman"/>
                <a:cs typeface="Times New Roman"/>
              </a:rPr>
              <a:t> </a:t>
            </a:r>
            <a:r>
              <a:rPr sz="1725" b="0" i="0" dirty="0" err="1">
                <a:solidFill>
                  <a:srgbClr val="D9E7EC"/>
                </a:solidFill>
                <a:latin typeface="Times New Roman"/>
                <a:ea typeface="Times New Roman"/>
                <a:cs typeface="Times New Roman"/>
              </a:rPr>
              <a:t>sinh</a:t>
            </a:r>
            <a:r>
              <a:rPr sz="1725" b="0" i="0" dirty="0">
                <a:solidFill>
                  <a:srgbClr val="D9E7EC"/>
                </a:solidFill>
                <a:latin typeface="Times New Roman"/>
                <a:ea typeface="Times New Roman"/>
                <a:cs typeface="Times New Roman"/>
              </a:rPr>
              <a:t> </a:t>
            </a:r>
            <a:r>
              <a:rPr sz="1725" b="0" i="0" dirty="0" err="1">
                <a:solidFill>
                  <a:srgbClr val="D9E7EC"/>
                </a:solidFill>
                <a:latin typeface="Times New Roman"/>
                <a:ea typeface="Times New Roman"/>
                <a:cs typeface="Times New Roman"/>
              </a:rPr>
              <a:t>viên</a:t>
            </a:r>
            <a:r>
              <a:rPr sz="1725" b="0" i="0" dirty="0">
                <a:solidFill>
                  <a:srgbClr val="D9E7EC"/>
                </a:solidFill>
                <a:latin typeface="Times New Roman"/>
                <a:ea typeface="Times New Roman"/>
                <a:cs typeface="Times New Roman"/>
              </a:rPr>
              <a:t> </a:t>
            </a:r>
            <a:r>
              <a:rPr sz="1725" b="0" i="0" dirty="0" err="1">
                <a:solidFill>
                  <a:srgbClr val="D9E7EC"/>
                </a:solidFill>
                <a:latin typeface="Times New Roman"/>
                <a:ea typeface="Times New Roman"/>
                <a:cs typeface="Times New Roman"/>
              </a:rPr>
              <a:t>không</a:t>
            </a:r>
            <a:r>
              <a:rPr sz="1725" b="0" i="0" dirty="0">
                <a:solidFill>
                  <a:srgbClr val="D9E7EC"/>
                </a:solidFill>
                <a:latin typeface="Times New Roman"/>
                <a:ea typeface="Times New Roman"/>
                <a:cs typeface="Times New Roman"/>
              </a:rPr>
              <a:t> </a:t>
            </a:r>
            <a:r>
              <a:rPr sz="1725" b="0" i="0" dirty="0" err="1">
                <a:solidFill>
                  <a:srgbClr val="D9E7EC"/>
                </a:solidFill>
                <a:latin typeface="Times New Roman"/>
                <a:ea typeface="Times New Roman"/>
                <a:cs typeface="Times New Roman"/>
              </a:rPr>
              <a:t>chuyên</a:t>
            </a:r>
            <a:r>
              <a:rPr sz="1725" b="0" i="0" dirty="0">
                <a:solidFill>
                  <a:srgbClr val="D9E7EC"/>
                </a:solidFill>
                <a:latin typeface="Times New Roman"/>
                <a:ea typeface="Times New Roman"/>
                <a:cs typeface="Times New Roman"/>
              </a:rPr>
              <a:t> </a:t>
            </a:r>
            <a:r>
              <a:rPr sz="1725" b="0" i="0" dirty="0" err="1">
                <a:solidFill>
                  <a:srgbClr val="D9E7EC"/>
                </a:solidFill>
                <a:latin typeface="Times New Roman"/>
                <a:ea typeface="Times New Roman"/>
                <a:cs typeface="Times New Roman"/>
              </a:rPr>
              <a:t>lý</a:t>
            </a:r>
            <a:r>
              <a:rPr sz="1725" b="0" i="0" dirty="0">
                <a:solidFill>
                  <a:srgbClr val="D9E7EC"/>
                </a:solidFill>
                <a:latin typeface="Times New Roman"/>
                <a:ea typeface="Times New Roman"/>
                <a:cs typeface="Times New Roman"/>
              </a:rPr>
              <a:t> </a:t>
            </a:r>
            <a:r>
              <a:rPr sz="1725" b="0" i="0" dirty="0" err="1">
                <a:solidFill>
                  <a:srgbClr val="D9E7EC"/>
                </a:solidFill>
                <a:latin typeface="Times New Roman"/>
                <a:ea typeface="Times New Roman"/>
                <a:cs typeface="Times New Roman"/>
              </a:rPr>
              <a:t>luận</a:t>
            </a:r>
            <a:r>
              <a:rPr sz="1725" b="0" i="0" dirty="0">
                <a:solidFill>
                  <a:srgbClr val="D9E7EC"/>
                </a:solidFill>
                <a:latin typeface="Times New Roman"/>
                <a:ea typeface="Times New Roman"/>
                <a:cs typeface="Times New Roman"/>
              </a:rPr>
              <a:t> </a:t>
            </a:r>
            <a:r>
              <a:rPr sz="1725" b="0" i="0" dirty="0" err="1">
                <a:solidFill>
                  <a:srgbClr val="D9E7EC"/>
                </a:solidFill>
                <a:latin typeface="Times New Roman"/>
                <a:ea typeface="Times New Roman"/>
                <a:cs typeface="Times New Roman"/>
              </a:rPr>
              <a:t>chính</a:t>
            </a:r>
            <a:r>
              <a:rPr sz="1725" b="0" i="0" dirty="0">
                <a:solidFill>
                  <a:srgbClr val="D9E7EC"/>
                </a:solidFill>
                <a:latin typeface="Times New Roman"/>
                <a:ea typeface="Times New Roman"/>
                <a:cs typeface="Times New Roman"/>
              </a:rPr>
              <a:t> </a:t>
            </a:r>
            <a:r>
              <a:rPr sz="1725" b="0" i="0" dirty="0" err="1">
                <a:solidFill>
                  <a:srgbClr val="D9E7EC"/>
                </a:solidFill>
                <a:latin typeface="Times New Roman"/>
                <a:ea typeface="Times New Roman"/>
                <a:cs typeface="Times New Roman"/>
              </a:rPr>
              <a:t>trị</a:t>
            </a:r>
            <a:endParaRPr sz="1725" b="0" i="0" dirty="0">
              <a:solidFill>
                <a:srgbClr val="D9E7EC"/>
              </a:solidFill>
              <a:latin typeface="Times New Roman"/>
              <a:ea typeface="Times New Roman"/>
              <a:cs typeface="Times New Roman"/>
            </a:endParaRPr>
          </a:p>
        </p:txBody>
      </p:sp>
      <p:sp>
        <p:nvSpPr>
          <p:cNvPr id="7" name="Hình chữ nhật 6">
            <a:extLst>
              <a:ext uri="{FF2B5EF4-FFF2-40B4-BE49-F238E27FC236}">
                <a16:creationId xmlns:a16="http://schemas.microsoft.com/office/drawing/2014/main" id="{6A297914-49C3-4927-B3D3-F80BB64BF8D1}"/>
              </a:ext>
            </a:extLst>
          </p:cNvPr>
          <p:cNvSpPr>
            <a:spLocks noGrp="1"/>
          </p:cNvSpPr>
          <p:nvPr/>
        </p:nvSpPr>
        <p:spPr>
          <a:xfrm>
            <a:off x="685800" y="5943600"/>
            <a:ext cx="4095750" cy="285750"/>
          </a:xfrm>
          <a:prstGeom prst="rect">
            <a:avLst/>
          </a:prstGeom>
          <a:noFill/>
          <a:ln w="0">
            <a:noFill/>
          </a:ln>
        </p:spPr>
        <p:txBody>
          <a:bodyPr anchor="t">
            <a:noAutofit/>
          </a:bodyPr>
          <a:lstStyle/>
          <a:p>
            <a:pPr algn="l">
              <a:buNone/>
              <a:defRPr sz="1200" b="1" i="0">
                <a:solidFill>
                  <a:srgbClr val="D6A756"/>
                </a:solidFill>
                <a:latin typeface="Times New Roman"/>
                <a:ea typeface="Times New Roman"/>
                <a:cs typeface="Times New Roman"/>
              </a:defRPr>
            </a:pPr>
            <a:r>
              <a:rPr sz="2400" b="1" i="0">
                <a:solidFill>
                  <a:srgbClr val="D6A756"/>
                </a:solidFill>
                <a:latin typeface="Times New Roman"/>
                <a:ea typeface="Times New Roman"/>
                <a:cs typeface="Times New Roman"/>
              </a:rPr>
              <a:t>Môn Triết học Mác - Lênin</a:t>
            </a:r>
          </a:p>
        </p:txBody>
      </p:sp>
    </p:spTree>
    <p:extLst>
      <p:ext uri="{BB962C8B-B14F-4D97-AF65-F5344CB8AC3E}">
        <p14:creationId xmlns:p14="http://schemas.microsoft.com/office/powerpoint/2010/main" val="411235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2" name="Hình chữ nhật 11">
            <a:extLst>
              <a:ext uri="{FF2B5EF4-FFF2-40B4-BE49-F238E27FC236}">
                <a16:creationId xmlns:a16="http://schemas.microsoft.com/office/drawing/2014/main" id="{6A26B64D-6657-48B8-8D44-83F0C3B70CBA}"/>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1200" b="1" i="0">
                <a:solidFill>
                  <a:srgbClr val="C65B4B"/>
                </a:solidFill>
                <a:latin typeface="Times New Roman"/>
                <a:ea typeface="Times New Roman"/>
                <a:cs typeface="Times New Roman"/>
              </a:rPr>
              <a:t>MỞ ĐẦU</a:t>
            </a:r>
          </a:p>
        </p:txBody>
      </p:sp>
      <p:sp>
        <p:nvSpPr>
          <p:cNvPr id="2" name="Hình chữ nhật 1">
            <a:extLst>
              <a:ext uri="{FF2B5EF4-FFF2-40B4-BE49-F238E27FC236}">
                <a16:creationId xmlns:a16="http://schemas.microsoft.com/office/drawing/2014/main" id="{75D95F30-52F6-4130-A1C9-13A4474079B0}"/>
              </a:ext>
            </a:extLst>
          </p:cNvPr>
          <p:cNvSpPr>
            <a:spLocks noGrp="1"/>
          </p:cNvSpPr>
          <p:nvPr/>
        </p:nvSpPr>
        <p:spPr>
          <a:xfrm>
            <a:off x="685800" y="628650"/>
            <a:ext cx="10001250" cy="70485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Mục tiêu và mạch nội dung</a:t>
            </a:r>
          </a:p>
        </p:txBody>
      </p:sp>
      <p:sp>
        <p:nvSpPr>
          <p:cNvPr id="3" name="Hình chữ nhật 2">
            <a:extLst>
              <a:ext uri="{FF2B5EF4-FFF2-40B4-BE49-F238E27FC236}">
                <a16:creationId xmlns:a16="http://schemas.microsoft.com/office/drawing/2014/main" id="{F574AF4B-BCD2-408B-A95A-17DD67F2E4E9}"/>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7B8083BF-0437-4336-B4B0-AC632A6DDA37}"/>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11; Đề cương chi tiết học phần</a:t>
            </a:r>
          </a:p>
        </p:txBody>
      </p:sp>
      <p:sp>
        <p:nvSpPr>
          <p:cNvPr id="5" name="Hình chữ nhật 4">
            <a:extLst>
              <a:ext uri="{FF2B5EF4-FFF2-40B4-BE49-F238E27FC236}">
                <a16:creationId xmlns:a16="http://schemas.microsoft.com/office/drawing/2014/main" id="{9905E85E-9FF2-4518-97D5-E4028A0C9002}"/>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02</a:t>
            </a:r>
          </a:p>
        </p:txBody>
      </p:sp>
      <p:sp>
        <p:nvSpPr>
          <p:cNvPr id="6" name="Hình chữ nhật: Góc Tròn 5">
            <a:extLst>
              <a:ext uri="{FF2B5EF4-FFF2-40B4-BE49-F238E27FC236}">
                <a16:creationId xmlns:a16="http://schemas.microsoft.com/office/drawing/2014/main" id="{6CA4C813-64CA-44B9-8379-EBE70918EEFD}"/>
              </a:ext>
            </a:extLst>
          </p:cNvPr>
          <p:cNvSpPr>
            <a:spLocks noGrp="1"/>
          </p:cNvSpPr>
          <p:nvPr/>
        </p:nvSpPr>
        <p:spPr>
          <a:xfrm>
            <a:off x="685800" y="1714499"/>
            <a:ext cx="2085392" cy="523875"/>
          </a:xfrm>
          <a:prstGeom prst="roundRect">
            <a:avLst>
              <a:gd name="adj" fmla="val 23529"/>
            </a:avLst>
          </a:prstGeom>
          <a:solidFill>
            <a:srgbClr val="C65B4B"/>
          </a:solidFill>
          <a:ln w="0">
            <a:solidFill>
              <a:srgbClr val="C65B4B"/>
            </a:solidFill>
          </a:ln>
        </p:spPr>
        <p:txBody>
          <a:bodyPr/>
          <a:lstStyle/>
          <a:p>
            <a:endParaRPr/>
          </a:p>
        </p:txBody>
      </p:sp>
      <p:sp>
        <p:nvSpPr>
          <p:cNvPr id="7" name="Hình chữ nhật 6">
            <a:extLst>
              <a:ext uri="{FF2B5EF4-FFF2-40B4-BE49-F238E27FC236}">
                <a16:creationId xmlns:a16="http://schemas.microsoft.com/office/drawing/2014/main" id="{284CB3B4-35D0-45F6-BDC0-87C4E87834A1}"/>
              </a:ext>
            </a:extLst>
          </p:cNvPr>
          <p:cNvSpPr>
            <a:spLocks noGrp="1"/>
          </p:cNvSpPr>
          <p:nvPr/>
        </p:nvSpPr>
        <p:spPr>
          <a:xfrm>
            <a:off x="895738" y="1800807"/>
            <a:ext cx="1632857" cy="399467"/>
          </a:xfrm>
          <a:prstGeom prst="rect">
            <a:avLst/>
          </a:prstGeom>
          <a:noFill/>
          <a:ln w="0">
            <a:noFill/>
          </a:ln>
        </p:spPr>
        <p:txBody>
          <a:bodyPr anchor="t">
            <a:noAutofit/>
          </a:bodyPr>
          <a:lstStyle/>
          <a:p>
            <a:pPr algn="ctr">
              <a:buNone/>
              <a:defRPr sz="1050" b="1" i="0">
                <a:solidFill>
                  <a:srgbClr val="FFFFFF"/>
                </a:solidFill>
                <a:latin typeface="Times New Roman"/>
                <a:ea typeface="Times New Roman"/>
                <a:cs typeface="Times New Roman"/>
              </a:defRPr>
            </a:pPr>
            <a:r>
              <a:rPr sz="2000" b="1" i="0" dirty="0">
                <a:solidFill>
                  <a:srgbClr val="FFFFFF"/>
                </a:solidFill>
                <a:latin typeface="Times New Roman"/>
                <a:ea typeface="Times New Roman"/>
                <a:cs typeface="Times New Roman"/>
              </a:rPr>
              <a:t>MỤC</a:t>
            </a:r>
            <a:r>
              <a:rPr lang="vi-VN" sz="2000" b="1" i="0" dirty="0">
                <a:solidFill>
                  <a:srgbClr val="FFFFFF"/>
                </a:solidFill>
                <a:latin typeface="Times New Roman"/>
                <a:ea typeface="Times New Roman"/>
                <a:cs typeface="Times New Roman"/>
              </a:rPr>
              <a:t> </a:t>
            </a:r>
            <a:r>
              <a:rPr sz="2000" b="1" i="0" dirty="0">
                <a:solidFill>
                  <a:srgbClr val="FFFFFF"/>
                </a:solidFill>
                <a:latin typeface="Times New Roman"/>
                <a:ea typeface="Times New Roman"/>
                <a:cs typeface="Times New Roman"/>
              </a:rPr>
              <a:t>TIÊU</a:t>
            </a:r>
          </a:p>
        </p:txBody>
      </p:sp>
      <p:sp>
        <p:nvSpPr>
          <p:cNvPr id="8" name="Hình chữ nhật 7">
            <a:extLst>
              <a:ext uri="{FF2B5EF4-FFF2-40B4-BE49-F238E27FC236}">
                <a16:creationId xmlns:a16="http://schemas.microsoft.com/office/drawing/2014/main" id="{B5E9D4BE-68E8-444F-92BC-47AAF14D99CB}"/>
              </a:ext>
            </a:extLst>
          </p:cNvPr>
          <p:cNvSpPr>
            <a:spLocks noGrp="1"/>
          </p:cNvSpPr>
          <p:nvPr/>
        </p:nvSpPr>
        <p:spPr>
          <a:xfrm>
            <a:off x="685800" y="2266950"/>
            <a:ext cx="6667500" cy="3143250"/>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  Nắm những nét khái quát về triết học và vấn đề cơ bản của triết học.</a:t>
            </a:r>
          </a:p>
          <a:p>
            <a:pPr algn="l">
              <a:buNone/>
              <a:defRPr sz="165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  Hiểu sự ra đời, các giai đoạn phát triển và thực chất cuộc cách mạng trong triết học do C. Mác và Ph. Ăngghen thực hiện.</a:t>
            </a:r>
          </a:p>
          <a:p>
            <a:pPr algn="l">
              <a:buNone/>
              <a:defRPr sz="165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  Nhận diện vai trò của triết học Mác - Lênin trong đời sống xã hội và thời đại ngày nay.</a:t>
            </a:r>
          </a:p>
          <a:p>
            <a:pPr algn="l">
              <a:buNone/>
              <a:defRPr sz="165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  Biết vận dụng thế giới quan và phương pháp luận duy vật biện chứng vào nhận thức, hoạt động thực tiễn.</a:t>
            </a:r>
          </a:p>
        </p:txBody>
      </p:sp>
      <p:sp>
        <p:nvSpPr>
          <p:cNvPr id="9" name="Hình chữ nhật: Góc Tròn 8">
            <a:extLst>
              <a:ext uri="{FF2B5EF4-FFF2-40B4-BE49-F238E27FC236}">
                <a16:creationId xmlns:a16="http://schemas.microsoft.com/office/drawing/2014/main" id="{A20A3F49-17A2-426A-B4C0-460229614201}"/>
              </a:ext>
            </a:extLst>
          </p:cNvPr>
          <p:cNvSpPr>
            <a:spLocks noGrp="1"/>
          </p:cNvSpPr>
          <p:nvPr/>
        </p:nvSpPr>
        <p:spPr>
          <a:xfrm>
            <a:off x="8096250" y="1733550"/>
            <a:ext cx="2952750" cy="3143250"/>
          </a:xfrm>
          <a:prstGeom prst="roundRect">
            <a:avLst>
              <a:gd name="adj" fmla="val 2581"/>
            </a:avLst>
          </a:prstGeom>
          <a:solidFill>
            <a:srgbClr val="EAF1F4"/>
          </a:solidFill>
          <a:ln w="0">
            <a:solidFill>
              <a:srgbClr val="EAF1F4"/>
            </a:solidFill>
          </a:ln>
        </p:spPr>
        <p:txBody>
          <a:bodyPr/>
          <a:lstStyle/>
          <a:p>
            <a:endParaRPr/>
          </a:p>
        </p:txBody>
      </p:sp>
      <p:sp>
        <p:nvSpPr>
          <p:cNvPr id="10" name="Hình chữ nhật 9">
            <a:extLst>
              <a:ext uri="{FF2B5EF4-FFF2-40B4-BE49-F238E27FC236}">
                <a16:creationId xmlns:a16="http://schemas.microsoft.com/office/drawing/2014/main" id="{83DAE864-CC7C-48C2-9344-B233B82C0099}"/>
              </a:ext>
            </a:extLst>
          </p:cNvPr>
          <p:cNvSpPr>
            <a:spLocks noGrp="1"/>
          </p:cNvSpPr>
          <p:nvPr/>
        </p:nvSpPr>
        <p:spPr>
          <a:xfrm>
            <a:off x="8401050" y="2038350"/>
            <a:ext cx="2286000" cy="247650"/>
          </a:xfrm>
          <a:prstGeom prst="rect">
            <a:avLst/>
          </a:prstGeom>
          <a:noFill/>
          <a:ln w="0">
            <a:noFill/>
          </a:ln>
        </p:spPr>
        <p:txBody>
          <a:bodyPr anchor="t">
            <a:noAutofit/>
          </a:bodyPr>
          <a:lstStyle/>
          <a:p>
            <a:pPr algn="l">
              <a:buNone/>
              <a:defRPr sz="1200" b="1" i="0">
                <a:solidFill>
                  <a:srgbClr val="142B43"/>
                </a:solidFill>
                <a:latin typeface="Times New Roman"/>
                <a:ea typeface="Times New Roman"/>
                <a:cs typeface="Times New Roman"/>
              </a:defRPr>
            </a:pPr>
            <a:r>
              <a:rPr sz="1600" b="1" i="0">
                <a:solidFill>
                  <a:srgbClr val="142B43"/>
                </a:solidFill>
                <a:latin typeface="Times New Roman"/>
                <a:ea typeface="Times New Roman"/>
                <a:cs typeface="Times New Roman"/>
              </a:rPr>
              <a:t>MẠCH BÀI</a:t>
            </a:r>
          </a:p>
        </p:txBody>
      </p:sp>
      <p:sp>
        <p:nvSpPr>
          <p:cNvPr id="11" name="Hình chữ nhật 10">
            <a:extLst>
              <a:ext uri="{FF2B5EF4-FFF2-40B4-BE49-F238E27FC236}">
                <a16:creationId xmlns:a16="http://schemas.microsoft.com/office/drawing/2014/main" id="{7B3CD748-83BA-4A1E-80DC-F3C5AC802312}"/>
              </a:ext>
            </a:extLst>
          </p:cNvPr>
          <p:cNvSpPr>
            <a:spLocks noGrp="1"/>
          </p:cNvSpPr>
          <p:nvPr/>
        </p:nvSpPr>
        <p:spPr>
          <a:xfrm>
            <a:off x="8401050" y="2476500"/>
            <a:ext cx="2381250" cy="2095500"/>
          </a:xfrm>
          <a:prstGeom prst="rect">
            <a:avLst/>
          </a:prstGeom>
          <a:noFill/>
          <a:ln w="0">
            <a:noFill/>
          </a:ln>
        </p:spPr>
        <p:txBody>
          <a:bodyPr anchor="t"/>
          <a:lstStyle/>
          <a:p>
            <a:pPr algn="l">
              <a:buNone/>
              <a:defRPr sz="1650" b="0" i="0">
                <a:solidFill>
                  <a:srgbClr val="142B43"/>
                </a:solidFill>
                <a:latin typeface="Times New Roman"/>
                <a:ea typeface="Times New Roman"/>
                <a:cs typeface="Times New Roman"/>
              </a:defRPr>
            </a:pPr>
            <a:r>
              <a:rPr sz="2000" b="0" i="0">
                <a:solidFill>
                  <a:srgbClr val="142B43"/>
                </a:solidFill>
                <a:latin typeface="Times New Roman"/>
                <a:ea typeface="Times New Roman"/>
                <a:cs typeface="Times New Roman"/>
              </a:rPr>
              <a:t>1. Triết học và vấn đề cơ bản</a:t>
            </a:r>
          </a:p>
          <a:p>
            <a:endParaRPr sz="2000" b="0" i="0">
              <a:solidFill>
                <a:srgbClr val="142B43"/>
              </a:solidFill>
              <a:latin typeface="Times New Roman"/>
              <a:ea typeface="Times New Roman"/>
              <a:cs typeface="Times New Roman"/>
            </a:endParaRPr>
          </a:p>
          <a:p>
            <a:pPr algn="l">
              <a:buNone/>
              <a:defRPr sz="1650" b="0" i="0">
                <a:solidFill>
                  <a:srgbClr val="142B43"/>
                </a:solidFill>
                <a:latin typeface="Times New Roman"/>
                <a:ea typeface="Times New Roman"/>
                <a:cs typeface="Times New Roman"/>
              </a:defRPr>
            </a:pPr>
            <a:r>
              <a:rPr sz="2000" b="0" i="0">
                <a:solidFill>
                  <a:srgbClr val="142B43"/>
                </a:solidFill>
                <a:latin typeface="Times New Roman"/>
                <a:ea typeface="Times New Roman"/>
                <a:cs typeface="Times New Roman"/>
              </a:rPr>
              <a:t>2. Triết học Mác - Lênin</a:t>
            </a:r>
          </a:p>
          <a:p>
            <a:endParaRPr sz="2000" b="0" i="0">
              <a:solidFill>
                <a:srgbClr val="142B43"/>
              </a:solidFill>
              <a:latin typeface="Times New Roman"/>
              <a:ea typeface="Times New Roman"/>
              <a:cs typeface="Times New Roman"/>
            </a:endParaRPr>
          </a:p>
          <a:p>
            <a:pPr algn="l">
              <a:buNone/>
              <a:defRPr sz="1650" b="0" i="0">
                <a:solidFill>
                  <a:srgbClr val="142B43"/>
                </a:solidFill>
                <a:latin typeface="Times New Roman"/>
                <a:ea typeface="Times New Roman"/>
                <a:cs typeface="Times New Roman"/>
              </a:defRPr>
            </a:pPr>
            <a:r>
              <a:rPr sz="2000" b="0" i="0">
                <a:solidFill>
                  <a:srgbClr val="142B43"/>
                </a:solidFill>
                <a:latin typeface="Times New Roman"/>
                <a:ea typeface="Times New Roman"/>
                <a:cs typeface="Times New Roman"/>
              </a:rPr>
              <a:t>3. Vai trò trong đời sống xã hội</a:t>
            </a:r>
          </a:p>
        </p:txBody>
      </p:sp>
    </p:spTree>
    <p:extLst>
      <p:ext uri="{BB962C8B-B14F-4D97-AF65-F5344CB8AC3E}">
        <p14:creationId xmlns:p14="http://schemas.microsoft.com/office/powerpoint/2010/main" val="1159405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0" name="Hình chữ nhật 9">
            <a:extLst>
              <a:ext uri="{FF2B5EF4-FFF2-40B4-BE49-F238E27FC236}">
                <a16:creationId xmlns:a16="http://schemas.microsoft.com/office/drawing/2014/main" id="{634CF238-A540-4FD9-971F-0A82A688053C}"/>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dirty="0">
                <a:solidFill>
                  <a:srgbClr val="C65B4B"/>
                </a:solidFill>
                <a:latin typeface="Times New Roman"/>
                <a:ea typeface="Times New Roman"/>
                <a:cs typeface="Times New Roman"/>
              </a:rPr>
              <a:t>1. TRIẾT HỌC VÀ VẤN ĐỀ CƠ BẢN</a:t>
            </a:r>
          </a:p>
        </p:txBody>
      </p:sp>
      <p:sp>
        <p:nvSpPr>
          <p:cNvPr id="2" name="Hình chữ nhật 1">
            <a:extLst>
              <a:ext uri="{FF2B5EF4-FFF2-40B4-BE49-F238E27FC236}">
                <a16:creationId xmlns:a16="http://schemas.microsoft.com/office/drawing/2014/main" id="{9724EBF1-A20B-40D7-9290-D20E8618F290}"/>
              </a:ext>
            </a:extLst>
          </p:cNvPr>
          <p:cNvSpPr>
            <a:spLocks noGrp="1"/>
          </p:cNvSpPr>
          <p:nvPr/>
        </p:nvSpPr>
        <p:spPr>
          <a:xfrm>
            <a:off x="685800" y="828654"/>
            <a:ext cx="10001250" cy="504845"/>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dirty="0" err="1">
                <a:solidFill>
                  <a:srgbClr val="142B43"/>
                </a:solidFill>
                <a:latin typeface="Times New Roman"/>
                <a:ea typeface="Times New Roman"/>
                <a:cs typeface="Times New Roman"/>
              </a:rPr>
              <a:t>Sự</a:t>
            </a:r>
            <a:r>
              <a:rPr sz="2775" b="1" i="0" dirty="0">
                <a:solidFill>
                  <a:srgbClr val="142B43"/>
                </a:solidFill>
                <a:latin typeface="Times New Roman"/>
                <a:ea typeface="Times New Roman"/>
                <a:cs typeface="Times New Roman"/>
              </a:rPr>
              <a:t> ra </a:t>
            </a:r>
            <a:r>
              <a:rPr sz="2775" b="1" i="0" dirty="0" err="1">
                <a:solidFill>
                  <a:srgbClr val="142B43"/>
                </a:solidFill>
                <a:latin typeface="Times New Roman"/>
                <a:ea typeface="Times New Roman"/>
                <a:cs typeface="Times New Roman"/>
              </a:rPr>
              <a:t>đời</a:t>
            </a:r>
            <a:r>
              <a:rPr sz="2775" b="1" i="0" dirty="0">
                <a:solidFill>
                  <a:srgbClr val="142B43"/>
                </a:solidFill>
                <a:latin typeface="Times New Roman"/>
                <a:ea typeface="Times New Roman"/>
                <a:cs typeface="Times New Roman"/>
              </a:rPr>
              <a:t> </a:t>
            </a:r>
            <a:r>
              <a:rPr sz="2775" b="1" i="0" dirty="0" err="1">
                <a:solidFill>
                  <a:srgbClr val="142B43"/>
                </a:solidFill>
                <a:latin typeface="Times New Roman"/>
                <a:ea typeface="Times New Roman"/>
                <a:cs typeface="Times New Roman"/>
              </a:rPr>
              <a:t>của</a:t>
            </a:r>
            <a:r>
              <a:rPr sz="2775" b="1" i="0" dirty="0">
                <a:solidFill>
                  <a:srgbClr val="142B43"/>
                </a:solidFill>
                <a:latin typeface="Times New Roman"/>
                <a:ea typeface="Times New Roman"/>
                <a:cs typeface="Times New Roman"/>
              </a:rPr>
              <a:t> </a:t>
            </a:r>
            <a:r>
              <a:rPr sz="2775" b="1" i="0" dirty="0" err="1">
                <a:solidFill>
                  <a:srgbClr val="142B43"/>
                </a:solidFill>
                <a:latin typeface="Times New Roman"/>
                <a:ea typeface="Times New Roman"/>
                <a:cs typeface="Times New Roman"/>
              </a:rPr>
              <a:t>triết</a:t>
            </a:r>
            <a:r>
              <a:rPr sz="2775" b="1" i="0">
                <a:solidFill>
                  <a:srgbClr val="142B43"/>
                </a:solidFill>
                <a:latin typeface="Times New Roman"/>
                <a:ea typeface="Times New Roman"/>
                <a:cs typeface="Times New Roman"/>
              </a:rPr>
              <a:t> học</a:t>
            </a:r>
            <a:endParaRPr sz="2775" b="1" i="0" dirty="0">
              <a:solidFill>
                <a:srgbClr val="142B43"/>
              </a:solidFill>
              <a:latin typeface="Times New Roman"/>
              <a:ea typeface="Times New Roman"/>
              <a:cs typeface="Times New Roman"/>
            </a:endParaRPr>
          </a:p>
        </p:txBody>
      </p:sp>
      <p:sp>
        <p:nvSpPr>
          <p:cNvPr id="3" name="Hình chữ nhật 2">
            <a:extLst>
              <a:ext uri="{FF2B5EF4-FFF2-40B4-BE49-F238E27FC236}">
                <a16:creationId xmlns:a16="http://schemas.microsoft.com/office/drawing/2014/main" id="{EE5741F7-3B59-4409-96DA-9CBBE9890D40}"/>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739AF539-1FBC-47F1-8E0E-6534D694B4B4}"/>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12-15</a:t>
            </a:r>
          </a:p>
        </p:txBody>
      </p:sp>
      <p:sp>
        <p:nvSpPr>
          <p:cNvPr id="5" name="Hình chữ nhật 4">
            <a:extLst>
              <a:ext uri="{FF2B5EF4-FFF2-40B4-BE49-F238E27FC236}">
                <a16:creationId xmlns:a16="http://schemas.microsoft.com/office/drawing/2014/main" id="{6EBE2A64-4F49-48EC-858C-BF37C13B5B33}"/>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03</a:t>
            </a:r>
          </a:p>
        </p:txBody>
      </p:sp>
      <p:pic>
        <p:nvPicPr>
          <p:cNvPr id="18" name="Hình ảnh 16"/>
          <p:cNvPicPr>
            <a:picLocks noChangeAspect="1"/>
          </p:cNvPicPr>
          <p:nvPr/>
        </p:nvPicPr>
        <p:blipFill>
          <a:blip r:embed="rId3"/>
          <a:srcRect l="21190" r="21190"/>
          <a:stretch>
            <a:fillRect/>
          </a:stretch>
        </p:blipFill>
        <p:spPr>
          <a:xfrm>
            <a:off x="6781800" y="924121"/>
            <a:ext cx="4956110" cy="4800209"/>
          </a:xfrm>
          <a:prstGeom prst="roundRect">
            <a:avLst>
              <a:gd name="adj" fmla="val 3810"/>
            </a:avLst>
          </a:prstGeom>
        </p:spPr>
      </p:pic>
      <p:sp>
        <p:nvSpPr>
          <p:cNvPr id="7" name="Hình chữ nhật 6">
            <a:extLst>
              <a:ext uri="{FF2B5EF4-FFF2-40B4-BE49-F238E27FC236}">
                <a16:creationId xmlns:a16="http://schemas.microsoft.com/office/drawing/2014/main" id="{8A34E46C-787B-41B5-A503-785C38D4D4DA}"/>
              </a:ext>
            </a:extLst>
          </p:cNvPr>
          <p:cNvSpPr>
            <a:spLocks noGrp="1"/>
          </p:cNvSpPr>
          <p:nvPr/>
        </p:nvSpPr>
        <p:spPr>
          <a:xfrm>
            <a:off x="685800" y="1695450"/>
            <a:ext cx="5476875" cy="47625"/>
          </a:xfrm>
          <a:prstGeom prst="rect">
            <a:avLst/>
          </a:prstGeom>
          <a:solidFill>
            <a:srgbClr val="C65B4B"/>
          </a:solidFill>
          <a:ln w="0">
            <a:solidFill>
              <a:srgbClr val="C65B4B"/>
            </a:solidFill>
          </a:ln>
        </p:spPr>
        <p:txBody>
          <a:bodyPr/>
          <a:lstStyle/>
          <a:p>
            <a:endParaRPr/>
          </a:p>
        </p:txBody>
      </p:sp>
      <p:sp>
        <p:nvSpPr>
          <p:cNvPr id="8" name="Hình chữ nhật 7">
            <a:extLst>
              <a:ext uri="{FF2B5EF4-FFF2-40B4-BE49-F238E27FC236}">
                <a16:creationId xmlns:a16="http://schemas.microsoft.com/office/drawing/2014/main" id="{F4D788BD-BE45-454C-A432-CDD8DB92F8CE}"/>
              </a:ext>
            </a:extLst>
          </p:cNvPr>
          <p:cNvSpPr>
            <a:spLocks noGrp="1"/>
          </p:cNvSpPr>
          <p:nvPr/>
        </p:nvSpPr>
        <p:spPr>
          <a:xfrm>
            <a:off x="685800" y="1981200"/>
            <a:ext cx="6000750" cy="3190875"/>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Triết học xuất hiện gần như đồng thời ở phương Đông và phương Tây, khoảng thế kỷ VIII đến thế kỷ VI trước Công nguyên.</a:t>
            </a:r>
          </a:p>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Sự xuất hiện ấy gắn với các trung tâm văn minh lớn của nhân loại thời cổ đại.</a:t>
            </a:r>
          </a:p>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Triết học nảy sinh từ nhu cầu nhận thức và hoạt động thực tiễn của con người.</a:t>
            </a:r>
          </a:p>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Con người bắt đầu khái quát những hiểu biết riêng lẻ thành các luận thuyết chung, có hệ thống về thế giới và chính mình.</a:t>
            </a:r>
          </a:p>
        </p:txBody>
      </p:sp>
      <p:sp>
        <p:nvSpPr>
          <p:cNvPr id="9" name="Hình chữ nhật 8">
            <a:extLst>
              <a:ext uri="{FF2B5EF4-FFF2-40B4-BE49-F238E27FC236}">
                <a16:creationId xmlns:a16="http://schemas.microsoft.com/office/drawing/2014/main" id="{FD9A0D34-742F-46DF-9F84-7DD19F7A422C}"/>
              </a:ext>
            </a:extLst>
          </p:cNvPr>
          <p:cNvSpPr>
            <a:spLocks noGrp="1"/>
          </p:cNvSpPr>
          <p:nvPr/>
        </p:nvSpPr>
        <p:spPr>
          <a:xfrm>
            <a:off x="595927" y="5238750"/>
            <a:ext cx="5953125" cy="514350"/>
          </a:xfrm>
          <a:prstGeom prst="rect">
            <a:avLst/>
          </a:prstGeom>
          <a:noFill/>
          <a:ln w="0">
            <a:noFill/>
          </a:ln>
        </p:spPr>
        <p:txBody>
          <a:bodyPr anchor="t">
            <a:noAutofit/>
          </a:bodyPr>
          <a:lstStyle/>
          <a:p>
            <a:pPr algn="l">
              <a:buNone/>
              <a:defRPr sz="1500" b="1" i="0">
                <a:solidFill>
                  <a:srgbClr val="C65B4B"/>
                </a:solidFill>
                <a:latin typeface="Times New Roman"/>
                <a:ea typeface="Times New Roman"/>
                <a:cs typeface="Times New Roman"/>
              </a:defRPr>
            </a:pPr>
            <a:r>
              <a:rPr sz="1575" b="1" i="0" dirty="0" err="1">
                <a:solidFill>
                  <a:srgbClr val="C65B4B"/>
                </a:solidFill>
                <a:latin typeface="Times New Roman"/>
                <a:ea typeface="Times New Roman"/>
                <a:cs typeface="Times New Roman"/>
              </a:rPr>
              <a:t>Từ</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huyền</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thoại</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và</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tín</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ngưỡng</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đến</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tư</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duy</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lý</a:t>
            </a:r>
            <a:r>
              <a:rPr sz="1575" b="1" i="0" dirty="0">
                <a:solidFill>
                  <a:srgbClr val="C65B4B"/>
                </a:solidFill>
                <a:latin typeface="Times New Roman"/>
                <a:ea typeface="Times New Roman"/>
                <a:cs typeface="Times New Roman"/>
              </a:rPr>
              <a:t> </a:t>
            </a:r>
            <a:r>
              <a:rPr sz="1575" b="1" i="0" dirty="0" err="1">
                <a:solidFill>
                  <a:srgbClr val="C65B4B"/>
                </a:solidFill>
                <a:latin typeface="Times New Roman"/>
                <a:ea typeface="Times New Roman"/>
                <a:cs typeface="Times New Roman"/>
              </a:rPr>
              <a:t>luận</a:t>
            </a:r>
            <a:endParaRPr sz="1575" b="1" i="0" dirty="0">
              <a:solidFill>
                <a:srgbClr val="C65B4B"/>
              </a:solidFill>
              <a:latin typeface="Times New Roman"/>
              <a:ea typeface="Times New Roman"/>
              <a:cs typeface="Times New Roman"/>
            </a:endParaRPr>
          </a:p>
        </p:txBody>
      </p:sp>
      <p:sp>
        <p:nvSpPr>
          <p:cNvPr id="12" name="Ví dụ minh họa">
            <a:extLst>
              <a:ext uri="{FF2B5EF4-FFF2-40B4-BE49-F238E27FC236}">
                <a16:creationId xmlns:a16="http://schemas.microsoft.com/office/drawing/2014/main" id="{925B940B-1F00-4B36-B32E-CF7A92517E88}"/>
              </a:ext>
            </a:extLst>
          </p:cNvPr>
          <p:cNvSpPr>
            <a:spLocks noGrp="1"/>
          </p:cNvSpPr>
          <p:nvPr/>
        </p:nvSpPr>
        <p:spPr>
          <a:xfrm>
            <a:off x="685800" y="5829300"/>
            <a:ext cx="10363200" cy="514350"/>
          </a:xfrm>
          <a:prstGeom prst="roundRect">
            <a:avLst>
              <a:gd name="adj" fmla="val 26087"/>
            </a:avLst>
          </a:prstGeom>
          <a:solidFill>
            <a:srgbClr val="FFF4D8"/>
          </a:solidFill>
          <a:ln w="0">
            <a:noFill/>
          </a:ln>
        </p:spPr>
        <p:txBody>
          <a:bodyPr lIns="190500" tIns="76200" rIns="190500" bIns="76200" anchor="ctr">
            <a:noAutofit/>
          </a:bodyPr>
          <a:lstStyle/>
          <a:p>
            <a:pPr algn="l">
              <a:defRPr sz="1350" b="0">
                <a:solidFill>
                  <a:srgbClr val="A94D3E"/>
                </a:solidFill>
                <a:latin typeface="Times New Roman"/>
                <a:ea typeface="Times New Roman"/>
                <a:cs typeface="Times New Roman"/>
              </a:defRPr>
            </a:pPr>
            <a:r>
              <a:rPr sz="2000" b="0" dirty="0" err="1">
                <a:solidFill>
                  <a:srgbClr val="A94D3E"/>
                </a:solidFill>
                <a:latin typeface="Times New Roman"/>
                <a:ea typeface="Times New Roman"/>
                <a:cs typeface="Times New Roman"/>
              </a:rPr>
              <a:t>Ví</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dụ</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Từ</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việc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quan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sát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nhiều</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mùa</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mưa</a:t>
            </a:r>
            <a:r>
              <a:rPr sz="2000" b="0" dirty="0">
                <a:solidFill>
                  <a:srgbClr val="A94D3E"/>
                </a:solidFill>
                <a:latin typeface="Times New Roman"/>
                <a:ea typeface="Times New Roman"/>
                <a:cs typeface="Times New Roman"/>
              </a:rPr>
              <a:t>, con </a:t>
            </a:r>
            <a:r>
              <a:rPr sz="2000" b="0" dirty="0" err="1">
                <a:solidFill>
                  <a:srgbClr val="A94D3E"/>
                </a:solidFill>
                <a:latin typeface="Times New Roman"/>
                <a:ea typeface="Times New Roman"/>
                <a:cs typeface="Times New Roman"/>
              </a:rPr>
              <a:t>người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khái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quát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thành</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hiểu</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biết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về</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quy</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luật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thời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tiết</a:t>
            </a:r>
            <a:r>
              <a:rPr sz="2000" b="0" dirty="0">
                <a:solidFill>
                  <a:srgbClr val="A94D3E"/>
                </a:solidFill>
                <a:latin typeface="Times New Roman"/>
                <a:ea typeface="Times New Roman"/>
                <a:cs typeface="Times New Roman"/>
              </a:rPr>
              <a:t>.</a:t>
            </a:r>
          </a:p>
        </p:txBody>
      </p:sp>
    </p:spTree>
    <p:extLst>
      <p:ext uri="{BB962C8B-B14F-4D97-AF65-F5344CB8AC3E}">
        <p14:creationId xmlns:p14="http://schemas.microsoft.com/office/powerpoint/2010/main" val="1162556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9" name="Hình chữ nhật 18">
            <a:extLst>
              <a:ext uri="{FF2B5EF4-FFF2-40B4-BE49-F238E27FC236}">
                <a16:creationId xmlns:a16="http://schemas.microsoft.com/office/drawing/2014/main" id="{75FEA420-1734-4ED9-BA8D-BE9E9CE82256}"/>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1.1. KHÁI LƯỢC VỀ TRIẾT HỌC</a:t>
            </a:r>
          </a:p>
        </p:txBody>
      </p:sp>
      <p:sp>
        <p:nvSpPr>
          <p:cNvPr id="2" name="Hình chữ nhật 1">
            <a:extLst>
              <a:ext uri="{FF2B5EF4-FFF2-40B4-BE49-F238E27FC236}">
                <a16:creationId xmlns:a16="http://schemas.microsoft.com/office/drawing/2014/main" id="{20611C45-C2E4-4326-B1E9-4F53A8546677}"/>
              </a:ext>
            </a:extLst>
          </p:cNvPr>
          <p:cNvSpPr>
            <a:spLocks noGrp="1"/>
          </p:cNvSpPr>
          <p:nvPr/>
        </p:nvSpPr>
        <p:spPr>
          <a:xfrm>
            <a:off x="685800" y="876300"/>
            <a:ext cx="10001250" cy="45720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Nguồn gốc nhận thức</a:t>
            </a:r>
          </a:p>
        </p:txBody>
      </p:sp>
      <p:sp>
        <p:nvSpPr>
          <p:cNvPr id="3" name="Hình chữ nhật 2">
            <a:extLst>
              <a:ext uri="{FF2B5EF4-FFF2-40B4-BE49-F238E27FC236}">
                <a16:creationId xmlns:a16="http://schemas.microsoft.com/office/drawing/2014/main" id="{B489BC34-7C5A-4EED-AE02-6B6A7A82C85F}"/>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601001D8-FA78-4127-B254-5C2BA50F9DC6}"/>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12-15</a:t>
            </a:r>
          </a:p>
        </p:txBody>
      </p:sp>
      <p:sp>
        <p:nvSpPr>
          <p:cNvPr id="5" name="Hình chữ nhật 4">
            <a:extLst>
              <a:ext uri="{FF2B5EF4-FFF2-40B4-BE49-F238E27FC236}">
                <a16:creationId xmlns:a16="http://schemas.microsoft.com/office/drawing/2014/main" id="{CF806CCB-6861-46A0-AB52-BB7DA3D64D2D}"/>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04</a:t>
            </a:r>
          </a:p>
        </p:txBody>
      </p:sp>
      <p:sp>
        <p:nvSpPr>
          <p:cNvPr id="6" name="Hình chữ nhật: Góc Tròn 5">
            <a:extLst>
              <a:ext uri="{FF2B5EF4-FFF2-40B4-BE49-F238E27FC236}">
                <a16:creationId xmlns:a16="http://schemas.microsoft.com/office/drawing/2014/main" id="{090C9FB6-83AC-4696-9812-002ECE8794A4}"/>
              </a:ext>
            </a:extLst>
          </p:cNvPr>
          <p:cNvSpPr>
            <a:spLocks noGrp="1"/>
          </p:cNvSpPr>
          <p:nvPr/>
        </p:nvSpPr>
        <p:spPr>
          <a:xfrm>
            <a:off x="685800" y="2190750"/>
            <a:ext cx="2762250" cy="2476500"/>
          </a:xfrm>
          <a:prstGeom prst="roundRect">
            <a:avLst>
              <a:gd name="adj" fmla="val 3077"/>
            </a:avLst>
          </a:prstGeom>
          <a:solidFill>
            <a:srgbClr val="F8EFD9"/>
          </a:solidFill>
          <a:ln w="0">
            <a:solidFill>
              <a:srgbClr val="F8EFD9"/>
            </a:solidFill>
          </a:ln>
        </p:spPr>
        <p:txBody>
          <a:bodyPr/>
          <a:lstStyle/>
          <a:p>
            <a:endParaRPr/>
          </a:p>
        </p:txBody>
      </p:sp>
      <p:sp>
        <p:nvSpPr>
          <p:cNvPr id="7" name="Hình chữ nhật 6">
            <a:extLst>
              <a:ext uri="{FF2B5EF4-FFF2-40B4-BE49-F238E27FC236}">
                <a16:creationId xmlns:a16="http://schemas.microsoft.com/office/drawing/2014/main" id="{3E0AD5E9-DED5-4012-A6DA-0C1B43902B06}"/>
              </a:ext>
            </a:extLst>
          </p:cNvPr>
          <p:cNvSpPr>
            <a:spLocks noGrp="1"/>
          </p:cNvSpPr>
          <p:nvPr/>
        </p:nvSpPr>
        <p:spPr>
          <a:xfrm>
            <a:off x="914399" y="2333625"/>
            <a:ext cx="2603242" cy="676275"/>
          </a:xfrm>
          <a:prstGeom prst="rect">
            <a:avLst/>
          </a:prstGeom>
          <a:noFill/>
          <a:ln w="0">
            <a:noFill/>
          </a:ln>
        </p:spPr>
        <p:txBody>
          <a:bodyPr anchor="t"/>
          <a:lstStyle/>
          <a:p>
            <a:pPr algn="ctr">
              <a:buNone/>
              <a:defRPr sz="1650" b="1" i="0">
                <a:solidFill>
                  <a:srgbClr val="142B43"/>
                </a:solidFill>
                <a:latin typeface="Times New Roman"/>
                <a:ea typeface="Times New Roman"/>
                <a:cs typeface="Times New Roman"/>
              </a:defRPr>
            </a:pPr>
            <a:r>
              <a:rPr sz="2000" b="1" i="0" dirty="0" err="1">
                <a:solidFill>
                  <a:srgbClr val="142B43"/>
                </a:solidFill>
                <a:latin typeface="Times New Roman"/>
                <a:ea typeface="Times New Roman"/>
                <a:cs typeface="Times New Roman"/>
              </a:rPr>
              <a:t>Kinh</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nghiệm</a:t>
            </a:r>
            <a:r>
              <a:rPr sz="2000" b="1" i="0" dirty="0">
                <a:solidFill>
                  <a:srgbClr val="142B43"/>
                </a:solidFill>
                <a:latin typeface="Times New Roman"/>
                <a:ea typeface="Times New Roman"/>
                <a:cs typeface="Times New Roman"/>
              </a:rPr>
              <a:t> ban </a:t>
            </a:r>
            <a:r>
              <a:rPr sz="2000" b="1" i="0" dirty="0" err="1">
                <a:solidFill>
                  <a:srgbClr val="142B43"/>
                </a:solidFill>
                <a:latin typeface="Times New Roman"/>
                <a:ea typeface="Times New Roman"/>
                <a:cs typeface="Times New Roman"/>
              </a:rPr>
              <a:t>đầu</a:t>
            </a:r>
            <a:endParaRPr sz="2000" b="1" i="0" dirty="0">
              <a:solidFill>
                <a:srgbClr val="142B43"/>
              </a:solidFill>
              <a:latin typeface="Times New Roman"/>
              <a:ea typeface="Times New Roman"/>
              <a:cs typeface="Times New Roman"/>
            </a:endParaRPr>
          </a:p>
        </p:txBody>
      </p:sp>
      <p:sp>
        <p:nvSpPr>
          <p:cNvPr id="8" name="Hình chữ nhật 7">
            <a:extLst>
              <a:ext uri="{FF2B5EF4-FFF2-40B4-BE49-F238E27FC236}">
                <a16:creationId xmlns:a16="http://schemas.microsoft.com/office/drawing/2014/main" id="{04382428-71DA-49D3-8C0E-47465AC206CB}"/>
              </a:ext>
            </a:extLst>
          </p:cNvPr>
          <p:cNvSpPr>
            <a:spLocks noGrp="1"/>
          </p:cNvSpPr>
          <p:nvPr/>
        </p:nvSpPr>
        <p:spPr>
          <a:xfrm>
            <a:off x="1200150" y="3143250"/>
            <a:ext cx="1714500" cy="47625"/>
          </a:xfrm>
          <a:prstGeom prst="rect">
            <a:avLst/>
          </a:prstGeom>
          <a:solidFill>
            <a:srgbClr val="D6A756"/>
          </a:solidFill>
          <a:ln w="0">
            <a:solidFill>
              <a:srgbClr val="D6A756"/>
            </a:solidFill>
          </a:ln>
        </p:spPr>
        <p:txBody>
          <a:bodyPr/>
          <a:lstStyle/>
          <a:p>
            <a:endParaRPr/>
          </a:p>
        </p:txBody>
      </p:sp>
      <p:sp>
        <p:nvSpPr>
          <p:cNvPr id="9" name="Hình chữ nhật 8">
            <a:extLst>
              <a:ext uri="{FF2B5EF4-FFF2-40B4-BE49-F238E27FC236}">
                <a16:creationId xmlns:a16="http://schemas.microsoft.com/office/drawing/2014/main" id="{AA6C8266-B198-4EA6-B5F5-057A3A8EF267}"/>
              </a:ext>
            </a:extLst>
          </p:cNvPr>
          <p:cNvSpPr>
            <a:spLocks noGrp="1"/>
          </p:cNvSpPr>
          <p:nvPr/>
        </p:nvSpPr>
        <p:spPr>
          <a:xfrm>
            <a:off x="952500" y="3324225"/>
            <a:ext cx="2228850" cy="1057275"/>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2400" b="0" i="0" dirty="0" err="1">
                <a:solidFill>
                  <a:srgbClr val="1D2A35"/>
                </a:solidFill>
                <a:latin typeface="Times New Roman"/>
                <a:ea typeface="Times New Roman"/>
                <a:cs typeface="Times New Roman"/>
              </a:rPr>
              <a:t>Hiểu</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biết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cụ</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thể</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riêng</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lẻ</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cảm</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tính</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về</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sự</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vật</a:t>
            </a:r>
            <a:r>
              <a:rPr sz="2400" b="0" i="0" dirty="0">
                <a:solidFill>
                  <a:srgbClr val="1D2A35"/>
                </a:solidFill>
                <a:latin typeface="Times New Roman"/>
                <a:ea typeface="Times New Roman"/>
                <a:cs typeface="Times New Roman"/>
              </a:rPr>
              <a:t>.</a:t>
            </a:r>
          </a:p>
        </p:txBody>
      </p:sp>
      <p:sp>
        <p:nvSpPr>
          <p:cNvPr id="10" name="Hình chữ nhật: Góc Tròn 9">
            <a:extLst>
              <a:ext uri="{FF2B5EF4-FFF2-40B4-BE49-F238E27FC236}">
                <a16:creationId xmlns:a16="http://schemas.microsoft.com/office/drawing/2014/main" id="{62513A5D-8272-42D8-9265-62BFD3DC892B}"/>
              </a:ext>
            </a:extLst>
          </p:cNvPr>
          <p:cNvSpPr>
            <a:spLocks noGrp="1"/>
          </p:cNvSpPr>
          <p:nvPr/>
        </p:nvSpPr>
        <p:spPr>
          <a:xfrm>
            <a:off x="3962400" y="2190750"/>
            <a:ext cx="2762250" cy="2476500"/>
          </a:xfrm>
          <a:prstGeom prst="roundRect">
            <a:avLst>
              <a:gd name="adj" fmla="val 3077"/>
            </a:avLst>
          </a:prstGeom>
          <a:solidFill>
            <a:srgbClr val="EAF1F4"/>
          </a:solidFill>
          <a:ln w="0">
            <a:solidFill>
              <a:srgbClr val="EAF1F4"/>
            </a:solidFill>
          </a:ln>
        </p:spPr>
        <p:txBody>
          <a:bodyPr/>
          <a:lstStyle/>
          <a:p>
            <a:endParaRPr/>
          </a:p>
        </p:txBody>
      </p:sp>
      <p:sp>
        <p:nvSpPr>
          <p:cNvPr id="11" name="Hình chữ nhật 10">
            <a:extLst>
              <a:ext uri="{FF2B5EF4-FFF2-40B4-BE49-F238E27FC236}">
                <a16:creationId xmlns:a16="http://schemas.microsoft.com/office/drawing/2014/main" id="{557C7ECA-0F02-4C0B-8186-3E65F2B18CCF}"/>
              </a:ext>
            </a:extLst>
          </p:cNvPr>
          <p:cNvSpPr>
            <a:spLocks noGrp="1"/>
          </p:cNvSpPr>
          <p:nvPr/>
        </p:nvSpPr>
        <p:spPr>
          <a:xfrm>
            <a:off x="4191000" y="2281238"/>
            <a:ext cx="2305050" cy="533400"/>
          </a:xfrm>
          <a:prstGeom prst="rect">
            <a:avLst/>
          </a:prstGeom>
          <a:noFill/>
          <a:ln w="0">
            <a:noFill/>
          </a:ln>
        </p:spPr>
        <p:txBody>
          <a:bodyPr anchor="t"/>
          <a:lstStyle/>
          <a:p>
            <a:pPr algn="ctr">
              <a:buNone/>
              <a:defRPr sz="1650" b="1" i="0">
                <a:solidFill>
                  <a:srgbClr val="142B43"/>
                </a:solidFill>
                <a:latin typeface="Times New Roman"/>
                <a:ea typeface="Times New Roman"/>
                <a:cs typeface="Times New Roman"/>
              </a:defRPr>
            </a:pPr>
            <a:r>
              <a:rPr sz="2000" b="1" i="0" dirty="0" err="1">
                <a:solidFill>
                  <a:srgbClr val="142B43"/>
                </a:solidFill>
                <a:latin typeface="Times New Roman"/>
                <a:ea typeface="Times New Roman"/>
                <a:cs typeface="Times New Roman"/>
              </a:rPr>
              <a:t>Tư</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duy</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khái</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quát</a:t>
            </a:r>
            <a:endParaRPr sz="2000" b="1" i="0" dirty="0">
              <a:solidFill>
                <a:srgbClr val="142B43"/>
              </a:solidFill>
              <a:latin typeface="Times New Roman"/>
              <a:ea typeface="Times New Roman"/>
              <a:cs typeface="Times New Roman"/>
            </a:endParaRPr>
          </a:p>
        </p:txBody>
      </p:sp>
      <p:sp>
        <p:nvSpPr>
          <p:cNvPr id="12" name="Hình chữ nhật 11">
            <a:extLst>
              <a:ext uri="{FF2B5EF4-FFF2-40B4-BE49-F238E27FC236}">
                <a16:creationId xmlns:a16="http://schemas.microsoft.com/office/drawing/2014/main" id="{4A2794FA-D8B4-42B1-BFBC-182179551700}"/>
              </a:ext>
            </a:extLst>
          </p:cNvPr>
          <p:cNvSpPr>
            <a:spLocks noGrp="1"/>
          </p:cNvSpPr>
          <p:nvPr/>
        </p:nvSpPr>
        <p:spPr>
          <a:xfrm>
            <a:off x="4476750" y="3143250"/>
            <a:ext cx="1714500" cy="47625"/>
          </a:xfrm>
          <a:prstGeom prst="rect">
            <a:avLst/>
          </a:prstGeom>
          <a:solidFill>
            <a:srgbClr val="3E8C86"/>
          </a:solidFill>
          <a:ln w="0">
            <a:solidFill>
              <a:srgbClr val="3E8C86"/>
            </a:solidFill>
          </a:ln>
        </p:spPr>
        <p:txBody>
          <a:bodyPr/>
          <a:lstStyle/>
          <a:p>
            <a:endParaRPr/>
          </a:p>
        </p:txBody>
      </p:sp>
      <p:sp>
        <p:nvSpPr>
          <p:cNvPr id="13" name="Hình chữ nhật 12">
            <a:extLst>
              <a:ext uri="{FF2B5EF4-FFF2-40B4-BE49-F238E27FC236}">
                <a16:creationId xmlns:a16="http://schemas.microsoft.com/office/drawing/2014/main" id="{D6609A71-AFC7-48CE-BB51-F99293105535}"/>
              </a:ext>
            </a:extLst>
          </p:cNvPr>
          <p:cNvSpPr>
            <a:spLocks noGrp="1"/>
          </p:cNvSpPr>
          <p:nvPr/>
        </p:nvSpPr>
        <p:spPr>
          <a:xfrm>
            <a:off x="4229100" y="3200400"/>
            <a:ext cx="2228850" cy="1181100"/>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2400" b="0" i="0" dirty="0" err="1">
                <a:solidFill>
                  <a:srgbClr val="1D2A35"/>
                </a:solidFill>
                <a:latin typeface="Times New Roman"/>
                <a:ea typeface="Times New Roman"/>
                <a:cs typeface="Times New Roman"/>
              </a:rPr>
              <a:t>Năng</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lực</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trừu</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tượng</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hóa</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khái</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quát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hóa</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và</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tìm</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quan</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hệ</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chung</a:t>
            </a:r>
            <a:r>
              <a:rPr sz="2400" b="0" i="0" dirty="0">
                <a:solidFill>
                  <a:srgbClr val="1D2A35"/>
                </a:solidFill>
                <a:latin typeface="Times New Roman"/>
                <a:ea typeface="Times New Roman"/>
                <a:cs typeface="Times New Roman"/>
              </a:rPr>
              <a:t>.</a:t>
            </a:r>
          </a:p>
        </p:txBody>
      </p:sp>
      <p:sp>
        <p:nvSpPr>
          <p:cNvPr id="14" name="Hình chữ nhật: Góc Tròn 13">
            <a:extLst>
              <a:ext uri="{FF2B5EF4-FFF2-40B4-BE49-F238E27FC236}">
                <a16:creationId xmlns:a16="http://schemas.microsoft.com/office/drawing/2014/main" id="{7470C6A2-CAEE-4624-9DB9-C8F351D7FF1B}"/>
              </a:ext>
            </a:extLst>
          </p:cNvPr>
          <p:cNvSpPr>
            <a:spLocks noGrp="1"/>
          </p:cNvSpPr>
          <p:nvPr/>
        </p:nvSpPr>
        <p:spPr>
          <a:xfrm>
            <a:off x="7362827" y="2190750"/>
            <a:ext cx="2762250" cy="2476500"/>
          </a:xfrm>
          <a:prstGeom prst="roundRect">
            <a:avLst>
              <a:gd name="adj" fmla="val 3077"/>
            </a:avLst>
          </a:prstGeom>
          <a:solidFill>
            <a:srgbClr val="F6E6E1"/>
          </a:solidFill>
          <a:ln w="0">
            <a:solidFill>
              <a:srgbClr val="F6E6E1"/>
            </a:solidFill>
          </a:ln>
        </p:spPr>
        <p:txBody>
          <a:bodyPr/>
          <a:lstStyle/>
          <a:p>
            <a:endParaRPr/>
          </a:p>
        </p:txBody>
      </p:sp>
      <p:sp>
        <p:nvSpPr>
          <p:cNvPr id="15" name="Hình chữ nhật 14">
            <a:extLst>
              <a:ext uri="{FF2B5EF4-FFF2-40B4-BE49-F238E27FC236}">
                <a16:creationId xmlns:a16="http://schemas.microsoft.com/office/drawing/2014/main" id="{1F878B23-03E0-4E39-AD67-C43636DCD173}"/>
              </a:ext>
            </a:extLst>
          </p:cNvPr>
          <p:cNvSpPr>
            <a:spLocks noGrp="1"/>
          </p:cNvSpPr>
          <p:nvPr/>
        </p:nvSpPr>
        <p:spPr>
          <a:xfrm>
            <a:off x="7467600" y="2281238"/>
            <a:ext cx="2533650" cy="728662"/>
          </a:xfrm>
          <a:prstGeom prst="rect">
            <a:avLst/>
          </a:prstGeom>
          <a:noFill/>
          <a:ln w="0">
            <a:noFill/>
          </a:ln>
        </p:spPr>
        <p:txBody>
          <a:bodyPr anchor="t"/>
          <a:lstStyle/>
          <a:p>
            <a:pPr algn="ctr">
              <a:buNone/>
              <a:defRPr sz="1650" b="1" i="0">
                <a:solidFill>
                  <a:srgbClr val="142B43"/>
                </a:solidFill>
                <a:latin typeface="Times New Roman"/>
                <a:ea typeface="Times New Roman"/>
                <a:cs typeface="Times New Roman"/>
              </a:defRPr>
            </a:pPr>
            <a:r>
              <a:rPr sz="2000" b="1" i="0" dirty="0" err="1">
                <a:solidFill>
                  <a:srgbClr val="142B43"/>
                </a:solidFill>
                <a:latin typeface="Times New Roman"/>
                <a:ea typeface="Times New Roman"/>
                <a:cs typeface="Times New Roman"/>
              </a:rPr>
              <a:t>Luận</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thuyết</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triết</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học</a:t>
            </a:r>
            <a:endParaRPr sz="2000" b="1" i="0" dirty="0">
              <a:solidFill>
                <a:srgbClr val="142B43"/>
              </a:solidFill>
              <a:latin typeface="Times New Roman"/>
              <a:ea typeface="Times New Roman"/>
              <a:cs typeface="Times New Roman"/>
            </a:endParaRPr>
          </a:p>
        </p:txBody>
      </p:sp>
      <p:sp>
        <p:nvSpPr>
          <p:cNvPr id="16" name="Hình chữ nhật 15">
            <a:extLst>
              <a:ext uri="{FF2B5EF4-FFF2-40B4-BE49-F238E27FC236}">
                <a16:creationId xmlns:a16="http://schemas.microsoft.com/office/drawing/2014/main" id="{536720A1-48BA-4C5B-9B32-7AB8BD2031A3}"/>
              </a:ext>
            </a:extLst>
          </p:cNvPr>
          <p:cNvSpPr>
            <a:spLocks noGrp="1"/>
          </p:cNvSpPr>
          <p:nvPr/>
        </p:nvSpPr>
        <p:spPr>
          <a:xfrm>
            <a:off x="7753350" y="3143250"/>
            <a:ext cx="1714500" cy="47625"/>
          </a:xfrm>
          <a:prstGeom prst="rect">
            <a:avLst/>
          </a:prstGeom>
          <a:solidFill>
            <a:srgbClr val="C65B4B"/>
          </a:solidFill>
          <a:ln w="0">
            <a:solidFill>
              <a:srgbClr val="C65B4B"/>
            </a:solidFill>
          </a:ln>
        </p:spPr>
        <p:txBody>
          <a:bodyPr/>
          <a:lstStyle/>
          <a:p>
            <a:endParaRPr/>
          </a:p>
        </p:txBody>
      </p:sp>
      <p:sp>
        <p:nvSpPr>
          <p:cNvPr id="17" name="Hình chữ nhật 16">
            <a:extLst>
              <a:ext uri="{FF2B5EF4-FFF2-40B4-BE49-F238E27FC236}">
                <a16:creationId xmlns:a16="http://schemas.microsoft.com/office/drawing/2014/main" id="{152AD518-2526-4EA9-B723-F8B29640DFDB}"/>
              </a:ext>
            </a:extLst>
          </p:cNvPr>
          <p:cNvSpPr>
            <a:spLocks noGrp="1"/>
          </p:cNvSpPr>
          <p:nvPr/>
        </p:nvSpPr>
        <p:spPr>
          <a:xfrm>
            <a:off x="7239000" y="3200400"/>
            <a:ext cx="2762250" cy="1181100"/>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Hệ thống khái niệm, phạm trù, quan điểm và quy luật để giải thích thế giới.</a:t>
            </a:r>
          </a:p>
        </p:txBody>
      </p:sp>
      <p:sp>
        <p:nvSpPr>
          <p:cNvPr id="18" name="Hình chữ nhật 17">
            <a:extLst>
              <a:ext uri="{FF2B5EF4-FFF2-40B4-BE49-F238E27FC236}">
                <a16:creationId xmlns:a16="http://schemas.microsoft.com/office/drawing/2014/main" id="{E773F09F-714D-4267-A8B4-4A918FE0DCD2}"/>
              </a:ext>
            </a:extLst>
          </p:cNvPr>
          <p:cNvSpPr>
            <a:spLocks noGrp="1"/>
          </p:cNvSpPr>
          <p:nvPr/>
        </p:nvSpPr>
        <p:spPr>
          <a:xfrm>
            <a:off x="1047750" y="4810125"/>
            <a:ext cx="10001250" cy="952500"/>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000" b="1" i="0" dirty="0" err="1">
                <a:solidFill>
                  <a:srgbClr val="142B43"/>
                </a:solidFill>
                <a:latin typeface="Times New Roman"/>
                <a:ea typeface="Times New Roman"/>
                <a:cs typeface="Times New Roman"/>
              </a:rPr>
              <a:t>Triết</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học</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chỉ</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xuất</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hiện</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khi</a:t>
            </a:r>
            <a:r>
              <a:rPr sz="2000" b="1" i="0" dirty="0">
                <a:solidFill>
                  <a:srgbClr val="142B43"/>
                </a:solidFill>
                <a:latin typeface="Times New Roman"/>
                <a:ea typeface="Times New Roman"/>
                <a:cs typeface="Times New Roman"/>
              </a:rPr>
              <a:t> tri </a:t>
            </a:r>
            <a:r>
              <a:rPr sz="2000" b="1" i="0" dirty="0" err="1">
                <a:solidFill>
                  <a:srgbClr val="142B43"/>
                </a:solidFill>
                <a:latin typeface="Times New Roman"/>
                <a:ea typeface="Times New Roman"/>
                <a:cs typeface="Times New Roman"/>
              </a:rPr>
              <a:t>thức</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của</a:t>
            </a:r>
            <a:r>
              <a:rPr sz="2000" b="1" i="0" dirty="0">
                <a:solidFill>
                  <a:srgbClr val="142B43"/>
                </a:solidFill>
                <a:latin typeface="Times New Roman"/>
                <a:ea typeface="Times New Roman"/>
                <a:cs typeface="Times New Roman"/>
              </a:rPr>
              <a:t> con </a:t>
            </a:r>
            <a:r>
              <a:rPr sz="2000" b="1" i="0" dirty="0" err="1">
                <a:solidFill>
                  <a:srgbClr val="142B43"/>
                </a:solidFill>
                <a:latin typeface="Times New Roman"/>
                <a:ea typeface="Times New Roman"/>
                <a:cs typeface="Times New Roman"/>
              </a:rPr>
              <a:t>người</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đã</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đạt</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tới</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khả</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năng</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rút</a:t>
            </a:r>
            <a:r>
              <a:rPr sz="2000" b="1" i="0" dirty="0">
                <a:solidFill>
                  <a:srgbClr val="142B43"/>
                </a:solidFill>
                <a:latin typeface="Times New Roman"/>
                <a:ea typeface="Times New Roman"/>
                <a:cs typeface="Times New Roman"/>
              </a:rPr>
              <a:t> ra </a:t>
            </a:r>
            <a:r>
              <a:rPr sz="2000" b="1" i="0" dirty="0" err="1">
                <a:solidFill>
                  <a:srgbClr val="142B43"/>
                </a:solidFill>
                <a:latin typeface="Times New Roman"/>
                <a:ea typeface="Times New Roman"/>
                <a:cs typeface="Times New Roman"/>
              </a:rPr>
              <a:t>cái</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chung</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từ</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nhiều</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sự</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kiện</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hiện</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tượng</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riêng</a:t>
            </a:r>
            <a:r>
              <a:rPr sz="2000" b="1" i="0" dirty="0">
                <a:solidFill>
                  <a:srgbClr val="142B43"/>
                </a:solidFill>
                <a:latin typeface="Times New Roman"/>
                <a:ea typeface="Times New Roman"/>
                <a:cs typeface="Times New Roman"/>
              </a:rPr>
              <a:t> </a:t>
            </a:r>
            <a:r>
              <a:rPr sz="2000" b="1" i="0" dirty="0" err="1">
                <a:solidFill>
                  <a:srgbClr val="142B43"/>
                </a:solidFill>
                <a:latin typeface="Times New Roman"/>
                <a:ea typeface="Times New Roman"/>
                <a:cs typeface="Times New Roman"/>
              </a:rPr>
              <a:t>lẻ</a:t>
            </a:r>
            <a:r>
              <a:rPr sz="2000" b="1" i="0" dirty="0">
                <a:solidFill>
                  <a:srgbClr val="142B43"/>
                </a:solidFill>
                <a:latin typeface="Times New Roman"/>
                <a:ea typeface="Times New Roman"/>
                <a:cs typeface="Times New Roman"/>
              </a:rPr>
              <a:t>.</a:t>
            </a:r>
          </a:p>
        </p:txBody>
      </p:sp>
      <p:sp>
        <p:nvSpPr>
          <p:cNvPr id="20" name="Ví dụ minh họa">
            <a:extLst>
              <a:ext uri="{FF2B5EF4-FFF2-40B4-BE49-F238E27FC236}">
                <a16:creationId xmlns:a16="http://schemas.microsoft.com/office/drawing/2014/main" id="{2007245C-9304-454E-ABFC-43665E0D25DC}"/>
              </a:ext>
            </a:extLst>
          </p:cNvPr>
          <p:cNvSpPr>
            <a:spLocks noGrp="1"/>
          </p:cNvSpPr>
          <p:nvPr/>
        </p:nvSpPr>
        <p:spPr>
          <a:xfrm>
            <a:off x="685799" y="5695950"/>
            <a:ext cx="11145417" cy="619125"/>
          </a:xfrm>
          <a:prstGeom prst="roundRect">
            <a:avLst>
              <a:gd name="adj" fmla="val 25000"/>
            </a:avLst>
          </a:prstGeom>
          <a:solidFill>
            <a:srgbClr val="FFF4D8"/>
          </a:solidFill>
          <a:ln w="0">
            <a:noFill/>
          </a:ln>
        </p:spPr>
        <p:txBody>
          <a:bodyPr lIns="190500" tIns="76200" rIns="190500" bIns="76200" anchor="ctr">
            <a:noAutofit/>
          </a:bodyPr>
          <a:lstStyle/>
          <a:p>
            <a:pPr algn="l">
              <a:defRPr sz="1350" b="0">
                <a:solidFill>
                  <a:srgbClr val="A94D3E"/>
                </a:solidFill>
                <a:latin typeface="Times New Roman"/>
                <a:ea typeface="Times New Roman"/>
                <a:cs typeface="Times New Roman"/>
              </a:defRPr>
            </a:pPr>
            <a:r>
              <a:rPr sz="2000" b="0" dirty="0" err="1">
                <a:solidFill>
                  <a:srgbClr val="A94D3E"/>
                </a:solidFill>
                <a:latin typeface="Times New Roman"/>
                <a:ea typeface="Times New Roman"/>
                <a:cs typeface="Times New Roman"/>
              </a:rPr>
              <a:t>Ví</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dụ</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Thấy</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nhiều</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bạn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học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tốt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khi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ôn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đều</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mỗi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ngày</a:t>
            </a:r>
            <a:r>
              <a:rPr sz="2000" b="0" dirty="0">
                <a:solidFill>
                  <a:srgbClr val="A94D3E"/>
                </a:solidFill>
                <a:latin typeface="Times New Roman"/>
                <a:ea typeface="Times New Roman"/>
                <a:cs typeface="Times New Roman"/>
              </a:rPr>
              <a:t>, ta </a:t>
            </a:r>
            <a:r>
              <a:rPr sz="2000" b="0" dirty="0" err="1">
                <a:solidFill>
                  <a:srgbClr val="A94D3E"/>
                </a:solidFill>
                <a:latin typeface="Times New Roman"/>
                <a:ea typeface="Times New Roman"/>
                <a:cs typeface="Times New Roman"/>
              </a:rPr>
              <a:t>rút</a:t>
            </a:r>
            <a:r>
              <a:rPr sz="2000" b="0" dirty="0">
                <a:solidFill>
                  <a:srgbClr val="A94D3E"/>
                </a:solidFill>
                <a:latin typeface="Times New Roman"/>
                <a:ea typeface="Times New Roman"/>
                <a:cs typeface="Times New Roman"/>
              </a:rPr>
              <a:t> ra </a:t>
            </a:r>
            <a:r>
              <a:rPr sz="2000" b="0" dirty="0" err="1">
                <a:solidFill>
                  <a:srgbClr val="A94D3E"/>
                </a:solidFill>
                <a:latin typeface="Times New Roman"/>
                <a:ea typeface="Times New Roman"/>
                <a:cs typeface="Times New Roman"/>
              </a:rPr>
              <a:t>nhận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xét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chung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về</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vai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trò</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của</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việc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luyện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tập</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thường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xuyên</a:t>
            </a:r>
            <a:r>
              <a:rPr sz="2000" b="0" dirty="0">
                <a:solidFill>
                  <a:srgbClr val="A94D3E"/>
                </a:solidFill>
                <a:latin typeface="Times New Roman"/>
                <a:ea typeface="Times New Roman"/>
                <a:cs typeface="Times New Roman"/>
              </a:rPr>
              <a:t>.</a:t>
            </a:r>
          </a:p>
        </p:txBody>
      </p:sp>
    </p:spTree>
    <p:extLst>
      <p:ext uri="{BB962C8B-B14F-4D97-AF65-F5344CB8AC3E}">
        <p14:creationId xmlns:p14="http://schemas.microsoft.com/office/powerpoint/2010/main" val="1904805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6" name="Hình chữ nhật 15">
            <a:extLst>
              <a:ext uri="{FF2B5EF4-FFF2-40B4-BE49-F238E27FC236}">
                <a16:creationId xmlns:a16="http://schemas.microsoft.com/office/drawing/2014/main" id="{B8248816-AB4F-41E8-A13D-7E66A9CBDAAB}"/>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1.1. KHÁI LƯỢC VỀ TRIẾT HỌC</a:t>
            </a:r>
          </a:p>
        </p:txBody>
      </p:sp>
      <p:sp>
        <p:nvSpPr>
          <p:cNvPr id="2" name="Hình chữ nhật 1">
            <a:extLst>
              <a:ext uri="{FF2B5EF4-FFF2-40B4-BE49-F238E27FC236}">
                <a16:creationId xmlns:a16="http://schemas.microsoft.com/office/drawing/2014/main" id="{B3864A65-27BC-4709-B6AD-704A76AFB015}"/>
              </a:ext>
            </a:extLst>
          </p:cNvPr>
          <p:cNvSpPr>
            <a:spLocks noGrp="1"/>
          </p:cNvSpPr>
          <p:nvPr/>
        </p:nvSpPr>
        <p:spPr>
          <a:xfrm>
            <a:off x="685800" y="847724"/>
            <a:ext cx="10001250" cy="485775"/>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Nguồn gốc xã hội</a:t>
            </a:r>
          </a:p>
        </p:txBody>
      </p:sp>
      <p:sp>
        <p:nvSpPr>
          <p:cNvPr id="3" name="Hình chữ nhật 2">
            <a:extLst>
              <a:ext uri="{FF2B5EF4-FFF2-40B4-BE49-F238E27FC236}">
                <a16:creationId xmlns:a16="http://schemas.microsoft.com/office/drawing/2014/main" id="{640921BF-8328-4886-8C75-A009E19E67E1}"/>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4168F3C3-7069-4DB2-AE27-D080CA59E2C9}"/>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15-18</a:t>
            </a:r>
          </a:p>
        </p:txBody>
      </p:sp>
      <p:sp>
        <p:nvSpPr>
          <p:cNvPr id="5" name="Hình chữ nhật 4">
            <a:extLst>
              <a:ext uri="{FF2B5EF4-FFF2-40B4-BE49-F238E27FC236}">
                <a16:creationId xmlns:a16="http://schemas.microsoft.com/office/drawing/2014/main" id="{798D65BC-1844-4442-A4D4-4E98AA8CA1A9}"/>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05</a:t>
            </a:r>
          </a:p>
        </p:txBody>
      </p:sp>
      <p:sp>
        <p:nvSpPr>
          <p:cNvPr id="6" name="Hình chữ nhật: Góc Tròn 5">
            <a:extLst>
              <a:ext uri="{FF2B5EF4-FFF2-40B4-BE49-F238E27FC236}">
                <a16:creationId xmlns:a16="http://schemas.microsoft.com/office/drawing/2014/main" id="{2EE78629-B596-4C5C-85AB-A1A1531D6CD8}"/>
              </a:ext>
            </a:extLst>
          </p:cNvPr>
          <p:cNvSpPr>
            <a:spLocks noGrp="1"/>
          </p:cNvSpPr>
          <p:nvPr/>
        </p:nvSpPr>
        <p:spPr>
          <a:xfrm>
            <a:off x="685800" y="1952625"/>
            <a:ext cx="3333750" cy="3143250"/>
          </a:xfrm>
          <a:prstGeom prst="roundRect">
            <a:avLst>
              <a:gd name="adj" fmla="val 2424"/>
            </a:avLst>
          </a:prstGeom>
          <a:solidFill>
            <a:srgbClr val="EAF1F4"/>
          </a:solidFill>
          <a:ln w="0">
            <a:solidFill>
              <a:srgbClr val="EAF1F4"/>
            </a:solidFill>
          </a:ln>
        </p:spPr>
        <p:txBody>
          <a:bodyPr/>
          <a:lstStyle/>
          <a:p>
            <a:endParaRPr/>
          </a:p>
        </p:txBody>
      </p:sp>
      <p:sp>
        <p:nvSpPr>
          <p:cNvPr id="7" name="Hình chữ nhật 6">
            <a:extLst>
              <a:ext uri="{FF2B5EF4-FFF2-40B4-BE49-F238E27FC236}">
                <a16:creationId xmlns:a16="http://schemas.microsoft.com/office/drawing/2014/main" id="{B1CCD550-50D5-479B-9EC9-42B713EC1102}"/>
              </a:ext>
            </a:extLst>
          </p:cNvPr>
          <p:cNvSpPr>
            <a:spLocks noGrp="1"/>
          </p:cNvSpPr>
          <p:nvPr/>
        </p:nvSpPr>
        <p:spPr>
          <a:xfrm>
            <a:off x="971550" y="2209800"/>
            <a:ext cx="2762250" cy="323850"/>
          </a:xfrm>
          <a:prstGeom prst="rect">
            <a:avLst/>
          </a:prstGeom>
          <a:noFill/>
          <a:ln w="0">
            <a:noFill/>
          </a:ln>
        </p:spPr>
        <p:txBody>
          <a:bodyPr anchor="t">
            <a:noAutofit/>
          </a:bodyPr>
          <a:lstStyle/>
          <a:p>
            <a:pPr algn="ctr">
              <a:buNone/>
              <a:defRPr sz="1800" b="1" i="0">
                <a:solidFill>
                  <a:srgbClr val="142B43"/>
                </a:solidFill>
                <a:latin typeface="Times New Roman"/>
                <a:ea typeface="Times New Roman"/>
                <a:cs typeface="Times New Roman"/>
              </a:defRPr>
            </a:pPr>
            <a:r>
              <a:rPr sz="2400" b="1" i="0">
                <a:solidFill>
                  <a:srgbClr val="142B43"/>
                </a:solidFill>
                <a:latin typeface="Times New Roman"/>
                <a:ea typeface="Times New Roman"/>
                <a:cs typeface="Times New Roman"/>
              </a:rPr>
              <a:t>Điều kiện xã hội</a:t>
            </a:r>
          </a:p>
        </p:txBody>
      </p:sp>
      <p:sp>
        <p:nvSpPr>
          <p:cNvPr id="8" name="Hình chữ nhật 7">
            <a:extLst>
              <a:ext uri="{FF2B5EF4-FFF2-40B4-BE49-F238E27FC236}">
                <a16:creationId xmlns:a16="http://schemas.microsoft.com/office/drawing/2014/main" id="{3BD9A3A5-C98D-48FA-BE6A-03E415818B5F}"/>
              </a:ext>
            </a:extLst>
          </p:cNvPr>
          <p:cNvSpPr>
            <a:spLocks noGrp="1"/>
          </p:cNvSpPr>
          <p:nvPr/>
        </p:nvSpPr>
        <p:spPr>
          <a:xfrm>
            <a:off x="971550" y="2685661"/>
            <a:ext cx="2762250" cy="2410214"/>
          </a:xfrm>
          <a:prstGeom prst="rect">
            <a:avLst/>
          </a:prstGeom>
          <a:noFill/>
          <a:ln w="0">
            <a:noFill/>
          </a:ln>
        </p:spPr>
        <p:txBody>
          <a:bodyPr anchor="t"/>
          <a:lstStyle/>
          <a:p>
            <a:pPr algn="l">
              <a:buNone/>
              <a:defRPr sz="150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Sản xuất xã hội phát triển đến trình độ nhất định.</a:t>
            </a:r>
          </a:p>
          <a:p>
            <a:pPr algn="l">
              <a:buNone/>
              <a:defRPr sz="150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Phân công lao động xã hội hình thành.</a:t>
            </a:r>
          </a:p>
          <a:p>
            <a:pPr algn="l">
              <a:buNone/>
              <a:defRPr sz="150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Xã hội xuất hiện giai cấp và nhà nước.</a:t>
            </a:r>
          </a:p>
        </p:txBody>
      </p:sp>
      <p:sp>
        <p:nvSpPr>
          <p:cNvPr id="9" name="Hình chữ nhật: Góc Tròn 8">
            <a:extLst>
              <a:ext uri="{FF2B5EF4-FFF2-40B4-BE49-F238E27FC236}">
                <a16:creationId xmlns:a16="http://schemas.microsoft.com/office/drawing/2014/main" id="{EDB6D9C3-72AD-4463-952A-BEF388BDBECE}"/>
              </a:ext>
            </a:extLst>
          </p:cNvPr>
          <p:cNvSpPr>
            <a:spLocks noGrp="1"/>
          </p:cNvSpPr>
          <p:nvPr/>
        </p:nvSpPr>
        <p:spPr>
          <a:xfrm>
            <a:off x="4419600" y="1952625"/>
            <a:ext cx="3333750" cy="3143250"/>
          </a:xfrm>
          <a:prstGeom prst="roundRect">
            <a:avLst>
              <a:gd name="adj" fmla="val 2424"/>
            </a:avLst>
          </a:prstGeom>
          <a:solidFill>
            <a:srgbClr val="F8EFD9"/>
          </a:solidFill>
          <a:ln w="0">
            <a:solidFill>
              <a:srgbClr val="F8EFD9"/>
            </a:solidFill>
          </a:ln>
        </p:spPr>
        <p:txBody>
          <a:bodyPr/>
          <a:lstStyle/>
          <a:p>
            <a:endParaRPr/>
          </a:p>
        </p:txBody>
      </p:sp>
      <p:sp>
        <p:nvSpPr>
          <p:cNvPr id="10" name="Hình chữ nhật 9">
            <a:extLst>
              <a:ext uri="{FF2B5EF4-FFF2-40B4-BE49-F238E27FC236}">
                <a16:creationId xmlns:a16="http://schemas.microsoft.com/office/drawing/2014/main" id="{9D55B328-FBDB-4740-8C7F-929FB3B98EE4}"/>
              </a:ext>
            </a:extLst>
          </p:cNvPr>
          <p:cNvSpPr>
            <a:spLocks noGrp="1"/>
          </p:cNvSpPr>
          <p:nvPr/>
        </p:nvSpPr>
        <p:spPr>
          <a:xfrm>
            <a:off x="4705350" y="2209800"/>
            <a:ext cx="2762250" cy="323850"/>
          </a:xfrm>
          <a:prstGeom prst="rect">
            <a:avLst/>
          </a:prstGeom>
          <a:noFill/>
          <a:ln w="0">
            <a:noFill/>
          </a:ln>
        </p:spPr>
        <p:txBody>
          <a:bodyPr anchor="t">
            <a:noAutofit/>
          </a:bodyPr>
          <a:lstStyle/>
          <a:p>
            <a:pPr algn="ctr">
              <a:buNone/>
              <a:defRPr sz="1800" b="1" i="0">
                <a:solidFill>
                  <a:srgbClr val="142B43"/>
                </a:solidFill>
                <a:latin typeface="Times New Roman"/>
                <a:ea typeface="Times New Roman"/>
                <a:cs typeface="Times New Roman"/>
              </a:defRPr>
            </a:pPr>
            <a:r>
              <a:rPr sz="2400" b="1" i="0">
                <a:solidFill>
                  <a:srgbClr val="142B43"/>
                </a:solidFill>
                <a:latin typeface="Times New Roman"/>
                <a:ea typeface="Times New Roman"/>
                <a:cs typeface="Times New Roman"/>
              </a:rPr>
              <a:t>Điều kiện trí thức</a:t>
            </a:r>
          </a:p>
        </p:txBody>
      </p:sp>
      <p:sp>
        <p:nvSpPr>
          <p:cNvPr id="11" name="Hình chữ nhật 10">
            <a:extLst>
              <a:ext uri="{FF2B5EF4-FFF2-40B4-BE49-F238E27FC236}">
                <a16:creationId xmlns:a16="http://schemas.microsoft.com/office/drawing/2014/main" id="{86EDDEFE-A12F-4865-B90D-75E69A1547F6}"/>
              </a:ext>
            </a:extLst>
          </p:cNvPr>
          <p:cNvSpPr>
            <a:spLocks noGrp="1"/>
          </p:cNvSpPr>
          <p:nvPr/>
        </p:nvSpPr>
        <p:spPr>
          <a:xfrm>
            <a:off x="4705350" y="2685661"/>
            <a:ext cx="2762250" cy="1981589"/>
          </a:xfrm>
          <a:prstGeom prst="rect">
            <a:avLst/>
          </a:prstGeom>
          <a:noFill/>
          <a:ln w="0">
            <a:noFill/>
          </a:ln>
        </p:spPr>
        <p:txBody>
          <a:bodyPr anchor="t"/>
          <a:lstStyle/>
          <a:p>
            <a:pPr algn="l">
              <a:buNone/>
              <a:defRPr sz="150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Lao động trí óc tách khỏi lao động chân tay.</a:t>
            </a:r>
          </a:p>
          <a:p>
            <a:pPr algn="l">
              <a:buNone/>
              <a:defRPr sz="150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Tầng lớp trí thức và hoạt động giáo dục hình thành.</a:t>
            </a:r>
          </a:p>
          <a:p>
            <a:pPr algn="l">
              <a:buNone/>
              <a:defRPr sz="150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Năng lực hệ thống hóa tri thức phát triển.</a:t>
            </a:r>
          </a:p>
        </p:txBody>
      </p:sp>
      <p:sp>
        <p:nvSpPr>
          <p:cNvPr id="12" name="Hình chữ nhật: Góc Tròn 11">
            <a:extLst>
              <a:ext uri="{FF2B5EF4-FFF2-40B4-BE49-F238E27FC236}">
                <a16:creationId xmlns:a16="http://schemas.microsoft.com/office/drawing/2014/main" id="{128F8040-557F-4273-A8FF-AB22075D1931}"/>
              </a:ext>
            </a:extLst>
          </p:cNvPr>
          <p:cNvSpPr>
            <a:spLocks noGrp="1"/>
          </p:cNvSpPr>
          <p:nvPr/>
        </p:nvSpPr>
        <p:spPr>
          <a:xfrm>
            <a:off x="8153400" y="1952625"/>
            <a:ext cx="2895600" cy="3143250"/>
          </a:xfrm>
          <a:prstGeom prst="roundRect">
            <a:avLst>
              <a:gd name="adj" fmla="val 2632"/>
            </a:avLst>
          </a:prstGeom>
          <a:solidFill>
            <a:srgbClr val="F6E6E1"/>
          </a:solidFill>
          <a:ln w="0">
            <a:solidFill>
              <a:srgbClr val="F6E6E1"/>
            </a:solidFill>
          </a:ln>
        </p:spPr>
        <p:txBody>
          <a:bodyPr/>
          <a:lstStyle/>
          <a:p>
            <a:endParaRPr/>
          </a:p>
        </p:txBody>
      </p:sp>
      <p:sp>
        <p:nvSpPr>
          <p:cNvPr id="13" name="Hình chữ nhật 12">
            <a:extLst>
              <a:ext uri="{FF2B5EF4-FFF2-40B4-BE49-F238E27FC236}">
                <a16:creationId xmlns:a16="http://schemas.microsoft.com/office/drawing/2014/main" id="{71192C3F-4DF8-4F3B-A6FE-BA50757D4456}"/>
              </a:ext>
            </a:extLst>
          </p:cNvPr>
          <p:cNvSpPr>
            <a:spLocks noGrp="1"/>
          </p:cNvSpPr>
          <p:nvPr/>
        </p:nvSpPr>
        <p:spPr>
          <a:xfrm>
            <a:off x="8420100" y="2209800"/>
            <a:ext cx="2362200" cy="323850"/>
          </a:xfrm>
          <a:prstGeom prst="rect">
            <a:avLst/>
          </a:prstGeom>
          <a:noFill/>
          <a:ln w="0">
            <a:noFill/>
          </a:ln>
        </p:spPr>
        <p:txBody>
          <a:bodyPr anchor="t">
            <a:noAutofit/>
          </a:bodyPr>
          <a:lstStyle/>
          <a:p>
            <a:pPr algn="ctr">
              <a:buNone/>
              <a:defRPr sz="1800" b="1" i="0">
                <a:solidFill>
                  <a:srgbClr val="142B43"/>
                </a:solidFill>
                <a:latin typeface="Times New Roman"/>
                <a:ea typeface="Times New Roman"/>
                <a:cs typeface="Times New Roman"/>
              </a:defRPr>
            </a:pPr>
            <a:r>
              <a:rPr sz="2400" b="1" i="0">
                <a:solidFill>
                  <a:srgbClr val="142B43"/>
                </a:solidFill>
                <a:latin typeface="Times New Roman"/>
                <a:ea typeface="Times New Roman"/>
                <a:cs typeface="Times New Roman"/>
              </a:rPr>
              <a:t>Kết quả</a:t>
            </a:r>
          </a:p>
        </p:txBody>
      </p:sp>
      <p:sp>
        <p:nvSpPr>
          <p:cNvPr id="14" name="Hình chữ nhật 13">
            <a:extLst>
              <a:ext uri="{FF2B5EF4-FFF2-40B4-BE49-F238E27FC236}">
                <a16:creationId xmlns:a16="http://schemas.microsoft.com/office/drawing/2014/main" id="{22828CDE-584B-411D-904A-80132BE6197B}"/>
              </a:ext>
            </a:extLst>
          </p:cNvPr>
          <p:cNvSpPr>
            <a:spLocks noGrp="1"/>
          </p:cNvSpPr>
          <p:nvPr/>
        </p:nvSpPr>
        <p:spPr>
          <a:xfrm>
            <a:off x="8420099" y="2901820"/>
            <a:ext cx="2506047" cy="1479680"/>
          </a:xfrm>
          <a:prstGeom prst="rect">
            <a:avLst/>
          </a:prstGeom>
          <a:noFill/>
          <a:ln w="0">
            <a:noFill/>
          </a:ln>
        </p:spPr>
        <p:txBody>
          <a:bodyPr anchor="t"/>
          <a:lstStyle/>
          <a:p>
            <a:pPr algn="ctr">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Các nhà thông thái</a:t>
            </a:r>
          </a:p>
          <a:p>
            <a:pPr algn="ctr">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khái quát tri thức</a:t>
            </a:r>
          </a:p>
          <a:p>
            <a:pPr algn="ctr">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thành học thuyết</a:t>
            </a:r>
          </a:p>
          <a:p>
            <a:pPr algn="ctr">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và lý luận có hệ thống</a:t>
            </a:r>
          </a:p>
        </p:txBody>
      </p:sp>
      <p:sp>
        <p:nvSpPr>
          <p:cNvPr id="15" name="Hình chữ nhật 14">
            <a:extLst>
              <a:ext uri="{FF2B5EF4-FFF2-40B4-BE49-F238E27FC236}">
                <a16:creationId xmlns:a16="http://schemas.microsoft.com/office/drawing/2014/main" id="{6B53DD10-6D57-4C7E-8525-C5FF71974D10}"/>
              </a:ext>
            </a:extLst>
          </p:cNvPr>
          <p:cNvSpPr>
            <a:spLocks noGrp="1"/>
          </p:cNvSpPr>
          <p:nvPr/>
        </p:nvSpPr>
        <p:spPr>
          <a:xfrm>
            <a:off x="1123950" y="5543550"/>
            <a:ext cx="9906000" cy="342900"/>
          </a:xfrm>
          <a:prstGeom prst="rect">
            <a:avLst/>
          </a:prstGeom>
          <a:noFill/>
          <a:ln w="0">
            <a:noFill/>
          </a:ln>
        </p:spPr>
        <p:txBody>
          <a:bodyPr anchor="t">
            <a:noAutofit/>
          </a:bodyPr>
          <a:lstStyle/>
          <a:p>
            <a:pPr algn="ctr">
              <a:buNone/>
              <a:defRPr sz="15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Triết học luôn mang dấu ấn của thời đại và những lực lượng xã hội đã sản sinh ra nó.</a:t>
            </a:r>
          </a:p>
        </p:txBody>
      </p:sp>
    </p:spTree>
    <p:extLst>
      <p:ext uri="{BB962C8B-B14F-4D97-AF65-F5344CB8AC3E}">
        <p14:creationId xmlns:p14="http://schemas.microsoft.com/office/powerpoint/2010/main" val="1072496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0" name="Hình chữ nhật 9">
            <a:extLst>
              <a:ext uri="{FF2B5EF4-FFF2-40B4-BE49-F238E27FC236}">
                <a16:creationId xmlns:a16="http://schemas.microsoft.com/office/drawing/2014/main" id="{061CE3D0-5D57-473E-AC6A-962EA3489F00}"/>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1.1. KHÁI LƯỢC VỀ TRIẾT HỌC</a:t>
            </a:r>
          </a:p>
        </p:txBody>
      </p:sp>
      <p:sp>
        <p:nvSpPr>
          <p:cNvPr id="2" name="Hình chữ nhật 1">
            <a:extLst>
              <a:ext uri="{FF2B5EF4-FFF2-40B4-BE49-F238E27FC236}">
                <a16:creationId xmlns:a16="http://schemas.microsoft.com/office/drawing/2014/main" id="{E18F27D4-8D92-4BC9-BBA9-F5EF1F29C9A0}"/>
              </a:ext>
            </a:extLst>
          </p:cNvPr>
          <p:cNvSpPr>
            <a:spLocks noGrp="1"/>
          </p:cNvSpPr>
          <p:nvPr/>
        </p:nvSpPr>
        <p:spPr>
          <a:xfrm>
            <a:off x="685800" y="742950"/>
            <a:ext cx="10001250" cy="59055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Khái niệm triết học</a:t>
            </a:r>
          </a:p>
        </p:txBody>
      </p:sp>
      <p:sp>
        <p:nvSpPr>
          <p:cNvPr id="3" name="Hình chữ nhật 2">
            <a:extLst>
              <a:ext uri="{FF2B5EF4-FFF2-40B4-BE49-F238E27FC236}">
                <a16:creationId xmlns:a16="http://schemas.microsoft.com/office/drawing/2014/main" id="{B6AF35BB-87CF-43FA-A4C4-78CBEFD8BDAE}"/>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E251EC93-7624-4626-BE90-645C29F07F78}"/>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19-22</a:t>
            </a:r>
          </a:p>
        </p:txBody>
      </p:sp>
      <p:sp>
        <p:nvSpPr>
          <p:cNvPr id="5" name="Hình chữ nhật 4">
            <a:extLst>
              <a:ext uri="{FF2B5EF4-FFF2-40B4-BE49-F238E27FC236}">
                <a16:creationId xmlns:a16="http://schemas.microsoft.com/office/drawing/2014/main" id="{A5E87E43-929D-417F-89C9-74F9B3C44AFD}"/>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06</a:t>
            </a:r>
          </a:p>
        </p:txBody>
      </p:sp>
      <p:sp>
        <p:nvSpPr>
          <p:cNvPr id="6" name="Hình chữ nhật: Góc Tròn 5">
            <a:extLst>
              <a:ext uri="{FF2B5EF4-FFF2-40B4-BE49-F238E27FC236}">
                <a16:creationId xmlns:a16="http://schemas.microsoft.com/office/drawing/2014/main" id="{153EBAF8-8694-41CF-B295-414D4C8C0A65}"/>
              </a:ext>
            </a:extLst>
          </p:cNvPr>
          <p:cNvSpPr>
            <a:spLocks noGrp="1"/>
          </p:cNvSpPr>
          <p:nvPr/>
        </p:nvSpPr>
        <p:spPr>
          <a:xfrm>
            <a:off x="685800" y="1866900"/>
            <a:ext cx="10363200" cy="1200150"/>
          </a:xfrm>
          <a:prstGeom prst="roundRect">
            <a:avLst>
              <a:gd name="adj" fmla="val 6349"/>
            </a:avLst>
          </a:prstGeom>
          <a:solidFill>
            <a:srgbClr val="142B43"/>
          </a:solidFill>
          <a:ln w="0">
            <a:solidFill>
              <a:srgbClr val="142B43"/>
            </a:solidFill>
          </a:ln>
        </p:spPr>
        <p:txBody>
          <a:bodyPr/>
          <a:lstStyle/>
          <a:p>
            <a:endParaRPr/>
          </a:p>
        </p:txBody>
      </p:sp>
      <p:sp>
        <p:nvSpPr>
          <p:cNvPr id="7" name="Hình chữ nhật 6">
            <a:extLst>
              <a:ext uri="{FF2B5EF4-FFF2-40B4-BE49-F238E27FC236}">
                <a16:creationId xmlns:a16="http://schemas.microsoft.com/office/drawing/2014/main" id="{8AAFBB05-F7C3-4F0A-9834-FA6DCC19D777}"/>
              </a:ext>
            </a:extLst>
          </p:cNvPr>
          <p:cNvSpPr>
            <a:spLocks noGrp="1"/>
          </p:cNvSpPr>
          <p:nvPr/>
        </p:nvSpPr>
        <p:spPr>
          <a:xfrm>
            <a:off x="1066800" y="2152650"/>
            <a:ext cx="9601200" cy="666750"/>
          </a:xfrm>
          <a:prstGeom prst="rect">
            <a:avLst/>
          </a:prstGeom>
          <a:noFill/>
          <a:ln w="0">
            <a:noFill/>
          </a:ln>
        </p:spPr>
        <p:txBody>
          <a:bodyPr anchor="t"/>
          <a:lstStyle/>
          <a:p>
            <a:pPr algn="ctr">
              <a:buNone/>
              <a:defRPr sz="1950" b="1" i="0">
                <a:solidFill>
                  <a:srgbClr val="FFFFFF"/>
                </a:solidFill>
                <a:latin typeface="Times New Roman"/>
                <a:ea typeface="Times New Roman"/>
                <a:cs typeface="Times New Roman"/>
              </a:defRPr>
            </a:pPr>
            <a:r>
              <a:rPr sz="1950" b="1" i="0">
                <a:solidFill>
                  <a:srgbClr val="FFFFFF"/>
                </a:solidFill>
                <a:latin typeface="Times New Roman"/>
                <a:ea typeface="Times New Roman"/>
                <a:cs typeface="Times New Roman"/>
              </a:rPr>
              <a:t>Triết học là hệ thống tri thức lý luận chung nhất của con người về thế giới, về bản thân con người và vị trí của con người trong thế giới đó.</a:t>
            </a:r>
          </a:p>
        </p:txBody>
      </p:sp>
      <p:sp>
        <p:nvSpPr>
          <p:cNvPr id="8" name="Hình chữ nhật 7">
            <a:extLst>
              <a:ext uri="{FF2B5EF4-FFF2-40B4-BE49-F238E27FC236}">
                <a16:creationId xmlns:a16="http://schemas.microsoft.com/office/drawing/2014/main" id="{9871DE49-7008-4EDD-84E8-30F7292A4A53}"/>
              </a:ext>
            </a:extLst>
          </p:cNvPr>
          <p:cNvSpPr>
            <a:spLocks noGrp="1"/>
          </p:cNvSpPr>
          <p:nvPr/>
        </p:nvSpPr>
        <p:spPr>
          <a:xfrm>
            <a:off x="685800" y="3429000"/>
            <a:ext cx="3810000" cy="419100"/>
          </a:xfrm>
          <a:prstGeom prst="rect">
            <a:avLst/>
          </a:prstGeom>
          <a:noFill/>
          <a:ln w="0">
            <a:noFill/>
          </a:ln>
        </p:spPr>
        <p:txBody>
          <a:bodyPr anchor="t">
            <a:noAutofit/>
          </a:bodyPr>
          <a:lstStyle/>
          <a:p>
            <a:pPr algn="l">
              <a:buNone/>
              <a:defRPr sz="1800" b="1" i="0">
                <a:solidFill>
                  <a:srgbClr val="142B43"/>
                </a:solidFill>
                <a:latin typeface="Times New Roman"/>
                <a:ea typeface="Times New Roman"/>
                <a:cs typeface="Times New Roman"/>
              </a:defRPr>
            </a:pPr>
            <a:r>
              <a:rPr sz="2400" b="1" i="0">
                <a:solidFill>
                  <a:srgbClr val="142B43"/>
                </a:solidFill>
                <a:latin typeface="Times New Roman"/>
                <a:ea typeface="Times New Roman"/>
                <a:cs typeface="Times New Roman"/>
              </a:rPr>
              <a:t>Các nội dung cốt lõi</a:t>
            </a:r>
          </a:p>
        </p:txBody>
      </p:sp>
      <p:sp>
        <p:nvSpPr>
          <p:cNvPr id="9" name="Hình chữ nhật 8">
            <a:extLst>
              <a:ext uri="{FF2B5EF4-FFF2-40B4-BE49-F238E27FC236}">
                <a16:creationId xmlns:a16="http://schemas.microsoft.com/office/drawing/2014/main" id="{29309FEC-E223-44E9-9727-BFBB212B49D8}"/>
              </a:ext>
            </a:extLst>
          </p:cNvPr>
          <p:cNvSpPr>
            <a:spLocks noGrp="1"/>
          </p:cNvSpPr>
          <p:nvPr/>
        </p:nvSpPr>
        <p:spPr>
          <a:xfrm>
            <a:off x="685800" y="4000500"/>
            <a:ext cx="9906000" cy="1809750"/>
          </a:xfrm>
          <a:prstGeom prst="rect">
            <a:avLst/>
          </a:prstGeom>
          <a:noFill/>
          <a:ln w="0">
            <a:noFill/>
          </a:ln>
        </p:spPr>
        <p:txBody>
          <a:bodyPr anchor="t"/>
          <a:lstStyle/>
          <a:p>
            <a:pPr algn="l">
              <a:buNone/>
              <a:defRPr sz="1575"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Một hình thái ý thức xã hội.</a:t>
            </a:r>
          </a:p>
          <a:p>
            <a:pPr algn="l">
              <a:buNone/>
              <a:defRPr sz="1575"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Khách thể nghiên cứu là thế giới trong tính chỉnh thể toàn vẹn, gồm cả thế giới bên ngoài và bên trong con người.</a:t>
            </a:r>
          </a:p>
          <a:p>
            <a:pPr algn="l">
              <a:buNone/>
              <a:defRPr sz="1575"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Mục đích là tìm ra những quy luật phổ biến chi phối sự vận động của tự nhiên, xã hội và tư duy.</a:t>
            </a:r>
          </a:p>
          <a:p>
            <a:pPr algn="l">
              <a:buNone/>
              <a:defRPr sz="1575"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Triết học sử dụng công cụ lý tính, tiêu chuẩn logic và kinh nghiệm để khái quát thế giới bằng lý luận.</a:t>
            </a:r>
          </a:p>
        </p:txBody>
      </p:sp>
    </p:spTree>
    <p:extLst>
      <p:ext uri="{BB962C8B-B14F-4D97-AF65-F5344CB8AC3E}">
        <p14:creationId xmlns:p14="http://schemas.microsoft.com/office/powerpoint/2010/main" val="959449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6" name="Hình chữ nhật 15">
            <a:extLst>
              <a:ext uri="{FF2B5EF4-FFF2-40B4-BE49-F238E27FC236}">
                <a16:creationId xmlns:a16="http://schemas.microsoft.com/office/drawing/2014/main" id="{036C1389-028E-470E-8008-BF680923F039}"/>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1.1. KHÁI LƯỢC VỀ TRIẾT HỌC</a:t>
            </a:r>
          </a:p>
        </p:txBody>
      </p:sp>
      <p:sp>
        <p:nvSpPr>
          <p:cNvPr id="2" name="Hình chữ nhật 1">
            <a:extLst>
              <a:ext uri="{FF2B5EF4-FFF2-40B4-BE49-F238E27FC236}">
                <a16:creationId xmlns:a16="http://schemas.microsoft.com/office/drawing/2014/main" id="{C9A4EF87-2BBA-4ED4-89A5-DBBDE833A793}"/>
              </a:ext>
            </a:extLst>
          </p:cNvPr>
          <p:cNvSpPr>
            <a:spLocks noGrp="1"/>
          </p:cNvSpPr>
          <p:nvPr/>
        </p:nvSpPr>
        <p:spPr>
          <a:xfrm>
            <a:off x="685800" y="800100"/>
            <a:ext cx="10001250" cy="53340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Đối tượng triết học trong lịch sử</a:t>
            </a:r>
          </a:p>
        </p:txBody>
      </p:sp>
      <p:sp>
        <p:nvSpPr>
          <p:cNvPr id="3" name="Hình chữ nhật 2">
            <a:extLst>
              <a:ext uri="{FF2B5EF4-FFF2-40B4-BE49-F238E27FC236}">
                <a16:creationId xmlns:a16="http://schemas.microsoft.com/office/drawing/2014/main" id="{CC243AFB-6817-4B1F-AB58-362836D9647E}"/>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0EBC4B83-806E-4003-AF04-14302F143FB5}"/>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23-26</a:t>
            </a:r>
          </a:p>
        </p:txBody>
      </p:sp>
      <p:sp>
        <p:nvSpPr>
          <p:cNvPr id="5" name="Hình chữ nhật 4">
            <a:extLst>
              <a:ext uri="{FF2B5EF4-FFF2-40B4-BE49-F238E27FC236}">
                <a16:creationId xmlns:a16="http://schemas.microsoft.com/office/drawing/2014/main" id="{50ABF0E1-2936-4031-BBFB-CD43F496E4EE}"/>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07</a:t>
            </a:r>
          </a:p>
        </p:txBody>
      </p:sp>
      <p:sp>
        <p:nvSpPr>
          <p:cNvPr id="6" name="Hình chữ nhật 5">
            <a:extLst>
              <a:ext uri="{FF2B5EF4-FFF2-40B4-BE49-F238E27FC236}">
                <a16:creationId xmlns:a16="http://schemas.microsoft.com/office/drawing/2014/main" id="{D9C66D5C-5985-43BC-B1CE-910BBED75CD6}"/>
              </a:ext>
            </a:extLst>
          </p:cNvPr>
          <p:cNvSpPr>
            <a:spLocks noGrp="1"/>
          </p:cNvSpPr>
          <p:nvPr/>
        </p:nvSpPr>
        <p:spPr>
          <a:xfrm>
            <a:off x="685800" y="1771650"/>
            <a:ext cx="10382250" cy="419100"/>
          </a:xfrm>
          <a:prstGeom prst="rect">
            <a:avLst/>
          </a:prstGeom>
          <a:noFill/>
          <a:ln w="0">
            <a:noFill/>
          </a:ln>
        </p:spPr>
        <p:txBody>
          <a:bodyPr anchor="t">
            <a:noAutofit/>
          </a:bodyPr>
          <a:lstStyle/>
          <a:p>
            <a:pPr algn="l">
              <a:buNone/>
              <a:defRPr sz="1800" b="1" i="0">
                <a:solidFill>
                  <a:srgbClr val="142B43"/>
                </a:solidFill>
                <a:latin typeface="Times New Roman"/>
                <a:ea typeface="Times New Roman"/>
                <a:cs typeface="Times New Roman"/>
              </a:defRPr>
            </a:pPr>
            <a:r>
              <a:rPr sz="2000" b="1" i="0">
                <a:solidFill>
                  <a:srgbClr val="142B43"/>
                </a:solidFill>
                <a:latin typeface="Times New Roman"/>
                <a:ea typeface="Times New Roman"/>
                <a:cs typeface="Times New Roman"/>
              </a:rPr>
              <a:t>Phạm vi nghiên cứu thay đổi cùng với sự phát triển của xã hội, nhận thức và khoa học.</a:t>
            </a:r>
          </a:p>
        </p:txBody>
      </p:sp>
      <p:sp>
        <p:nvSpPr>
          <p:cNvPr id="7" name="Hình chữ nhật: Góc Tròn 6">
            <a:extLst>
              <a:ext uri="{FF2B5EF4-FFF2-40B4-BE49-F238E27FC236}">
                <a16:creationId xmlns:a16="http://schemas.microsoft.com/office/drawing/2014/main" id="{A91118DF-F8C1-4B00-97D8-1FC59652B5CF}"/>
              </a:ext>
            </a:extLst>
          </p:cNvPr>
          <p:cNvSpPr>
            <a:spLocks noGrp="1"/>
          </p:cNvSpPr>
          <p:nvPr/>
        </p:nvSpPr>
        <p:spPr>
          <a:xfrm>
            <a:off x="685800" y="2781300"/>
            <a:ext cx="2095500" cy="990600"/>
          </a:xfrm>
          <a:prstGeom prst="roundRect">
            <a:avLst>
              <a:gd name="adj" fmla="val 7692"/>
            </a:avLst>
          </a:prstGeom>
          <a:solidFill>
            <a:srgbClr val="F8EFD9"/>
          </a:solidFill>
          <a:ln w="0">
            <a:solidFill>
              <a:srgbClr val="F8EFD9"/>
            </a:solidFill>
          </a:ln>
        </p:spPr>
        <p:txBody>
          <a:bodyPr/>
          <a:lstStyle/>
          <a:p>
            <a:endParaRPr/>
          </a:p>
        </p:txBody>
      </p:sp>
      <p:sp>
        <p:nvSpPr>
          <p:cNvPr id="8" name="Hình chữ nhật 7">
            <a:extLst>
              <a:ext uri="{FF2B5EF4-FFF2-40B4-BE49-F238E27FC236}">
                <a16:creationId xmlns:a16="http://schemas.microsoft.com/office/drawing/2014/main" id="{FB54FC40-10F8-46E2-9169-4C793BE70E63}"/>
              </a:ext>
            </a:extLst>
          </p:cNvPr>
          <p:cNvSpPr>
            <a:spLocks noGrp="1"/>
          </p:cNvSpPr>
          <p:nvPr/>
        </p:nvSpPr>
        <p:spPr>
          <a:xfrm>
            <a:off x="876300" y="3105150"/>
            <a:ext cx="1714500" cy="323850"/>
          </a:xfrm>
          <a:prstGeom prst="rect">
            <a:avLst/>
          </a:prstGeom>
          <a:noFill/>
          <a:ln w="0">
            <a:noFill/>
          </a:ln>
        </p:spPr>
        <p:txBody>
          <a:bodyPr anchor="t">
            <a:noAutofit/>
          </a:bodyPr>
          <a:lstStyle/>
          <a:p>
            <a:pPr algn="ctr">
              <a:buNone/>
              <a:defRPr sz="1800" b="1" i="0">
                <a:solidFill>
                  <a:srgbClr val="142B43"/>
                </a:solidFill>
                <a:latin typeface="Times New Roman"/>
                <a:ea typeface="Times New Roman"/>
                <a:cs typeface="Times New Roman"/>
              </a:defRPr>
            </a:pPr>
            <a:r>
              <a:rPr sz="1950" b="1" i="0">
                <a:solidFill>
                  <a:srgbClr val="142B43"/>
                </a:solidFill>
                <a:latin typeface="Times New Roman"/>
                <a:ea typeface="Times New Roman"/>
                <a:cs typeface="Times New Roman"/>
              </a:rPr>
              <a:t>Thời cổ đại</a:t>
            </a:r>
          </a:p>
        </p:txBody>
      </p:sp>
      <p:sp>
        <p:nvSpPr>
          <p:cNvPr id="9" name="Hình chữ nhật 8">
            <a:extLst>
              <a:ext uri="{FF2B5EF4-FFF2-40B4-BE49-F238E27FC236}">
                <a16:creationId xmlns:a16="http://schemas.microsoft.com/office/drawing/2014/main" id="{926DE80F-F72A-4C07-96C8-55AC6A754F6E}"/>
              </a:ext>
            </a:extLst>
          </p:cNvPr>
          <p:cNvSpPr>
            <a:spLocks noGrp="1"/>
          </p:cNvSpPr>
          <p:nvPr/>
        </p:nvSpPr>
        <p:spPr>
          <a:xfrm>
            <a:off x="3295650" y="2895600"/>
            <a:ext cx="7334250" cy="800100"/>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Triết học tự nhiên bao quát gần như toàn bộ tri thức con người có được. Khoa học chuyên ngành chưa tách thành các lĩnh vực độc lập.</a:t>
            </a:r>
          </a:p>
        </p:txBody>
      </p:sp>
      <p:sp>
        <p:nvSpPr>
          <p:cNvPr id="10" name="Hình chữ nhật 9">
            <a:extLst>
              <a:ext uri="{FF2B5EF4-FFF2-40B4-BE49-F238E27FC236}">
                <a16:creationId xmlns:a16="http://schemas.microsoft.com/office/drawing/2014/main" id="{EA8933B4-84F1-4AEC-990D-10A8929B357C}"/>
              </a:ext>
            </a:extLst>
          </p:cNvPr>
          <p:cNvSpPr>
            <a:spLocks noGrp="1"/>
          </p:cNvSpPr>
          <p:nvPr/>
        </p:nvSpPr>
        <p:spPr>
          <a:xfrm>
            <a:off x="2781300" y="3771900"/>
            <a:ext cx="7429500" cy="47625"/>
          </a:xfrm>
          <a:prstGeom prst="rect">
            <a:avLst/>
          </a:prstGeom>
          <a:solidFill>
            <a:srgbClr val="D6A756"/>
          </a:solidFill>
          <a:ln w="0">
            <a:solidFill>
              <a:srgbClr val="D6A756"/>
            </a:solidFill>
          </a:ln>
        </p:spPr>
        <p:txBody>
          <a:bodyPr/>
          <a:lstStyle/>
          <a:p>
            <a:endParaRPr/>
          </a:p>
        </p:txBody>
      </p:sp>
      <p:sp>
        <p:nvSpPr>
          <p:cNvPr id="11" name="Hình chữ nhật: Góc Tròn 10">
            <a:extLst>
              <a:ext uri="{FF2B5EF4-FFF2-40B4-BE49-F238E27FC236}">
                <a16:creationId xmlns:a16="http://schemas.microsoft.com/office/drawing/2014/main" id="{A31A4205-3AEA-437B-B106-751349624ADF}"/>
              </a:ext>
            </a:extLst>
          </p:cNvPr>
          <p:cNvSpPr>
            <a:spLocks noGrp="1"/>
          </p:cNvSpPr>
          <p:nvPr/>
        </p:nvSpPr>
        <p:spPr>
          <a:xfrm>
            <a:off x="685800" y="4191000"/>
            <a:ext cx="2095500" cy="990600"/>
          </a:xfrm>
          <a:prstGeom prst="roundRect">
            <a:avLst>
              <a:gd name="adj" fmla="val 7692"/>
            </a:avLst>
          </a:prstGeom>
          <a:solidFill>
            <a:srgbClr val="F6E6E1"/>
          </a:solidFill>
          <a:ln w="0">
            <a:solidFill>
              <a:srgbClr val="F6E6E1"/>
            </a:solidFill>
          </a:ln>
        </p:spPr>
        <p:txBody>
          <a:bodyPr/>
          <a:lstStyle/>
          <a:p>
            <a:endParaRPr/>
          </a:p>
        </p:txBody>
      </p:sp>
      <p:sp>
        <p:nvSpPr>
          <p:cNvPr id="12" name="Hình chữ nhật 11">
            <a:extLst>
              <a:ext uri="{FF2B5EF4-FFF2-40B4-BE49-F238E27FC236}">
                <a16:creationId xmlns:a16="http://schemas.microsoft.com/office/drawing/2014/main" id="{2A5D5985-C9D0-4387-826F-F36025477298}"/>
              </a:ext>
            </a:extLst>
          </p:cNvPr>
          <p:cNvSpPr>
            <a:spLocks noGrp="1"/>
          </p:cNvSpPr>
          <p:nvPr/>
        </p:nvSpPr>
        <p:spPr>
          <a:xfrm>
            <a:off x="876300" y="4514850"/>
            <a:ext cx="1714500" cy="323850"/>
          </a:xfrm>
          <a:prstGeom prst="rect">
            <a:avLst/>
          </a:prstGeom>
          <a:noFill/>
          <a:ln w="0">
            <a:noFill/>
          </a:ln>
        </p:spPr>
        <p:txBody>
          <a:bodyPr anchor="t">
            <a:noAutofit/>
          </a:bodyPr>
          <a:lstStyle/>
          <a:p>
            <a:pPr algn="ctr">
              <a:buNone/>
              <a:defRPr sz="1800" b="1" i="0">
                <a:solidFill>
                  <a:srgbClr val="142B43"/>
                </a:solidFill>
                <a:latin typeface="Times New Roman"/>
                <a:ea typeface="Times New Roman"/>
                <a:cs typeface="Times New Roman"/>
              </a:defRPr>
            </a:pPr>
            <a:r>
              <a:rPr sz="1950" b="1" i="0">
                <a:solidFill>
                  <a:srgbClr val="142B43"/>
                </a:solidFill>
                <a:latin typeface="Times New Roman"/>
                <a:ea typeface="Times New Roman"/>
                <a:cs typeface="Times New Roman"/>
              </a:rPr>
              <a:t>Triết học hiện đại</a:t>
            </a:r>
          </a:p>
        </p:txBody>
      </p:sp>
      <p:sp>
        <p:nvSpPr>
          <p:cNvPr id="13" name="Hình chữ nhật 12">
            <a:extLst>
              <a:ext uri="{FF2B5EF4-FFF2-40B4-BE49-F238E27FC236}">
                <a16:creationId xmlns:a16="http://schemas.microsoft.com/office/drawing/2014/main" id="{F0002270-8046-4135-91F1-E8E7DCF7842B}"/>
              </a:ext>
            </a:extLst>
          </p:cNvPr>
          <p:cNvSpPr>
            <a:spLocks noGrp="1"/>
          </p:cNvSpPr>
          <p:nvPr/>
        </p:nvSpPr>
        <p:spPr>
          <a:xfrm>
            <a:off x="3295650" y="4305300"/>
            <a:ext cx="7334250" cy="800100"/>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Đối tượng được xác định rõ hơn: nghiên cứu những quy luật vận động, phát triển chung nhất của tự nhiên, xã hội và tư duy.</a:t>
            </a:r>
          </a:p>
        </p:txBody>
      </p:sp>
      <p:sp>
        <p:nvSpPr>
          <p:cNvPr id="14" name="Hình chữ nhật: Góc Tròn 13">
            <a:extLst>
              <a:ext uri="{FF2B5EF4-FFF2-40B4-BE49-F238E27FC236}">
                <a16:creationId xmlns:a16="http://schemas.microsoft.com/office/drawing/2014/main" id="{36B7726A-26C1-401C-998B-4B75A04A1719}"/>
              </a:ext>
            </a:extLst>
          </p:cNvPr>
          <p:cNvSpPr>
            <a:spLocks noGrp="1"/>
          </p:cNvSpPr>
          <p:nvPr/>
        </p:nvSpPr>
        <p:spPr>
          <a:xfrm>
            <a:off x="876300" y="5486400"/>
            <a:ext cx="10001250" cy="971550"/>
          </a:xfrm>
          <a:prstGeom prst="roundRect">
            <a:avLst>
              <a:gd name="adj" fmla="val 12121"/>
            </a:avLst>
          </a:prstGeom>
          <a:solidFill>
            <a:srgbClr val="142B43"/>
          </a:solidFill>
          <a:ln w="0">
            <a:solidFill>
              <a:srgbClr val="142B43"/>
            </a:solidFill>
          </a:ln>
        </p:spPr>
        <p:txBody>
          <a:bodyPr/>
          <a:lstStyle/>
          <a:p>
            <a:endParaRPr/>
          </a:p>
        </p:txBody>
      </p:sp>
      <p:sp>
        <p:nvSpPr>
          <p:cNvPr id="15" name="Hình chữ nhật 14">
            <a:extLst>
              <a:ext uri="{FF2B5EF4-FFF2-40B4-BE49-F238E27FC236}">
                <a16:creationId xmlns:a16="http://schemas.microsoft.com/office/drawing/2014/main" id="{2E67D797-2F9E-4118-A206-75D80B6EFCFA}"/>
              </a:ext>
            </a:extLst>
          </p:cNvPr>
          <p:cNvSpPr>
            <a:spLocks noGrp="1"/>
          </p:cNvSpPr>
          <p:nvPr/>
        </p:nvSpPr>
        <p:spPr>
          <a:xfrm>
            <a:off x="914400" y="5600700"/>
            <a:ext cx="9505950" cy="457200"/>
          </a:xfrm>
          <a:prstGeom prst="rect">
            <a:avLst/>
          </a:prstGeom>
          <a:noFill/>
          <a:ln w="0">
            <a:noFill/>
          </a:ln>
        </p:spPr>
        <p:txBody>
          <a:bodyPr anchor="t"/>
          <a:lstStyle/>
          <a:p>
            <a:pPr algn="ctr">
              <a:buNone/>
              <a:defRPr sz="1500" b="1" i="0">
                <a:solidFill>
                  <a:srgbClr val="FFFFFF"/>
                </a:solidFill>
                <a:latin typeface="Times New Roman"/>
                <a:ea typeface="Times New Roman"/>
                <a:cs typeface="Times New Roman"/>
              </a:defRPr>
            </a:pPr>
            <a:r>
              <a:rPr sz="2400" b="1" i="0">
                <a:solidFill>
                  <a:srgbClr val="FFFFFF"/>
                </a:solidFill>
                <a:latin typeface="Times New Roman"/>
                <a:ea typeface="Times New Roman"/>
                <a:cs typeface="Times New Roman"/>
              </a:rPr>
              <a:t>Đối tượng: các mối liên hệ phổ biến và quy luật chung nhất của tự nhiên, xã hội và tư duy.</a:t>
            </a:r>
          </a:p>
        </p:txBody>
      </p:sp>
    </p:spTree>
    <p:extLst>
      <p:ext uri="{BB962C8B-B14F-4D97-AF65-F5344CB8AC3E}">
        <p14:creationId xmlns:p14="http://schemas.microsoft.com/office/powerpoint/2010/main" val="335139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3" name="Hình chữ nhật 12">
            <a:extLst>
              <a:ext uri="{FF2B5EF4-FFF2-40B4-BE49-F238E27FC236}">
                <a16:creationId xmlns:a16="http://schemas.microsoft.com/office/drawing/2014/main" id="{D7B3357D-4EF2-4EDF-9F11-7549704FA1C7}"/>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1.1. KHÁI LƯỢC VỀ TRIẾT HỌC</a:t>
            </a:r>
          </a:p>
        </p:txBody>
      </p:sp>
      <p:sp>
        <p:nvSpPr>
          <p:cNvPr id="2" name="Hình chữ nhật 1">
            <a:extLst>
              <a:ext uri="{FF2B5EF4-FFF2-40B4-BE49-F238E27FC236}">
                <a16:creationId xmlns:a16="http://schemas.microsoft.com/office/drawing/2014/main" id="{27B48C6D-8925-4CB9-8EF7-C624118EBBE5}"/>
              </a:ext>
            </a:extLst>
          </p:cNvPr>
          <p:cNvSpPr>
            <a:spLocks noGrp="1"/>
          </p:cNvSpPr>
          <p:nvPr/>
        </p:nvSpPr>
        <p:spPr>
          <a:xfrm>
            <a:off x="685800" y="793102"/>
            <a:ext cx="10001250" cy="540398"/>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Triết học và thế giới quan</a:t>
            </a:r>
          </a:p>
        </p:txBody>
      </p:sp>
      <p:sp>
        <p:nvSpPr>
          <p:cNvPr id="3" name="Hình chữ nhật 2">
            <a:extLst>
              <a:ext uri="{FF2B5EF4-FFF2-40B4-BE49-F238E27FC236}">
                <a16:creationId xmlns:a16="http://schemas.microsoft.com/office/drawing/2014/main" id="{DB45BABC-DDEF-4D1E-A3CA-2CF69AE0E83B}"/>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DBA6E474-B9D7-483B-BBF1-AAC25BE59031}"/>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27-30</a:t>
            </a:r>
          </a:p>
        </p:txBody>
      </p:sp>
      <p:sp>
        <p:nvSpPr>
          <p:cNvPr id="5" name="Hình chữ nhật 4">
            <a:extLst>
              <a:ext uri="{FF2B5EF4-FFF2-40B4-BE49-F238E27FC236}">
                <a16:creationId xmlns:a16="http://schemas.microsoft.com/office/drawing/2014/main" id="{14B8EFB7-2581-4993-833E-6B19ADF734FB}"/>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08</a:t>
            </a:r>
          </a:p>
        </p:txBody>
      </p:sp>
      <p:sp>
        <p:nvSpPr>
          <p:cNvPr id="6" name="Hình chữ nhật: Góc Tròn 5">
            <a:extLst>
              <a:ext uri="{FF2B5EF4-FFF2-40B4-BE49-F238E27FC236}">
                <a16:creationId xmlns:a16="http://schemas.microsoft.com/office/drawing/2014/main" id="{F9A3D68D-2B8A-400E-9C1F-4EB734AB990E}"/>
              </a:ext>
            </a:extLst>
          </p:cNvPr>
          <p:cNvSpPr>
            <a:spLocks noGrp="1"/>
          </p:cNvSpPr>
          <p:nvPr/>
        </p:nvSpPr>
        <p:spPr>
          <a:xfrm>
            <a:off x="685800" y="1943100"/>
            <a:ext cx="4953000" cy="3086100"/>
          </a:xfrm>
          <a:prstGeom prst="roundRect">
            <a:avLst>
              <a:gd name="adj" fmla="val 2469"/>
            </a:avLst>
          </a:prstGeom>
          <a:solidFill>
            <a:srgbClr val="EAF1F4"/>
          </a:solidFill>
          <a:ln w="0">
            <a:solidFill>
              <a:srgbClr val="EAF1F4"/>
            </a:solidFill>
          </a:ln>
        </p:spPr>
        <p:txBody>
          <a:bodyPr/>
          <a:lstStyle/>
          <a:p>
            <a:endParaRPr/>
          </a:p>
        </p:txBody>
      </p:sp>
      <p:sp>
        <p:nvSpPr>
          <p:cNvPr id="7" name="Hình chữ nhật 6">
            <a:extLst>
              <a:ext uri="{FF2B5EF4-FFF2-40B4-BE49-F238E27FC236}">
                <a16:creationId xmlns:a16="http://schemas.microsoft.com/office/drawing/2014/main" id="{EDB76CDF-8F19-4A14-A7BC-8846F0AB9963}"/>
              </a:ext>
            </a:extLst>
          </p:cNvPr>
          <p:cNvSpPr>
            <a:spLocks noGrp="1"/>
          </p:cNvSpPr>
          <p:nvPr/>
        </p:nvSpPr>
        <p:spPr>
          <a:xfrm>
            <a:off x="1066800" y="2266950"/>
            <a:ext cx="4191000" cy="419100"/>
          </a:xfrm>
          <a:prstGeom prst="rect">
            <a:avLst/>
          </a:prstGeom>
          <a:noFill/>
          <a:ln w="0">
            <a:noFill/>
          </a:ln>
        </p:spPr>
        <p:txBody>
          <a:bodyPr anchor="t">
            <a:noAutofit/>
          </a:bodyPr>
          <a:lstStyle/>
          <a:p>
            <a:pPr algn="ctr">
              <a:buNone/>
              <a:defRPr sz="2250" b="1" i="0">
                <a:solidFill>
                  <a:srgbClr val="142B43"/>
                </a:solidFill>
                <a:latin typeface="Times New Roman"/>
                <a:ea typeface="Times New Roman"/>
                <a:cs typeface="Times New Roman"/>
              </a:defRPr>
            </a:pPr>
            <a:r>
              <a:rPr sz="2800" b="1" i="0">
                <a:solidFill>
                  <a:srgbClr val="142B43"/>
                </a:solidFill>
                <a:latin typeface="Times New Roman"/>
                <a:ea typeface="Times New Roman"/>
                <a:cs typeface="Times New Roman"/>
              </a:rPr>
              <a:t>Thế giới quan</a:t>
            </a:r>
          </a:p>
        </p:txBody>
      </p:sp>
      <p:sp>
        <p:nvSpPr>
          <p:cNvPr id="8" name="Hình chữ nhật 7">
            <a:extLst>
              <a:ext uri="{FF2B5EF4-FFF2-40B4-BE49-F238E27FC236}">
                <a16:creationId xmlns:a16="http://schemas.microsoft.com/office/drawing/2014/main" id="{75636A6A-E0C7-4DE5-B040-894CC531C2EF}"/>
              </a:ext>
            </a:extLst>
          </p:cNvPr>
          <p:cNvSpPr>
            <a:spLocks noGrp="1"/>
          </p:cNvSpPr>
          <p:nvPr/>
        </p:nvSpPr>
        <p:spPr>
          <a:xfrm>
            <a:off x="1104900" y="3067050"/>
            <a:ext cx="4114800" cy="1219200"/>
          </a:xfrm>
          <a:prstGeom prst="rect">
            <a:avLst/>
          </a:prstGeom>
          <a:noFill/>
          <a:ln w="0">
            <a:noFill/>
          </a:ln>
        </p:spPr>
        <p:txBody>
          <a:bodyPr anchor="t"/>
          <a:lstStyle/>
          <a:p>
            <a:pPr algn="ctr">
              <a:buNone/>
              <a:defRPr sz="1725"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Hệ thống tri thức, quan điểm, tình cảm, niềm tin và lý tưởng xác định về thế giới và vị trí của con người trong thế giới đó.</a:t>
            </a:r>
          </a:p>
        </p:txBody>
      </p:sp>
      <p:sp>
        <p:nvSpPr>
          <p:cNvPr id="9" name="Hình chữ nhật: Góc Tròn 8">
            <a:extLst>
              <a:ext uri="{FF2B5EF4-FFF2-40B4-BE49-F238E27FC236}">
                <a16:creationId xmlns:a16="http://schemas.microsoft.com/office/drawing/2014/main" id="{B09B3178-0AD8-4A83-AE66-06B30DE97401}"/>
              </a:ext>
            </a:extLst>
          </p:cNvPr>
          <p:cNvSpPr>
            <a:spLocks noGrp="1"/>
          </p:cNvSpPr>
          <p:nvPr/>
        </p:nvSpPr>
        <p:spPr>
          <a:xfrm>
            <a:off x="6553200" y="1943100"/>
            <a:ext cx="4495800" cy="3086100"/>
          </a:xfrm>
          <a:prstGeom prst="roundRect">
            <a:avLst>
              <a:gd name="adj" fmla="val 2469"/>
            </a:avLst>
          </a:prstGeom>
          <a:solidFill>
            <a:srgbClr val="142B43"/>
          </a:solidFill>
          <a:ln w="0">
            <a:solidFill>
              <a:srgbClr val="142B43"/>
            </a:solidFill>
          </a:ln>
        </p:spPr>
        <p:txBody>
          <a:bodyPr/>
          <a:lstStyle/>
          <a:p>
            <a:endParaRPr/>
          </a:p>
        </p:txBody>
      </p:sp>
      <p:sp>
        <p:nvSpPr>
          <p:cNvPr id="10" name="Hình chữ nhật 9">
            <a:extLst>
              <a:ext uri="{FF2B5EF4-FFF2-40B4-BE49-F238E27FC236}">
                <a16:creationId xmlns:a16="http://schemas.microsoft.com/office/drawing/2014/main" id="{FFB1C326-45EE-4A1C-8593-9B57589BE1C4}"/>
              </a:ext>
            </a:extLst>
          </p:cNvPr>
          <p:cNvSpPr>
            <a:spLocks noGrp="1"/>
          </p:cNvSpPr>
          <p:nvPr/>
        </p:nvSpPr>
        <p:spPr>
          <a:xfrm>
            <a:off x="6953250" y="2266950"/>
            <a:ext cx="3714750" cy="419100"/>
          </a:xfrm>
          <a:prstGeom prst="rect">
            <a:avLst/>
          </a:prstGeom>
          <a:noFill/>
          <a:ln w="0">
            <a:noFill/>
          </a:ln>
        </p:spPr>
        <p:txBody>
          <a:bodyPr anchor="t">
            <a:noAutofit/>
          </a:bodyPr>
          <a:lstStyle/>
          <a:p>
            <a:pPr algn="ctr">
              <a:buNone/>
              <a:defRPr sz="2250" b="1" i="0">
                <a:solidFill>
                  <a:srgbClr val="D6A756"/>
                </a:solidFill>
                <a:latin typeface="Times New Roman"/>
                <a:ea typeface="Times New Roman"/>
                <a:cs typeface="Times New Roman"/>
              </a:defRPr>
            </a:pPr>
            <a:r>
              <a:rPr sz="2800" b="1" i="0">
                <a:solidFill>
                  <a:srgbClr val="D6A756"/>
                </a:solidFill>
                <a:latin typeface="Times New Roman"/>
                <a:ea typeface="Times New Roman"/>
                <a:cs typeface="Times New Roman"/>
              </a:rPr>
              <a:t>Triết học</a:t>
            </a:r>
          </a:p>
        </p:txBody>
      </p:sp>
      <p:sp>
        <p:nvSpPr>
          <p:cNvPr id="11" name="Hình chữ nhật 10">
            <a:extLst>
              <a:ext uri="{FF2B5EF4-FFF2-40B4-BE49-F238E27FC236}">
                <a16:creationId xmlns:a16="http://schemas.microsoft.com/office/drawing/2014/main" id="{9CFF7F0A-383B-467C-845B-704357BCA608}"/>
              </a:ext>
            </a:extLst>
          </p:cNvPr>
          <p:cNvSpPr>
            <a:spLocks noGrp="1"/>
          </p:cNvSpPr>
          <p:nvPr/>
        </p:nvSpPr>
        <p:spPr>
          <a:xfrm>
            <a:off x="6953250" y="3067050"/>
            <a:ext cx="3714750" cy="1219200"/>
          </a:xfrm>
          <a:prstGeom prst="rect">
            <a:avLst/>
          </a:prstGeom>
          <a:noFill/>
          <a:ln w="0">
            <a:noFill/>
          </a:ln>
        </p:spPr>
        <p:txBody>
          <a:bodyPr anchor="t"/>
          <a:lstStyle/>
          <a:p>
            <a:pPr algn="ctr">
              <a:buNone/>
              <a:defRPr sz="1725"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Là hạt nhân lý luận của thế giới quan, giúp con người định hướng nhận thức và hành động bằng lý luận.</a:t>
            </a:r>
          </a:p>
        </p:txBody>
      </p:sp>
      <p:sp>
        <p:nvSpPr>
          <p:cNvPr id="12" name="Hình chữ nhật 11">
            <a:extLst>
              <a:ext uri="{FF2B5EF4-FFF2-40B4-BE49-F238E27FC236}">
                <a16:creationId xmlns:a16="http://schemas.microsoft.com/office/drawing/2014/main" id="{9E7F06F4-1CB5-4039-85BF-44DB738BB179}"/>
              </a:ext>
            </a:extLst>
          </p:cNvPr>
          <p:cNvSpPr>
            <a:spLocks noGrp="1"/>
          </p:cNvSpPr>
          <p:nvPr/>
        </p:nvSpPr>
        <p:spPr>
          <a:xfrm>
            <a:off x="1143000" y="5524500"/>
            <a:ext cx="9525000" cy="342900"/>
          </a:xfrm>
          <a:prstGeom prst="rect">
            <a:avLst/>
          </a:prstGeom>
          <a:noFill/>
          <a:ln w="0">
            <a:noFill/>
          </a:ln>
        </p:spPr>
        <p:txBody>
          <a:bodyPr anchor="t">
            <a:noAutofit/>
          </a:bodyPr>
          <a:lstStyle/>
          <a:p>
            <a:pPr algn="ctr">
              <a:buNone/>
              <a:defRPr sz="172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Thế giới quan trả lời: thế giới là gì, con người ở đâu và nên hành động như thế nào?</a:t>
            </a:r>
          </a:p>
        </p:txBody>
      </p:sp>
    </p:spTree>
    <p:extLst>
      <p:ext uri="{BB962C8B-B14F-4D97-AF65-F5344CB8AC3E}">
        <p14:creationId xmlns:p14="http://schemas.microsoft.com/office/powerpoint/2010/main" val="526691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9" name="Hình chữ nhật 8">
            <a:extLst>
              <a:ext uri="{FF2B5EF4-FFF2-40B4-BE49-F238E27FC236}">
                <a16:creationId xmlns:a16="http://schemas.microsoft.com/office/drawing/2014/main" id="{588999FB-734F-4522-B764-CF637EBD32B8}"/>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1.1. KHÁI LƯỢC VỀ TRIẾT HỌC</a:t>
            </a:r>
          </a:p>
        </p:txBody>
      </p:sp>
      <p:sp>
        <p:nvSpPr>
          <p:cNvPr id="2" name="Hình chữ nhật 1">
            <a:extLst>
              <a:ext uri="{FF2B5EF4-FFF2-40B4-BE49-F238E27FC236}">
                <a16:creationId xmlns:a16="http://schemas.microsoft.com/office/drawing/2014/main" id="{001631DE-183B-479C-A892-998BA23AE239}"/>
              </a:ext>
            </a:extLst>
          </p:cNvPr>
          <p:cNvSpPr>
            <a:spLocks noGrp="1"/>
          </p:cNvSpPr>
          <p:nvPr/>
        </p:nvSpPr>
        <p:spPr>
          <a:xfrm>
            <a:off x="685800" y="809624"/>
            <a:ext cx="10001250" cy="523876"/>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Triết học là hạt nhân lý luận của thế giới quan</a:t>
            </a:r>
          </a:p>
        </p:txBody>
      </p:sp>
      <p:sp>
        <p:nvSpPr>
          <p:cNvPr id="3" name="Hình chữ nhật 2">
            <a:extLst>
              <a:ext uri="{FF2B5EF4-FFF2-40B4-BE49-F238E27FC236}">
                <a16:creationId xmlns:a16="http://schemas.microsoft.com/office/drawing/2014/main" id="{6E303995-3698-4214-9961-12E90B7ED687}"/>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899F29B1-5FCF-45E8-8F1C-39CB412B09F0}"/>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29-32</a:t>
            </a:r>
          </a:p>
        </p:txBody>
      </p:sp>
      <p:sp>
        <p:nvSpPr>
          <p:cNvPr id="5" name="Hình chữ nhật 4">
            <a:extLst>
              <a:ext uri="{FF2B5EF4-FFF2-40B4-BE49-F238E27FC236}">
                <a16:creationId xmlns:a16="http://schemas.microsoft.com/office/drawing/2014/main" id="{32FD7484-1981-49F2-BEA2-A7DBEEA4D685}"/>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09</a:t>
            </a:r>
          </a:p>
        </p:txBody>
      </p:sp>
      <p:pic>
        <p:nvPicPr>
          <p:cNvPr id="16" name="Hình ảnh 15"/>
          <p:cNvPicPr>
            <a:picLocks noChangeAspect="1"/>
          </p:cNvPicPr>
          <p:nvPr/>
        </p:nvPicPr>
        <p:blipFill>
          <a:blip r:embed="rId3"/>
          <a:srcRect l="19046" r="19046"/>
          <a:stretch>
            <a:fillRect/>
          </a:stretch>
        </p:blipFill>
        <p:spPr>
          <a:xfrm>
            <a:off x="6781801" y="1400175"/>
            <a:ext cx="4900126" cy="4648201"/>
          </a:xfrm>
          <a:prstGeom prst="roundRect">
            <a:avLst>
              <a:gd name="adj" fmla="val 4000"/>
            </a:avLst>
          </a:prstGeom>
        </p:spPr>
      </p:pic>
      <p:sp>
        <p:nvSpPr>
          <p:cNvPr id="7" name="Hình chữ nhật 6">
            <a:extLst>
              <a:ext uri="{FF2B5EF4-FFF2-40B4-BE49-F238E27FC236}">
                <a16:creationId xmlns:a16="http://schemas.microsoft.com/office/drawing/2014/main" id="{1387A616-FD83-4144-A7EB-B1BB7AD0FCC2}"/>
              </a:ext>
            </a:extLst>
          </p:cNvPr>
          <p:cNvSpPr>
            <a:spLocks noGrp="1"/>
          </p:cNvSpPr>
          <p:nvPr/>
        </p:nvSpPr>
        <p:spPr>
          <a:xfrm>
            <a:off x="685800" y="2038350"/>
            <a:ext cx="5715000" cy="2857500"/>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Triết học là thế giới quan ở trình độ lý luận và tính khái quát cao.</a:t>
            </a:r>
          </a:p>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Thế giới quan triết học định hướng cách con người nhìn nhận thế giới, bản thân và các mối quan hệ xã hội.</a:t>
            </a:r>
          </a:p>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Thế giới quan duy vật biện chứng đòi hỏi xem xét sự vật trong mối liên hệ, vận động và phát triển.</a:t>
            </a:r>
          </a:p>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  Nó bao gồm tri thức khoa học, niềm tin khoa học và lý tưởng cách mạng.</a:t>
            </a:r>
          </a:p>
        </p:txBody>
      </p:sp>
      <p:sp>
        <p:nvSpPr>
          <p:cNvPr id="8" name="Hình chữ nhật 7">
            <a:extLst>
              <a:ext uri="{FF2B5EF4-FFF2-40B4-BE49-F238E27FC236}">
                <a16:creationId xmlns:a16="http://schemas.microsoft.com/office/drawing/2014/main" id="{8A8CF483-4857-4A7B-BE1F-397DA43CC30D}"/>
              </a:ext>
            </a:extLst>
          </p:cNvPr>
          <p:cNvSpPr>
            <a:spLocks noGrp="1"/>
          </p:cNvSpPr>
          <p:nvPr/>
        </p:nvSpPr>
        <p:spPr>
          <a:xfrm>
            <a:off x="685800" y="5334000"/>
            <a:ext cx="5715000" cy="523875"/>
          </a:xfrm>
          <a:prstGeom prst="rect">
            <a:avLst/>
          </a:prstGeom>
          <a:noFill/>
          <a:ln w="0">
            <a:noFill/>
          </a:ln>
        </p:spPr>
        <p:txBody>
          <a:bodyPr anchor="t"/>
          <a:lstStyle/>
          <a:p>
            <a:pPr algn="l">
              <a:buNone/>
              <a:defRPr sz="1350" b="0" i="1">
                <a:solidFill>
                  <a:srgbClr val="C65B4B"/>
                </a:solidFill>
                <a:latin typeface="Times New Roman"/>
                <a:ea typeface="Times New Roman"/>
                <a:cs typeface="Times New Roman"/>
              </a:defRPr>
            </a:pPr>
            <a:r>
              <a:rPr sz="1400" b="0" i="1">
                <a:solidFill>
                  <a:srgbClr val="C65B4B"/>
                </a:solidFill>
                <a:latin typeface="Times New Roman"/>
                <a:ea typeface="Times New Roman"/>
                <a:cs typeface="Times New Roman"/>
              </a:rPr>
              <a:t>Câu hỏi gợi mở: Khi giải quyết một vấn đề, thế giới quan nào đang định hướng suy nghĩ của chúng ta?</a:t>
            </a:r>
          </a:p>
        </p:txBody>
      </p:sp>
    </p:spTree>
    <p:extLst>
      <p:ext uri="{BB962C8B-B14F-4D97-AF65-F5344CB8AC3E}">
        <p14:creationId xmlns:p14="http://schemas.microsoft.com/office/powerpoint/2010/main" val="1848830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0" name="Hình chữ nhật 9">
            <a:extLst>
              <a:ext uri="{FF2B5EF4-FFF2-40B4-BE49-F238E27FC236}">
                <a16:creationId xmlns:a16="http://schemas.microsoft.com/office/drawing/2014/main" id="{1EF84F49-6A93-40F5-9C69-B60AF063CA4F}"/>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1.2. VẤN ĐỀ CƠ BẢN CỦA TRIẾT HỌC</a:t>
            </a:r>
          </a:p>
        </p:txBody>
      </p:sp>
      <p:sp>
        <p:nvSpPr>
          <p:cNvPr id="2" name="Hình chữ nhật 1">
            <a:extLst>
              <a:ext uri="{FF2B5EF4-FFF2-40B4-BE49-F238E27FC236}">
                <a16:creationId xmlns:a16="http://schemas.microsoft.com/office/drawing/2014/main" id="{65D9712F-7647-4BB0-9F60-5E18BF335350}"/>
              </a:ext>
            </a:extLst>
          </p:cNvPr>
          <p:cNvSpPr>
            <a:spLocks noGrp="1"/>
          </p:cNvSpPr>
          <p:nvPr/>
        </p:nvSpPr>
        <p:spPr>
          <a:xfrm>
            <a:off x="685800" y="790574"/>
            <a:ext cx="10001250" cy="542925"/>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Vấn đề cơ bản của triết học</a:t>
            </a:r>
          </a:p>
        </p:txBody>
      </p:sp>
      <p:sp>
        <p:nvSpPr>
          <p:cNvPr id="3" name="Hình chữ nhật 2">
            <a:extLst>
              <a:ext uri="{FF2B5EF4-FFF2-40B4-BE49-F238E27FC236}">
                <a16:creationId xmlns:a16="http://schemas.microsoft.com/office/drawing/2014/main" id="{F6AC7911-C361-4514-B76A-CD261E9B547E}"/>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5CBACBEE-7D40-4E48-9189-89F84D6DA26B}"/>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33-35</a:t>
            </a:r>
          </a:p>
        </p:txBody>
      </p:sp>
      <p:sp>
        <p:nvSpPr>
          <p:cNvPr id="5" name="Hình chữ nhật 4">
            <a:extLst>
              <a:ext uri="{FF2B5EF4-FFF2-40B4-BE49-F238E27FC236}">
                <a16:creationId xmlns:a16="http://schemas.microsoft.com/office/drawing/2014/main" id="{ACF73A6C-119B-4DC5-93AB-4FBE854F12C5}"/>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10</a:t>
            </a:r>
          </a:p>
        </p:txBody>
      </p:sp>
      <p:sp>
        <p:nvSpPr>
          <p:cNvPr id="6" name="Hình chữ nhật: Góc Tròn 5">
            <a:extLst>
              <a:ext uri="{FF2B5EF4-FFF2-40B4-BE49-F238E27FC236}">
                <a16:creationId xmlns:a16="http://schemas.microsoft.com/office/drawing/2014/main" id="{99B14534-037D-4B34-8500-3FB68FF84B9F}"/>
              </a:ext>
            </a:extLst>
          </p:cNvPr>
          <p:cNvSpPr>
            <a:spLocks noGrp="1"/>
          </p:cNvSpPr>
          <p:nvPr/>
        </p:nvSpPr>
        <p:spPr>
          <a:xfrm>
            <a:off x="685800" y="1952625"/>
            <a:ext cx="10363200" cy="1123950"/>
          </a:xfrm>
          <a:prstGeom prst="roundRect">
            <a:avLst>
              <a:gd name="adj" fmla="val 6780"/>
            </a:avLst>
          </a:prstGeom>
          <a:solidFill>
            <a:srgbClr val="142B43"/>
          </a:solidFill>
          <a:ln w="0">
            <a:solidFill>
              <a:srgbClr val="142B43"/>
            </a:solidFill>
          </a:ln>
        </p:spPr>
        <p:txBody>
          <a:bodyPr/>
          <a:lstStyle/>
          <a:p>
            <a:endParaRPr/>
          </a:p>
        </p:txBody>
      </p:sp>
      <p:sp>
        <p:nvSpPr>
          <p:cNvPr id="7" name="Hình chữ nhật 6">
            <a:extLst>
              <a:ext uri="{FF2B5EF4-FFF2-40B4-BE49-F238E27FC236}">
                <a16:creationId xmlns:a16="http://schemas.microsoft.com/office/drawing/2014/main" id="{FAB8B422-E91B-4AA0-BC4A-E856BAD4D447}"/>
              </a:ext>
            </a:extLst>
          </p:cNvPr>
          <p:cNvSpPr>
            <a:spLocks noGrp="1"/>
          </p:cNvSpPr>
          <p:nvPr/>
        </p:nvSpPr>
        <p:spPr>
          <a:xfrm>
            <a:off x="1066800" y="2062065"/>
            <a:ext cx="9601200" cy="814485"/>
          </a:xfrm>
          <a:prstGeom prst="rect">
            <a:avLst/>
          </a:prstGeom>
          <a:noFill/>
          <a:ln w="0">
            <a:noFill/>
          </a:ln>
        </p:spPr>
        <p:txBody>
          <a:bodyPr anchor="t"/>
          <a:lstStyle/>
          <a:p>
            <a:pPr algn="ctr">
              <a:buNone/>
              <a:defRPr sz="2175" b="1" i="0">
                <a:solidFill>
                  <a:srgbClr val="FFFFFF"/>
                </a:solidFill>
                <a:latin typeface="Times New Roman"/>
                <a:ea typeface="Times New Roman"/>
                <a:cs typeface="Times New Roman"/>
              </a:defRPr>
            </a:pPr>
            <a:r>
              <a:rPr sz="2400" b="1" i="0">
                <a:solidFill>
                  <a:srgbClr val="FFFFFF"/>
                </a:solidFill>
                <a:latin typeface="Times New Roman"/>
                <a:ea typeface="Times New Roman"/>
                <a:cs typeface="Times New Roman"/>
              </a:rPr>
              <a:t>Mối quan hệ giữa vật chất và ý thức</a:t>
            </a:r>
          </a:p>
          <a:p>
            <a:pPr algn="ctr">
              <a:buNone/>
              <a:defRPr sz="2175" b="1" i="0">
                <a:solidFill>
                  <a:srgbClr val="FFFFFF"/>
                </a:solidFill>
                <a:latin typeface="Times New Roman"/>
                <a:ea typeface="Times New Roman"/>
                <a:cs typeface="Times New Roman"/>
              </a:defRPr>
            </a:pPr>
            <a:r>
              <a:rPr sz="2400" b="1" i="0">
                <a:solidFill>
                  <a:srgbClr val="FFFFFF"/>
                </a:solidFill>
                <a:latin typeface="Times New Roman"/>
                <a:ea typeface="Times New Roman"/>
                <a:cs typeface="Times New Roman"/>
              </a:rPr>
              <a:t>Giữa tư duy và tồn tại</a:t>
            </a:r>
          </a:p>
        </p:txBody>
      </p:sp>
      <p:sp>
        <p:nvSpPr>
          <p:cNvPr id="8" name="Hình chữ nhật 7">
            <a:extLst>
              <a:ext uri="{FF2B5EF4-FFF2-40B4-BE49-F238E27FC236}">
                <a16:creationId xmlns:a16="http://schemas.microsoft.com/office/drawing/2014/main" id="{D9C319A1-53F2-49D6-96E9-B71F0A946E2A}"/>
              </a:ext>
            </a:extLst>
          </p:cNvPr>
          <p:cNvSpPr>
            <a:spLocks noGrp="1"/>
          </p:cNvSpPr>
          <p:nvPr/>
        </p:nvSpPr>
        <p:spPr>
          <a:xfrm>
            <a:off x="1219200" y="3543300"/>
            <a:ext cx="9715500" cy="419100"/>
          </a:xfrm>
          <a:prstGeom prst="rect">
            <a:avLst/>
          </a:prstGeom>
          <a:noFill/>
          <a:ln w="0">
            <a:noFill/>
          </a:ln>
        </p:spPr>
        <p:txBody>
          <a:bodyPr anchor="t">
            <a:noAutofit/>
          </a:bodyPr>
          <a:lstStyle/>
          <a:p>
            <a:pPr algn="ctr">
              <a:buNone/>
              <a:defRPr sz="1800"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Đây là vấn đề nền tảng và điểm xuất phát để giải quyết những vấn đề còn lại của triết học.</a:t>
            </a:r>
          </a:p>
        </p:txBody>
      </p:sp>
      <p:sp>
        <p:nvSpPr>
          <p:cNvPr id="9" name="Hình chữ nhật 8">
            <a:extLst>
              <a:ext uri="{FF2B5EF4-FFF2-40B4-BE49-F238E27FC236}">
                <a16:creationId xmlns:a16="http://schemas.microsoft.com/office/drawing/2014/main" id="{F01363DE-BABD-44D4-992C-C778860E6200}"/>
              </a:ext>
            </a:extLst>
          </p:cNvPr>
          <p:cNvSpPr>
            <a:spLocks noGrp="1"/>
          </p:cNvSpPr>
          <p:nvPr/>
        </p:nvSpPr>
        <p:spPr>
          <a:xfrm>
            <a:off x="1676400" y="4476750"/>
            <a:ext cx="8839200" cy="800100"/>
          </a:xfrm>
          <a:prstGeom prst="rect">
            <a:avLst/>
          </a:prstGeom>
          <a:noFill/>
          <a:ln w="0">
            <a:noFill/>
          </a:ln>
        </p:spPr>
        <p:txBody>
          <a:bodyPr anchor="t"/>
          <a:lstStyle/>
          <a:p>
            <a:pPr algn="ctr">
              <a:buNone/>
              <a:defRPr sz="1800" b="0" i="1">
                <a:solidFill>
                  <a:srgbClr val="1D2A35"/>
                </a:solidFill>
                <a:latin typeface="Times New Roman"/>
                <a:ea typeface="Times New Roman"/>
                <a:cs typeface="Times New Roman"/>
              </a:defRPr>
            </a:pPr>
            <a:r>
              <a:rPr sz="2400" b="0" i="1">
                <a:solidFill>
                  <a:srgbClr val="1D2A35"/>
                </a:solidFill>
                <a:latin typeface="Times New Roman"/>
                <a:ea typeface="Times New Roman"/>
                <a:cs typeface="Times New Roman"/>
              </a:rPr>
              <a:t>Ph. Ăngghen: “Vấn đề cơ bản lớn của mọi triết học, đặc biệt là triết học hiện đại, là vấn đề quan hệ giữa tư duy với tồn tại.”</a:t>
            </a:r>
          </a:p>
        </p:txBody>
      </p:sp>
      <p:sp>
        <p:nvSpPr>
          <p:cNvPr id="11" name="Ví dụ minh họa">
            <a:extLst>
              <a:ext uri="{FF2B5EF4-FFF2-40B4-BE49-F238E27FC236}">
                <a16:creationId xmlns:a16="http://schemas.microsoft.com/office/drawing/2014/main" id="{F356DFF7-E0CB-4535-84DE-BFA7BA660A90}"/>
              </a:ext>
            </a:extLst>
          </p:cNvPr>
          <p:cNvSpPr>
            <a:spLocks noGrp="1"/>
          </p:cNvSpPr>
          <p:nvPr/>
        </p:nvSpPr>
        <p:spPr>
          <a:xfrm>
            <a:off x="685800" y="5600700"/>
            <a:ext cx="10363200" cy="552450"/>
          </a:xfrm>
          <a:prstGeom prst="roundRect">
            <a:avLst>
              <a:gd name="adj" fmla="val 20690"/>
            </a:avLst>
          </a:prstGeom>
          <a:solidFill>
            <a:srgbClr val="FFF4D8"/>
          </a:solidFill>
          <a:ln w="0">
            <a:noFill/>
          </a:ln>
        </p:spPr>
        <p:txBody>
          <a:bodyPr lIns="190500" tIns="76200" rIns="190500" bIns="76200" anchor="ctr">
            <a:normAutofit fontScale="98264"/>
          </a:bodyPr>
          <a:lstStyle/>
          <a:p>
            <a:pPr algn="l">
              <a:defRPr sz="1350" b="0">
                <a:solidFill>
                  <a:srgbClr val="A94D3E"/>
                </a:solidFill>
                <a:latin typeface="Times New Roman"/>
                <a:ea typeface="Times New Roman"/>
                <a:cs typeface="Times New Roman"/>
              </a:defRPr>
            </a:pPr>
            <a:r>
              <a:rPr sz="1350" b="0">
                <a:solidFill>
                  <a:srgbClr val="A94D3E"/>
                </a:solidFill>
                <a:latin typeface="Times New Roman"/>
                <a:ea typeface="Times New Roman"/>
                <a:cs typeface="Times New Roman"/>
              </a:rPr>
              <a:t>Ví dụ: Khi điện thoại bị hết pin, điều kiện vật chất ảnh hưởng trực tiếp đến việc sử dụng các ứng dụng và suy nghĩ của người dùng.</a:t>
            </a:r>
          </a:p>
        </p:txBody>
      </p:sp>
    </p:spTree>
    <p:extLst>
      <p:ext uri="{BB962C8B-B14F-4D97-AF65-F5344CB8AC3E}">
        <p14:creationId xmlns:p14="http://schemas.microsoft.com/office/powerpoint/2010/main" val="96883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5" name="Hình chữ nhật 14">
            <a:extLst>
              <a:ext uri="{FF2B5EF4-FFF2-40B4-BE49-F238E27FC236}">
                <a16:creationId xmlns:a16="http://schemas.microsoft.com/office/drawing/2014/main" id="{A4C86FB5-51FA-495F-B97D-87C02AD09BA0}"/>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1.2. VẤN ĐỀ CƠ BẢN CỦA TRIẾT HỌC</a:t>
            </a:r>
          </a:p>
        </p:txBody>
      </p:sp>
      <p:sp>
        <p:nvSpPr>
          <p:cNvPr id="2" name="Hình chữ nhật 1">
            <a:extLst>
              <a:ext uri="{FF2B5EF4-FFF2-40B4-BE49-F238E27FC236}">
                <a16:creationId xmlns:a16="http://schemas.microsoft.com/office/drawing/2014/main" id="{DBEFE36A-7617-4461-9254-46F2F913F3E5}"/>
              </a:ext>
            </a:extLst>
          </p:cNvPr>
          <p:cNvSpPr>
            <a:spLocks noGrp="1"/>
          </p:cNvSpPr>
          <p:nvPr/>
        </p:nvSpPr>
        <p:spPr>
          <a:xfrm>
            <a:off x="685800" y="727788"/>
            <a:ext cx="10001250" cy="605712"/>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Hai mặt của vấn đề cơ bản</a:t>
            </a:r>
          </a:p>
        </p:txBody>
      </p:sp>
      <p:sp>
        <p:nvSpPr>
          <p:cNvPr id="3" name="Hình chữ nhật 2">
            <a:extLst>
              <a:ext uri="{FF2B5EF4-FFF2-40B4-BE49-F238E27FC236}">
                <a16:creationId xmlns:a16="http://schemas.microsoft.com/office/drawing/2014/main" id="{FF59A7B4-B6FB-47C3-A6F1-9C83ED631B04}"/>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4C80ABB0-0A2D-4600-85A1-A2E91ECCED1F}"/>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34-35</a:t>
            </a:r>
          </a:p>
        </p:txBody>
      </p:sp>
      <p:sp>
        <p:nvSpPr>
          <p:cNvPr id="5" name="Hình chữ nhật 4">
            <a:extLst>
              <a:ext uri="{FF2B5EF4-FFF2-40B4-BE49-F238E27FC236}">
                <a16:creationId xmlns:a16="http://schemas.microsoft.com/office/drawing/2014/main" id="{02BF4C6A-5B08-4814-80D6-3434C9EB29FC}"/>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11</a:t>
            </a:r>
          </a:p>
        </p:txBody>
      </p:sp>
      <p:sp>
        <p:nvSpPr>
          <p:cNvPr id="6" name="Hình chữ nhật: Góc Tròn 5">
            <a:extLst>
              <a:ext uri="{FF2B5EF4-FFF2-40B4-BE49-F238E27FC236}">
                <a16:creationId xmlns:a16="http://schemas.microsoft.com/office/drawing/2014/main" id="{A289FF5E-5577-42E8-BF45-C8D124B02181}"/>
              </a:ext>
            </a:extLst>
          </p:cNvPr>
          <p:cNvSpPr>
            <a:spLocks noGrp="1"/>
          </p:cNvSpPr>
          <p:nvPr/>
        </p:nvSpPr>
        <p:spPr>
          <a:xfrm>
            <a:off x="685800" y="1952625"/>
            <a:ext cx="4914900" cy="2857500"/>
          </a:xfrm>
          <a:prstGeom prst="roundRect">
            <a:avLst>
              <a:gd name="adj" fmla="val 2667"/>
            </a:avLst>
          </a:prstGeom>
          <a:solidFill>
            <a:srgbClr val="EAF1F4"/>
          </a:solidFill>
          <a:ln w="0">
            <a:solidFill>
              <a:srgbClr val="EAF1F4"/>
            </a:solidFill>
          </a:ln>
        </p:spPr>
        <p:txBody>
          <a:bodyPr/>
          <a:lstStyle/>
          <a:p>
            <a:endParaRPr/>
          </a:p>
        </p:txBody>
      </p:sp>
      <p:sp>
        <p:nvSpPr>
          <p:cNvPr id="7" name="Hình chữ nhật: Góc Tròn 6">
            <a:extLst>
              <a:ext uri="{FF2B5EF4-FFF2-40B4-BE49-F238E27FC236}">
                <a16:creationId xmlns:a16="http://schemas.microsoft.com/office/drawing/2014/main" id="{9EDDFEC7-52A5-4147-8D46-DC43C16527AD}"/>
              </a:ext>
            </a:extLst>
          </p:cNvPr>
          <p:cNvSpPr>
            <a:spLocks noGrp="1"/>
          </p:cNvSpPr>
          <p:nvPr/>
        </p:nvSpPr>
        <p:spPr>
          <a:xfrm>
            <a:off x="1066799" y="2076451"/>
            <a:ext cx="2460171" cy="505799"/>
          </a:xfrm>
          <a:prstGeom prst="roundRect">
            <a:avLst>
              <a:gd name="adj" fmla="val 23529"/>
            </a:avLst>
          </a:prstGeom>
          <a:solidFill>
            <a:srgbClr val="3E8C86"/>
          </a:solidFill>
          <a:ln w="0">
            <a:solidFill>
              <a:srgbClr val="3E8C86"/>
            </a:solidFill>
          </a:ln>
        </p:spPr>
        <p:txBody>
          <a:bodyPr/>
          <a:lstStyle/>
          <a:p>
            <a:endParaRPr/>
          </a:p>
        </p:txBody>
      </p:sp>
      <p:sp>
        <p:nvSpPr>
          <p:cNvPr id="8" name="Hình chữ nhật 7">
            <a:extLst>
              <a:ext uri="{FF2B5EF4-FFF2-40B4-BE49-F238E27FC236}">
                <a16:creationId xmlns:a16="http://schemas.microsoft.com/office/drawing/2014/main" id="{535054E9-32FC-4915-A42E-37A9CBEB90BA}"/>
              </a:ext>
            </a:extLst>
          </p:cNvPr>
          <p:cNvSpPr>
            <a:spLocks noGrp="1"/>
          </p:cNvSpPr>
          <p:nvPr/>
        </p:nvSpPr>
        <p:spPr>
          <a:xfrm>
            <a:off x="1162050" y="2114550"/>
            <a:ext cx="2252954" cy="646728"/>
          </a:xfrm>
          <a:prstGeom prst="rect">
            <a:avLst/>
          </a:prstGeom>
          <a:noFill/>
          <a:ln w="0">
            <a:noFill/>
          </a:ln>
        </p:spPr>
        <p:txBody>
          <a:bodyPr anchor="t">
            <a:noAutofit/>
          </a:bodyPr>
          <a:lstStyle/>
          <a:p>
            <a:pPr algn="ctr">
              <a:buNone/>
              <a:defRPr sz="1050" b="1" i="0">
                <a:solidFill>
                  <a:srgbClr val="FFFFFF"/>
                </a:solidFill>
                <a:latin typeface="Times New Roman"/>
                <a:ea typeface="Times New Roman"/>
                <a:cs typeface="Times New Roman"/>
              </a:defRPr>
            </a:pPr>
            <a:r>
              <a:rPr sz="2000" b="1" i="0" dirty="0">
                <a:solidFill>
                  <a:srgbClr val="FFFFFF"/>
                </a:solidFill>
                <a:latin typeface="Times New Roman"/>
                <a:ea typeface="Times New Roman"/>
                <a:cs typeface="Times New Roman"/>
              </a:rPr>
              <a:t>MẶT THỨ NHẤT</a:t>
            </a:r>
          </a:p>
        </p:txBody>
      </p:sp>
      <p:sp>
        <p:nvSpPr>
          <p:cNvPr id="9" name="Hình chữ nhật 8">
            <a:extLst>
              <a:ext uri="{FF2B5EF4-FFF2-40B4-BE49-F238E27FC236}">
                <a16:creationId xmlns:a16="http://schemas.microsoft.com/office/drawing/2014/main" id="{3D2F5721-2A90-4DB8-8B61-F967A313569F}"/>
              </a:ext>
            </a:extLst>
          </p:cNvPr>
          <p:cNvSpPr>
            <a:spLocks noGrp="1"/>
          </p:cNvSpPr>
          <p:nvPr/>
        </p:nvSpPr>
        <p:spPr>
          <a:xfrm>
            <a:off x="1021896" y="3056552"/>
            <a:ext cx="4095750" cy="952500"/>
          </a:xfrm>
          <a:prstGeom prst="rect">
            <a:avLst/>
          </a:prstGeom>
          <a:noFill/>
          <a:ln w="0">
            <a:noFill/>
          </a:ln>
        </p:spPr>
        <p:txBody>
          <a:bodyPr anchor="t"/>
          <a:lstStyle/>
          <a:p>
            <a:pPr algn="ctr">
              <a:buNone/>
              <a:defRPr sz="2100" b="1" i="0">
                <a:solidFill>
                  <a:srgbClr val="142B43"/>
                </a:solidFill>
                <a:latin typeface="Times New Roman"/>
                <a:ea typeface="Times New Roman"/>
                <a:cs typeface="Times New Roman"/>
              </a:defRPr>
            </a:pPr>
            <a:r>
              <a:rPr sz="2400" b="1" i="0">
                <a:solidFill>
                  <a:srgbClr val="142B43"/>
                </a:solidFill>
                <a:latin typeface="Times New Roman"/>
                <a:ea typeface="Times New Roman"/>
                <a:cs typeface="Times New Roman"/>
              </a:rPr>
              <a:t>Vật chất hay ý thức có trước, cái nào quyết định cái nào?</a:t>
            </a:r>
          </a:p>
        </p:txBody>
      </p:sp>
      <p:sp>
        <p:nvSpPr>
          <p:cNvPr id="10" name="Hình chữ nhật: Góc Tròn 9">
            <a:extLst>
              <a:ext uri="{FF2B5EF4-FFF2-40B4-BE49-F238E27FC236}">
                <a16:creationId xmlns:a16="http://schemas.microsoft.com/office/drawing/2014/main" id="{D566AC0B-2D4C-4E5F-960A-61DEE156E9E4}"/>
              </a:ext>
            </a:extLst>
          </p:cNvPr>
          <p:cNvSpPr>
            <a:spLocks noGrp="1"/>
          </p:cNvSpPr>
          <p:nvPr/>
        </p:nvSpPr>
        <p:spPr>
          <a:xfrm>
            <a:off x="6591300" y="1952625"/>
            <a:ext cx="4457700" cy="2857500"/>
          </a:xfrm>
          <a:prstGeom prst="roundRect">
            <a:avLst>
              <a:gd name="adj" fmla="val 2667"/>
            </a:avLst>
          </a:prstGeom>
          <a:solidFill>
            <a:srgbClr val="F8EFD9"/>
          </a:solidFill>
          <a:ln w="0">
            <a:solidFill>
              <a:srgbClr val="F8EFD9"/>
            </a:solidFill>
          </a:ln>
        </p:spPr>
        <p:txBody>
          <a:bodyPr/>
          <a:lstStyle/>
          <a:p>
            <a:endParaRPr/>
          </a:p>
        </p:txBody>
      </p:sp>
      <p:sp>
        <p:nvSpPr>
          <p:cNvPr id="11" name="Hình chữ nhật: Góc Tròn 10">
            <a:extLst>
              <a:ext uri="{FF2B5EF4-FFF2-40B4-BE49-F238E27FC236}">
                <a16:creationId xmlns:a16="http://schemas.microsoft.com/office/drawing/2014/main" id="{1F8E6C44-E7BE-4CD0-B363-05BE557BB98F}"/>
              </a:ext>
            </a:extLst>
          </p:cNvPr>
          <p:cNvSpPr>
            <a:spLocks noGrp="1"/>
          </p:cNvSpPr>
          <p:nvPr/>
        </p:nvSpPr>
        <p:spPr>
          <a:xfrm>
            <a:off x="6972299" y="2076450"/>
            <a:ext cx="2143709" cy="457200"/>
          </a:xfrm>
          <a:prstGeom prst="roundRect">
            <a:avLst>
              <a:gd name="adj" fmla="val 23529"/>
            </a:avLst>
          </a:prstGeom>
          <a:solidFill>
            <a:srgbClr val="D6A756"/>
          </a:solidFill>
          <a:ln w="0">
            <a:solidFill>
              <a:srgbClr val="D6A756"/>
            </a:solidFill>
          </a:ln>
        </p:spPr>
        <p:txBody>
          <a:bodyPr/>
          <a:lstStyle/>
          <a:p>
            <a:endParaRPr/>
          </a:p>
        </p:txBody>
      </p:sp>
      <p:sp>
        <p:nvSpPr>
          <p:cNvPr id="12" name="Hình chữ nhật 11">
            <a:extLst>
              <a:ext uri="{FF2B5EF4-FFF2-40B4-BE49-F238E27FC236}">
                <a16:creationId xmlns:a16="http://schemas.microsoft.com/office/drawing/2014/main" id="{B73BCE48-1018-495B-BD17-381918637145}"/>
              </a:ext>
            </a:extLst>
          </p:cNvPr>
          <p:cNvSpPr>
            <a:spLocks noGrp="1"/>
          </p:cNvSpPr>
          <p:nvPr/>
        </p:nvSpPr>
        <p:spPr>
          <a:xfrm>
            <a:off x="7067549" y="2114550"/>
            <a:ext cx="2048459" cy="400050"/>
          </a:xfrm>
          <a:prstGeom prst="rect">
            <a:avLst/>
          </a:prstGeom>
          <a:noFill/>
          <a:ln w="0">
            <a:noFill/>
          </a:ln>
        </p:spPr>
        <p:txBody>
          <a:bodyPr anchor="t">
            <a:noAutofit/>
          </a:bodyPr>
          <a:lstStyle/>
          <a:p>
            <a:pPr algn="ctr">
              <a:buNone/>
              <a:defRPr sz="1050" b="1" i="0">
                <a:solidFill>
                  <a:srgbClr val="142B43"/>
                </a:solidFill>
                <a:latin typeface="Times New Roman"/>
                <a:ea typeface="Times New Roman"/>
                <a:cs typeface="Times New Roman"/>
              </a:defRPr>
            </a:pPr>
            <a:r>
              <a:rPr sz="2000" b="1" i="0" dirty="0">
                <a:solidFill>
                  <a:srgbClr val="142B43"/>
                </a:solidFill>
                <a:latin typeface="Times New Roman"/>
                <a:ea typeface="Times New Roman"/>
                <a:cs typeface="Times New Roman"/>
              </a:rPr>
              <a:t>MẶT THỨ HAI</a:t>
            </a:r>
          </a:p>
        </p:txBody>
      </p:sp>
      <p:sp>
        <p:nvSpPr>
          <p:cNvPr id="13" name="Hình chữ nhật 12">
            <a:extLst>
              <a:ext uri="{FF2B5EF4-FFF2-40B4-BE49-F238E27FC236}">
                <a16:creationId xmlns:a16="http://schemas.microsoft.com/office/drawing/2014/main" id="{4F92C387-2B5D-433E-95E4-A94B94F8B304}"/>
              </a:ext>
            </a:extLst>
          </p:cNvPr>
          <p:cNvSpPr>
            <a:spLocks noGrp="1"/>
          </p:cNvSpPr>
          <p:nvPr/>
        </p:nvSpPr>
        <p:spPr>
          <a:xfrm>
            <a:off x="6699380" y="2952750"/>
            <a:ext cx="4349620" cy="952500"/>
          </a:xfrm>
          <a:prstGeom prst="rect">
            <a:avLst/>
          </a:prstGeom>
          <a:noFill/>
          <a:ln w="0">
            <a:noFill/>
          </a:ln>
        </p:spPr>
        <p:txBody>
          <a:bodyPr anchor="t"/>
          <a:lstStyle/>
          <a:p>
            <a:pPr algn="ctr">
              <a:buNone/>
              <a:defRPr sz="2100" b="1" i="0">
                <a:solidFill>
                  <a:srgbClr val="142B43"/>
                </a:solidFill>
                <a:latin typeface="Times New Roman"/>
                <a:ea typeface="Times New Roman"/>
                <a:cs typeface="Times New Roman"/>
              </a:defRPr>
            </a:pPr>
            <a:r>
              <a:rPr sz="2400" b="1" i="0">
                <a:solidFill>
                  <a:srgbClr val="142B43"/>
                </a:solidFill>
                <a:latin typeface="Times New Roman"/>
                <a:ea typeface="Times New Roman"/>
                <a:cs typeface="Times New Roman"/>
              </a:rPr>
              <a:t>Con người có khả năng nhận thức được thế giới hay không?</a:t>
            </a:r>
          </a:p>
        </p:txBody>
      </p:sp>
      <p:sp>
        <p:nvSpPr>
          <p:cNvPr id="14" name="Hình chữ nhật 13">
            <a:extLst>
              <a:ext uri="{FF2B5EF4-FFF2-40B4-BE49-F238E27FC236}">
                <a16:creationId xmlns:a16="http://schemas.microsoft.com/office/drawing/2014/main" id="{C1CFBB4F-CD4F-49D7-8C7C-1033F5B9DF38}"/>
              </a:ext>
            </a:extLst>
          </p:cNvPr>
          <p:cNvSpPr>
            <a:spLocks noGrp="1"/>
          </p:cNvSpPr>
          <p:nvPr/>
        </p:nvSpPr>
        <p:spPr>
          <a:xfrm>
            <a:off x="1371599" y="5429250"/>
            <a:ext cx="10001249" cy="361950"/>
          </a:xfrm>
          <a:prstGeom prst="rect">
            <a:avLst/>
          </a:prstGeom>
          <a:noFill/>
          <a:ln w="0">
            <a:noFill/>
          </a:ln>
        </p:spPr>
        <p:txBody>
          <a:bodyPr anchor="t">
            <a:noAutofit/>
          </a:bodyPr>
          <a:lstStyle/>
          <a:p>
            <a:pPr algn="ctr">
              <a:buNone/>
              <a:defRPr sz="1725" b="1" i="0">
                <a:solidFill>
                  <a:srgbClr val="C65B4B"/>
                </a:solidFill>
                <a:latin typeface="Times New Roman"/>
                <a:ea typeface="Times New Roman"/>
                <a:cs typeface="Times New Roman"/>
              </a:defRPr>
            </a:pPr>
            <a:r>
              <a:rPr sz="2400" b="1" i="0" dirty="0" err="1">
                <a:solidFill>
                  <a:srgbClr val="C65B4B"/>
                </a:solidFill>
                <a:latin typeface="Times New Roman"/>
                <a:ea typeface="Times New Roman"/>
                <a:cs typeface="Times New Roman"/>
              </a:rPr>
              <a:t>Cách</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trả</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lời</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hai</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câu</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hỏi</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này</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xác</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định</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lập</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trường</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và</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trường</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phái</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triết</a:t>
            </a:r>
            <a:r>
              <a:rPr sz="2400" b="1" i="0" dirty="0">
                <a:solidFill>
                  <a:srgbClr val="C65B4B"/>
                </a:solidFill>
                <a:latin typeface="Times New Roman"/>
                <a:ea typeface="Times New Roman"/>
                <a:cs typeface="Times New Roman"/>
              </a:rPr>
              <a:t> </a:t>
            </a:r>
            <a:r>
              <a:rPr sz="2400" b="1" i="0" dirty="0" err="1">
                <a:solidFill>
                  <a:srgbClr val="C65B4B"/>
                </a:solidFill>
                <a:latin typeface="Times New Roman"/>
                <a:ea typeface="Times New Roman"/>
                <a:cs typeface="Times New Roman"/>
              </a:rPr>
              <a:t>học</a:t>
            </a:r>
            <a:r>
              <a:rPr sz="2400" b="1" i="0" dirty="0">
                <a:solidFill>
                  <a:srgbClr val="C65B4B"/>
                </a:solidFill>
                <a:latin typeface="Times New Roman"/>
                <a:ea typeface="Times New Roman"/>
                <a:cs typeface="Times New Roman"/>
              </a:rPr>
              <a:t>.</a:t>
            </a:r>
          </a:p>
        </p:txBody>
      </p:sp>
    </p:spTree>
    <p:extLst>
      <p:ext uri="{BB962C8B-B14F-4D97-AF65-F5344CB8AC3E}">
        <p14:creationId xmlns:p14="http://schemas.microsoft.com/office/powerpoint/2010/main" val="989629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1" name="Hình chữ nhật 10">
            <a:extLst>
              <a:ext uri="{FF2B5EF4-FFF2-40B4-BE49-F238E27FC236}">
                <a16:creationId xmlns:a16="http://schemas.microsoft.com/office/drawing/2014/main" id="{FBC8944F-CF35-4101-A444-BC137E3BF534}"/>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1.2. VẤN ĐỀ CƠ BẢN CỦA TRIẾT HỌC</a:t>
            </a:r>
          </a:p>
        </p:txBody>
      </p:sp>
      <p:sp>
        <p:nvSpPr>
          <p:cNvPr id="2" name="Hình chữ nhật 1">
            <a:extLst>
              <a:ext uri="{FF2B5EF4-FFF2-40B4-BE49-F238E27FC236}">
                <a16:creationId xmlns:a16="http://schemas.microsoft.com/office/drawing/2014/main" id="{364FB493-B6D2-462E-834D-ABA7D9E20358}"/>
              </a:ext>
            </a:extLst>
          </p:cNvPr>
          <p:cNvSpPr>
            <a:spLocks noGrp="1"/>
          </p:cNvSpPr>
          <p:nvPr/>
        </p:nvSpPr>
        <p:spPr>
          <a:xfrm>
            <a:off x="685800" y="781050"/>
            <a:ext cx="10001250" cy="55245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Duy vật và duy tâm</a:t>
            </a:r>
          </a:p>
        </p:txBody>
      </p:sp>
      <p:sp>
        <p:nvSpPr>
          <p:cNvPr id="3" name="Hình chữ nhật 2">
            <a:extLst>
              <a:ext uri="{FF2B5EF4-FFF2-40B4-BE49-F238E27FC236}">
                <a16:creationId xmlns:a16="http://schemas.microsoft.com/office/drawing/2014/main" id="{74EED06E-0A55-4C13-B9AA-387C2FD229D4}"/>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B31D1DED-A7D3-4895-AB8B-B092C08DAF39}"/>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35-38</a:t>
            </a:r>
          </a:p>
        </p:txBody>
      </p:sp>
      <p:sp>
        <p:nvSpPr>
          <p:cNvPr id="5" name="Hình chữ nhật 4">
            <a:extLst>
              <a:ext uri="{FF2B5EF4-FFF2-40B4-BE49-F238E27FC236}">
                <a16:creationId xmlns:a16="http://schemas.microsoft.com/office/drawing/2014/main" id="{18AB2499-131F-4049-A6B6-8334B06B45F1}"/>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12</a:t>
            </a:r>
          </a:p>
        </p:txBody>
      </p:sp>
      <p:pic>
        <p:nvPicPr>
          <p:cNvPr id="18" name="Hình ảnh 17"/>
          <p:cNvPicPr>
            <a:picLocks noChangeAspect="1"/>
          </p:cNvPicPr>
          <p:nvPr/>
        </p:nvPicPr>
        <p:blipFill>
          <a:blip r:embed="rId3"/>
          <a:srcRect t="23707" b="23707"/>
          <a:stretch>
            <a:fillRect/>
          </a:stretch>
        </p:blipFill>
        <p:spPr>
          <a:xfrm>
            <a:off x="685800" y="1809750"/>
            <a:ext cx="10363200" cy="3067050"/>
          </a:xfrm>
          <a:prstGeom prst="roundRect">
            <a:avLst>
              <a:gd name="adj" fmla="val 4969"/>
            </a:avLst>
          </a:prstGeom>
        </p:spPr>
      </p:pic>
      <p:sp>
        <p:nvSpPr>
          <p:cNvPr id="7" name="Hình chữ nhật 6">
            <a:extLst>
              <a:ext uri="{FF2B5EF4-FFF2-40B4-BE49-F238E27FC236}">
                <a16:creationId xmlns:a16="http://schemas.microsoft.com/office/drawing/2014/main" id="{E679FA8C-5638-47A1-BAE9-EE9C8C94381E}"/>
              </a:ext>
            </a:extLst>
          </p:cNvPr>
          <p:cNvSpPr>
            <a:spLocks noGrp="1"/>
          </p:cNvSpPr>
          <p:nvPr/>
        </p:nvSpPr>
        <p:spPr>
          <a:xfrm>
            <a:off x="685800" y="4876800"/>
            <a:ext cx="5181600" cy="1028700"/>
          </a:xfrm>
          <a:prstGeom prst="rect">
            <a:avLst/>
          </a:prstGeom>
          <a:solidFill>
            <a:srgbClr val="142B43"/>
          </a:solidFill>
          <a:ln w="0">
            <a:solidFill>
              <a:srgbClr val="142B43"/>
            </a:solidFill>
          </a:ln>
        </p:spPr>
        <p:txBody>
          <a:bodyPr/>
          <a:lstStyle/>
          <a:p>
            <a:endParaRPr/>
          </a:p>
        </p:txBody>
      </p:sp>
      <p:sp>
        <p:nvSpPr>
          <p:cNvPr id="8" name="Hình chữ nhật 7">
            <a:extLst>
              <a:ext uri="{FF2B5EF4-FFF2-40B4-BE49-F238E27FC236}">
                <a16:creationId xmlns:a16="http://schemas.microsoft.com/office/drawing/2014/main" id="{D56314E7-659D-4A0C-93E8-48C6247A9C9B}"/>
              </a:ext>
            </a:extLst>
          </p:cNvPr>
          <p:cNvSpPr>
            <a:spLocks noGrp="1"/>
          </p:cNvSpPr>
          <p:nvPr/>
        </p:nvSpPr>
        <p:spPr>
          <a:xfrm>
            <a:off x="952500" y="4943475"/>
            <a:ext cx="4648200" cy="733425"/>
          </a:xfrm>
          <a:prstGeom prst="rect">
            <a:avLst/>
          </a:prstGeom>
          <a:noFill/>
          <a:ln w="0">
            <a:noFill/>
          </a:ln>
        </p:spPr>
        <p:txBody>
          <a:bodyPr anchor="t"/>
          <a:lstStyle/>
          <a:p>
            <a:pPr algn="l">
              <a:buNone/>
              <a:defRPr sz="1575"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CHỦ NGHĨA DUY VẬT</a:t>
            </a:r>
          </a:p>
          <a:p>
            <a:pPr algn="l">
              <a:buNone/>
              <a:defRPr sz="1575"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Vật chất, giới tự nhiên có trước và quyết định ý thức.</a:t>
            </a:r>
          </a:p>
        </p:txBody>
      </p:sp>
      <p:sp>
        <p:nvSpPr>
          <p:cNvPr id="9" name="Hình chữ nhật 8">
            <a:extLst>
              <a:ext uri="{FF2B5EF4-FFF2-40B4-BE49-F238E27FC236}">
                <a16:creationId xmlns:a16="http://schemas.microsoft.com/office/drawing/2014/main" id="{4D18E88B-C824-4732-A8B7-159609500F6A}"/>
              </a:ext>
            </a:extLst>
          </p:cNvPr>
          <p:cNvSpPr>
            <a:spLocks noGrp="1"/>
          </p:cNvSpPr>
          <p:nvPr/>
        </p:nvSpPr>
        <p:spPr>
          <a:xfrm>
            <a:off x="5867400" y="4876800"/>
            <a:ext cx="5181600" cy="1028700"/>
          </a:xfrm>
          <a:prstGeom prst="rect">
            <a:avLst/>
          </a:prstGeom>
          <a:solidFill>
            <a:srgbClr val="C65B4B"/>
          </a:solidFill>
          <a:ln w="0">
            <a:solidFill>
              <a:srgbClr val="C65B4B"/>
            </a:solidFill>
          </a:ln>
        </p:spPr>
        <p:txBody>
          <a:bodyPr/>
          <a:lstStyle/>
          <a:p>
            <a:endParaRPr/>
          </a:p>
        </p:txBody>
      </p:sp>
      <p:sp>
        <p:nvSpPr>
          <p:cNvPr id="10" name="Hình chữ nhật 9">
            <a:extLst>
              <a:ext uri="{FF2B5EF4-FFF2-40B4-BE49-F238E27FC236}">
                <a16:creationId xmlns:a16="http://schemas.microsoft.com/office/drawing/2014/main" id="{621E4876-90F6-4F9E-96D8-0277DEBE5B8D}"/>
              </a:ext>
            </a:extLst>
          </p:cNvPr>
          <p:cNvSpPr>
            <a:spLocks noGrp="1"/>
          </p:cNvSpPr>
          <p:nvPr/>
        </p:nvSpPr>
        <p:spPr>
          <a:xfrm>
            <a:off x="6134100" y="4943475"/>
            <a:ext cx="4648200" cy="733425"/>
          </a:xfrm>
          <a:prstGeom prst="rect">
            <a:avLst/>
          </a:prstGeom>
          <a:noFill/>
          <a:ln w="0">
            <a:noFill/>
          </a:ln>
        </p:spPr>
        <p:txBody>
          <a:bodyPr anchor="t"/>
          <a:lstStyle/>
          <a:p>
            <a:pPr algn="l">
              <a:buNone/>
              <a:defRPr sz="1575"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CHỦ NGHĨA DUY TÂM</a:t>
            </a:r>
          </a:p>
          <a:p>
            <a:pPr algn="l">
              <a:buNone/>
              <a:defRPr sz="1575"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Ý thức, tinh thần có trước và quyết định giới tự nhiên.</a:t>
            </a:r>
          </a:p>
        </p:txBody>
      </p:sp>
    </p:spTree>
    <p:extLst>
      <p:ext uri="{BB962C8B-B14F-4D97-AF65-F5344CB8AC3E}">
        <p14:creationId xmlns:p14="http://schemas.microsoft.com/office/powerpoint/2010/main" val="1435077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8" name="Hình chữ nhật 17">
            <a:extLst>
              <a:ext uri="{FF2B5EF4-FFF2-40B4-BE49-F238E27FC236}">
                <a16:creationId xmlns:a16="http://schemas.microsoft.com/office/drawing/2014/main" id="{D7107585-696B-439D-AB9A-B62E8A29F4BC}"/>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1.2. VẤN ĐỀ CƠ BẢN CỦA TRIẾT HỌC</a:t>
            </a:r>
          </a:p>
        </p:txBody>
      </p:sp>
      <p:sp>
        <p:nvSpPr>
          <p:cNvPr id="2" name="Hình chữ nhật 1">
            <a:extLst>
              <a:ext uri="{FF2B5EF4-FFF2-40B4-BE49-F238E27FC236}">
                <a16:creationId xmlns:a16="http://schemas.microsoft.com/office/drawing/2014/main" id="{EB9DC24E-236A-43D9-B2F6-086D2EBE3EFE}"/>
              </a:ext>
            </a:extLst>
          </p:cNvPr>
          <p:cNvSpPr>
            <a:spLocks noGrp="1"/>
          </p:cNvSpPr>
          <p:nvPr/>
        </p:nvSpPr>
        <p:spPr>
          <a:xfrm>
            <a:off x="685800" y="762000"/>
            <a:ext cx="10001250" cy="57150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Ba hình thức cơ bản của chủ nghĩa duy vật</a:t>
            </a:r>
          </a:p>
        </p:txBody>
      </p:sp>
      <p:sp>
        <p:nvSpPr>
          <p:cNvPr id="3" name="Hình chữ nhật 2">
            <a:extLst>
              <a:ext uri="{FF2B5EF4-FFF2-40B4-BE49-F238E27FC236}">
                <a16:creationId xmlns:a16="http://schemas.microsoft.com/office/drawing/2014/main" id="{AFE504FD-EE27-4CCC-B002-DD5F843630EA}"/>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09DDFE09-039F-4516-9FAA-2C4C1090ACFA}"/>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35-37</a:t>
            </a:r>
          </a:p>
        </p:txBody>
      </p:sp>
      <p:sp>
        <p:nvSpPr>
          <p:cNvPr id="5" name="Hình chữ nhật 4">
            <a:extLst>
              <a:ext uri="{FF2B5EF4-FFF2-40B4-BE49-F238E27FC236}">
                <a16:creationId xmlns:a16="http://schemas.microsoft.com/office/drawing/2014/main" id="{29C7085B-6FE8-46B0-9210-72DB83B37903}"/>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13</a:t>
            </a:r>
          </a:p>
        </p:txBody>
      </p:sp>
      <p:sp>
        <p:nvSpPr>
          <p:cNvPr id="6" name="Hình chữ nhật: Góc Tròn 5">
            <a:extLst>
              <a:ext uri="{FF2B5EF4-FFF2-40B4-BE49-F238E27FC236}">
                <a16:creationId xmlns:a16="http://schemas.microsoft.com/office/drawing/2014/main" id="{DD04DFE4-8BAE-4FF3-A4C2-D7A1CFDA4C8B}"/>
              </a:ext>
            </a:extLst>
          </p:cNvPr>
          <p:cNvSpPr>
            <a:spLocks noGrp="1"/>
          </p:cNvSpPr>
          <p:nvPr/>
        </p:nvSpPr>
        <p:spPr>
          <a:xfrm>
            <a:off x="685800" y="2019300"/>
            <a:ext cx="2857500" cy="3028950"/>
          </a:xfrm>
          <a:prstGeom prst="roundRect">
            <a:avLst>
              <a:gd name="adj" fmla="val 2667"/>
            </a:avLst>
          </a:prstGeom>
          <a:solidFill>
            <a:srgbClr val="F8EFD9"/>
          </a:solidFill>
          <a:ln w="0">
            <a:solidFill>
              <a:srgbClr val="F8EFD9"/>
            </a:solidFill>
          </a:ln>
        </p:spPr>
        <p:txBody>
          <a:bodyPr/>
          <a:lstStyle/>
          <a:p>
            <a:endParaRPr/>
          </a:p>
        </p:txBody>
      </p:sp>
      <p:sp>
        <p:nvSpPr>
          <p:cNvPr id="7" name="Hình chữ nhật 6">
            <a:extLst>
              <a:ext uri="{FF2B5EF4-FFF2-40B4-BE49-F238E27FC236}">
                <a16:creationId xmlns:a16="http://schemas.microsoft.com/office/drawing/2014/main" id="{F6DD5BFC-F496-4EB5-A278-27CB8C760352}"/>
              </a:ext>
            </a:extLst>
          </p:cNvPr>
          <p:cNvSpPr>
            <a:spLocks noGrp="1"/>
          </p:cNvSpPr>
          <p:nvPr/>
        </p:nvSpPr>
        <p:spPr>
          <a:xfrm>
            <a:off x="876300" y="2181224"/>
            <a:ext cx="2667000" cy="752475"/>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400" b="1" i="0" dirty="0" err="1">
                <a:solidFill>
                  <a:srgbClr val="142B43"/>
                </a:solidFill>
                <a:latin typeface="Times New Roman"/>
                <a:ea typeface="Times New Roman"/>
                <a:cs typeface="Times New Roman"/>
              </a:rPr>
              <a:t>Duy</a:t>
            </a:r>
            <a:r>
              <a:rPr sz="2400" b="1" i="0" dirty="0">
                <a:solidFill>
                  <a:srgbClr val="142B43"/>
                </a:solidFill>
                <a:latin typeface="Times New Roman"/>
                <a:ea typeface="Times New Roman"/>
                <a:cs typeface="Times New Roman"/>
              </a:rPr>
              <a:t> </a:t>
            </a:r>
            <a:r>
              <a:rPr sz="2400" b="1" i="0" dirty="0" err="1">
                <a:solidFill>
                  <a:srgbClr val="142B43"/>
                </a:solidFill>
                <a:latin typeface="Times New Roman"/>
                <a:ea typeface="Times New Roman"/>
                <a:cs typeface="Times New Roman"/>
              </a:rPr>
              <a:t>vật</a:t>
            </a:r>
            <a:r>
              <a:rPr sz="2400" b="1" i="0" dirty="0">
                <a:solidFill>
                  <a:srgbClr val="142B43"/>
                </a:solidFill>
                <a:latin typeface="Times New Roman"/>
                <a:ea typeface="Times New Roman"/>
                <a:cs typeface="Times New Roman"/>
              </a:rPr>
              <a:t> </a:t>
            </a:r>
            <a:r>
              <a:rPr sz="2400" b="1" i="0" dirty="0" err="1">
                <a:solidFill>
                  <a:srgbClr val="142B43"/>
                </a:solidFill>
                <a:latin typeface="Times New Roman"/>
                <a:ea typeface="Times New Roman"/>
                <a:cs typeface="Times New Roman"/>
              </a:rPr>
              <a:t>chất</a:t>
            </a:r>
            <a:r>
              <a:rPr sz="2400" b="1" i="0" dirty="0">
                <a:solidFill>
                  <a:srgbClr val="142B43"/>
                </a:solidFill>
                <a:latin typeface="Times New Roman"/>
                <a:ea typeface="Times New Roman"/>
                <a:cs typeface="Times New Roman"/>
              </a:rPr>
              <a:t> </a:t>
            </a:r>
            <a:r>
              <a:rPr sz="2400" b="1" i="0" dirty="0" err="1">
                <a:solidFill>
                  <a:srgbClr val="142B43"/>
                </a:solidFill>
                <a:latin typeface="Times New Roman"/>
                <a:ea typeface="Times New Roman"/>
                <a:cs typeface="Times New Roman"/>
              </a:rPr>
              <a:t>phác</a:t>
            </a:r>
            <a:endParaRPr sz="2400" b="1" i="0" dirty="0">
              <a:solidFill>
                <a:srgbClr val="142B43"/>
              </a:solidFill>
              <a:latin typeface="Times New Roman"/>
              <a:ea typeface="Times New Roman"/>
              <a:cs typeface="Times New Roman"/>
            </a:endParaRPr>
          </a:p>
        </p:txBody>
      </p:sp>
      <p:sp>
        <p:nvSpPr>
          <p:cNvPr id="8" name="Hình chữ nhật 7">
            <a:extLst>
              <a:ext uri="{FF2B5EF4-FFF2-40B4-BE49-F238E27FC236}">
                <a16:creationId xmlns:a16="http://schemas.microsoft.com/office/drawing/2014/main" id="{6C72A2CA-0997-4E57-B90E-DBC9DDB6FBF2}"/>
              </a:ext>
            </a:extLst>
          </p:cNvPr>
          <p:cNvSpPr>
            <a:spLocks noGrp="1"/>
          </p:cNvSpPr>
          <p:nvPr/>
        </p:nvSpPr>
        <p:spPr>
          <a:xfrm>
            <a:off x="1200150" y="3105150"/>
            <a:ext cx="1828800" cy="47625"/>
          </a:xfrm>
          <a:prstGeom prst="rect">
            <a:avLst/>
          </a:prstGeom>
          <a:solidFill>
            <a:srgbClr val="D6A756"/>
          </a:solidFill>
          <a:ln w="0">
            <a:solidFill>
              <a:srgbClr val="D6A756"/>
            </a:solidFill>
          </a:ln>
        </p:spPr>
        <p:txBody>
          <a:bodyPr/>
          <a:lstStyle/>
          <a:p>
            <a:endParaRPr/>
          </a:p>
        </p:txBody>
      </p:sp>
      <p:sp>
        <p:nvSpPr>
          <p:cNvPr id="9" name="Hình chữ nhật 8">
            <a:extLst>
              <a:ext uri="{FF2B5EF4-FFF2-40B4-BE49-F238E27FC236}">
                <a16:creationId xmlns:a16="http://schemas.microsoft.com/office/drawing/2014/main" id="{209E3ECD-AC59-4592-8F68-726CBD032D19}"/>
              </a:ext>
            </a:extLst>
          </p:cNvPr>
          <p:cNvSpPr>
            <a:spLocks noGrp="1"/>
          </p:cNvSpPr>
          <p:nvPr/>
        </p:nvSpPr>
        <p:spPr>
          <a:xfrm>
            <a:off x="802433" y="3428998"/>
            <a:ext cx="2740867" cy="1200152"/>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2400" b="0" i="0" dirty="0" err="1">
                <a:solidFill>
                  <a:srgbClr val="1D2A35"/>
                </a:solidFill>
                <a:latin typeface="Times New Roman"/>
                <a:ea typeface="Times New Roman"/>
                <a:cs typeface="Times New Roman"/>
              </a:rPr>
              <a:t>Đồng</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nhất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vật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chất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với</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một</a:t>
            </a:r>
            <a:r>
              <a:rPr sz="2400" b="0" i="0" dirty="0">
                <a:solidFill>
                  <a:srgbClr val="1D2A35"/>
                </a:solidFill>
                <a:latin typeface="Times New Roman"/>
                <a:ea typeface="Times New Roman"/>
                <a:cs typeface="Times New Roman"/>
              </a:rPr>
              <a:t> hay </a:t>
            </a:r>
            <a:r>
              <a:rPr sz="2400" b="0" i="0" dirty="0" err="1">
                <a:solidFill>
                  <a:srgbClr val="1D2A35"/>
                </a:solidFill>
                <a:latin typeface="Times New Roman"/>
                <a:ea typeface="Times New Roman"/>
                <a:cs typeface="Times New Roman"/>
              </a:rPr>
              <a:t>một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số</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chất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cụ</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thể</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còn</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trực</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quan</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ngây</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thơ</a:t>
            </a:r>
            <a:r>
              <a:rPr sz="2400" b="0" i="0" dirty="0">
                <a:solidFill>
                  <a:srgbClr val="1D2A35"/>
                </a:solidFill>
                <a:latin typeface="Times New Roman"/>
                <a:ea typeface="Times New Roman"/>
                <a:cs typeface="Times New Roman"/>
              </a:rPr>
              <a:t>.</a:t>
            </a:r>
          </a:p>
        </p:txBody>
      </p:sp>
      <p:sp>
        <p:nvSpPr>
          <p:cNvPr id="10" name="Hình chữ nhật: Góc Tròn 9">
            <a:extLst>
              <a:ext uri="{FF2B5EF4-FFF2-40B4-BE49-F238E27FC236}">
                <a16:creationId xmlns:a16="http://schemas.microsoft.com/office/drawing/2014/main" id="{B0718CF6-6AE8-4FCE-B7F9-1F84F2FAB8B6}"/>
              </a:ext>
            </a:extLst>
          </p:cNvPr>
          <p:cNvSpPr>
            <a:spLocks noGrp="1"/>
          </p:cNvSpPr>
          <p:nvPr/>
        </p:nvSpPr>
        <p:spPr>
          <a:xfrm>
            <a:off x="4114800" y="2019300"/>
            <a:ext cx="2857500" cy="3028950"/>
          </a:xfrm>
          <a:prstGeom prst="roundRect">
            <a:avLst>
              <a:gd name="adj" fmla="val 2667"/>
            </a:avLst>
          </a:prstGeom>
          <a:solidFill>
            <a:srgbClr val="EAF1F4"/>
          </a:solidFill>
          <a:ln w="0">
            <a:solidFill>
              <a:srgbClr val="EAF1F4"/>
            </a:solidFill>
          </a:ln>
        </p:spPr>
        <p:txBody>
          <a:bodyPr/>
          <a:lstStyle/>
          <a:p>
            <a:endParaRPr/>
          </a:p>
        </p:txBody>
      </p:sp>
      <p:sp>
        <p:nvSpPr>
          <p:cNvPr id="11" name="Hình chữ nhật 10">
            <a:extLst>
              <a:ext uri="{FF2B5EF4-FFF2-40B4-BE49-F238E27FC236}">
                <a16:creationId xmlns:a16="http://schemas.microsoft.com/office/drawing/2014/main" id="{28537877-FCC4-46AA-8ACE-93895FB47801}"/>
              </a:ext>
            </a:extLst>
          </p:cNvPr>
          <p:cNvSpPr>
            <a:spLocks noGrp="1"/>
          </p:cNvSpPr>
          <p:nvPr/>
        </p:nvSpPr>
        <p:spPr>
          <a:xfrm>
            <a:off x="4305300" y="2181224"/>
            <a:ext cx="2476500" cy="752476"/>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400" b="1" i="0" dirty="0" err="1">
                <a:solidFill>
                  <a:srgbClr val="142B43"/>
                </a:solidFill>
                <a:latin typeface="Times New Roman"/>
                <a:ea typeface="Times New Roman"/>
                <a:cs typeface="Times New Roman"/>
              </a:rPr>
              <a:t>Duy</a:t>
            </a:r>
            <a:r>
              <a:rPr sz="2400" b="1" i="0" dirty="0">
                <a:solidFill>
                  <a:srgbClr val="142B43"/>
                </a:solidFill>
                <a:latin typeface="Times New Roman"/>
                <a:ea typeface="Times New Roman"/>
                <a:cs typeface="Times New Roman"/>
              </a:rPr>
              <a:t> </a:t>
            </a:r>
            <a:r>
              <a:rPr sz="2400" b="1" i="0" dirty="0" err="1">
                <a:solidFill>
                  <a:srgbClr val="142B43"/>
                </a:solidFill>
                <a:latin typeface="Times New Roman"/>
                <a:ea typeface="Times New Roman"/>
                <a:cs typeface="Times New Roman"/>
              </a:rPr>
              <a:t>vật</a:t>
            </a:r>
            <a:r>
              <a:rPr sz="2400" b="1" i="0" dirty="0">
                <a:solidFill>
                  <a:srgbClr val="142B43"/>
                </a:solidFill>
                <a:latin typeface="Times New Roman"/>
                <a:ea typeface="Times New Roman"/>
                <a:cs typeface="Times New Roman"/>
              </a:rPr>
              <a:t> </a:t>
            </a:r>
            <a:r>
              <a:rPr sz="2400" b="1" i="0" dirty="0" err="1">
                <a:solidFill>
                  <a:srgbClr val="142B43"/>
                </a:solidFill>
                <a:latin typeface="Times New Roman"/>
                <a:ea typeface="Times New Roman"/>
                <a:cs typeface="Times New Roman"/>
              </a:rPr>
              <a:t>siêu</a:t>
            </a:r>
            <a:r>
              <a:rPr sz="2400" b="1" i="0" dirty="0">
                <a:solidFill>
                  <a:srgbClr val="142B43"/>
                </a:solidFill>
                <a:latin typeface="Times New Roman"/>
                <a:ea typeface="Times New Roman"/>
                <a:cs typeface="Times New Roman"/>
              </a:rPr>
              <a:t> </a:t>
            </a:r>
            <a:r>
              <a:rPr sz="2400" b="1" i="0" dirty="0" err="1">
                <a:solidFill>
                  <a:srgbClr val="142B43"/>
                </a:solidFill>
                <a:latin typeface="Times New Roman"/>
                <a:ea typeface="Times New Roman"/>
                <a:cs typeface="Times New Roman"/>
              </a:rPr>
              <a:t>hình</a:t>
            </a:r>
            <a:endParaRPr sz="2400" b="1" i="0" dirty="0">
              <a:solidFill>
                <a:srgbClr val="142B43"/>
              </a:solidFill>
              <a:latin typeface="Times New Roman"/>
              <a:ea typeface="Times New Roman"/>
              <a:cs typeface="Times New Roman"/>
            </a:endParaRPr>
          </a:p>
        </p:txBody>
      </p:sp>
      <p:sp>
        <p:nvSpPr>
          <p:cNvPr id="12" name="Hình chữ nhật 11">
            <a:extLst>
              <a:ext uri="{FF2B5EF4-FFF2-40B4-BE49-F238E27FC236}">
                <a16:creationId xmlns:a16="http://schemas.microsoft.com/office/drawing/2014/main" id="{EE68A154-CAF8-4346-98D4-4F9D74DC9C34}"/>
              </a:ext>
            </a:extLst>
          </p:cNvPr>
          <p:cNvSpPr>
            <a:spLocks noGrp="1"/>
          </p:cNvSpPr>
          <p:nvPr/>
        </p:nvSpPr>
        <p:spPr>
          <a:xfrm>
            <a:off x="4629150" y="3105150"/>
            <a:ext cx="1828800" cy="47625"/>
          </a:xfrm>
          <a:prstGeom prst="rect">
            <a:avLst/>
          </a:prstGeom>
          <a:solidFill>
            <a:srgbClr val="3E8C86"/>
          </a:solidFill>
          <a:ln w="0">
            <a:solidFill>
              <a:srgbClr val="3E8C86"/>
            </a:solidFill>
          </a:ln>
        </p:spPr>
        <p:txBody>
          <a:bodyPr/>
          <a:lstStyle/>
          <a:p>
            <a:endParaRPr/>
          </a:p>
        </p:txBody>
      </p:sp>
      <p:sp>
        <p:nvSpPr>
          <p:cNvPr id="13" name="Hình chữ nhật 12">
            <a:extLst>
              <a:ext uri="{FF2B5EF4-FFF2-40B4-BE49-F238E27FC236}">
                <a16:creationId xmlns:a16="http://schemas.microsoft.com/office/drawing/2014/main" id="{FEF1537D-3B12-4B26-9304-FDECA0B4AB05}"/>
              </a:ext>
            </a:extLst>
          </p:cNvPr>
          <p:cNvSpPr>
            <a:spLocks noGrp="1"/>
          </p:cNvSpPr>
          <p:nvPr/>
        </p:nvSpPr>
        <p:spPr>
          <a:xfrm>
            <a:off x="4381500" y="3428998"/>
            <a:ext cx="2590800" cy="1200151"/>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2400" b="0" i="0" dirty="0" err="1">
                <a:solidFill>
                  <a:srgbClr val="1D2A35"/>
                </a:solidFill>
                <a:latin typeface="Times New Roman"/>
                <a:ea typeface="Times New Roman"/>
                <a:cs typeface="Times New Roman"/>
              </a:rPr>
              <a:t>Nhìn</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thế</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giới</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như</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một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cỗ</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máy</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các</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bộ</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phận</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tồn</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tại</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biệt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lập</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và</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đứng</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im</a:t>
            </a:r>
            <a:r>
              <a:rPr sz="2400" b="0" i="0" dirty="0">
                <a:solidFill>
                  <a:srgbClr val="1D2A35"/>
                </a:solidFill>
                <a:latin typeface="Times New Roman"/>
                <a:ea typeface="Times New Roman"/>
                <a:cs typeface="Times New Roman"/>
              </a:rPr>
              <a:t>.</a:t>
            </a:r>
          </a:p>
        </p:txBody>
      </p:sp>
      <p:sp>
        <p:nvSpPr>
          <p:cNvPr id="14" name="Hình chữ nhật: Góc Tròn 13">
            <a:extLst>
              <a:ext uri="{FF2B5EF4-FFF2-40B4-BE49-F238E27FC236}">
                <a16:creationId xmlns:a16="http://schemas.microsoft.com/office/drawing/2014/main" id="{D449940E-B033-452E-A955-29962B9E8CFD}"/>
              </a:ext>
            </a:extLst>
          </p:cNvPr>
          <p:cNvSpPr>
            <a:spLocks noGrp="1"/>
          </p:cNvSpPr>
          <p:nvPr/>
        </p:nvSpPr>
        <p:spPr>
          <a:xfrm>
            <a:off x="7543800" y="2019300"/>
            <a:ext cx="2857500" cy="3028950"/>
          </a:xfrm>
          <a:prstGeom prst="roundRect">
            <a:avLst>
              <a:gd name="adj" fmla="val 2667"/>
            </a:avLst>
          </a:prstGeom>
          <a:solidFill>
            <a:srgbClr val="F6E6E1"/>
          </a:solidFill>
          <a:ln w="0">
            <a:solidFill>
              <a:srgbClr val="F6E6E1"/>
            </a:solidFill>
          </a:ln>
        </p:spPr>
        <p:txBody>
          <a:bodyPr/>
          <a:lstStyle/>
          <a:p>
            <a:endParaRPr/>
          </a:p>
        </p:txBody>
      </p:sp>
      <p:sp>
        <p:nvSpPr>
          <p:cNvPr id="15" name="Hình chữ nhật 14">
            <a:extLst>
              <a:ext uri="{FF2B5EF4-FFF2-40B4-BE49-F238E27FC236}">
                <a16:creationId xmlns:a16="http://schemas.microsoft.com/office/drawing/2014/main" id="{DA3F896B-E036-4027-A0F0-68C694D93274}"/>
              </a:ext>
            </a:extLst>
          </p:cNvPr>
          <p:cNvSpPr>
            <a:spLocks noGrp="1"/>
          </p:cNvSpPr>
          <p:nvPr/>
        </p:nvSpPr>
        <p:spPr>
          <a:xfrm>
            <a:off x="7543800" y="2181224"/>
            <a:ext cx="2857500" cy="752476"/>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400" b="1" i="0" dirty="0" err="1">
                <a:solidFill>
                  <a:srgbClr val="142B43"/>
                </a:solidFill>
                <a:latin typeface="Times New Roman"/>
                <a:ea typeface="Times New Roman"/>
                <a:cs typeface="Times New Roman"/>
              </a:rPr>
              <a:t>Duy</a:t>
            </a:r>
            <a:r>
              <a:rPr sz="2400" b="1" i="0" dirty="0">
                <a:solidFill>
                  <a:srgbClr val="142B43"/>
                </a:solidFill>
                <a:latin typeface="Times New Roman"/>
                <a:ea typeface="Times New Roman"/>
                <a:cs typeface="Times New Roman"/>
              </a:rPr>
              <a:t> </a:t>
            </a:r>
            <a:r>
              <a:rPr sz="2400" b="1" i="0" dirty="0" err="1">
                <a:solidFill>
                  <a:srgbClr val="142B43"/>
                </a:solidFill>
                <a:latin typeface="Times New Roman"/>
                <a:ea typeface="Times New Roman"/>
                <a:cs typeface="Times New Roman"/>
              </a:rPr>
              <a:t>vật</a:t>
            </a:r>
            <a:r>
              <a:rPr sz="2400" b="1" i="0" dirty="0">
                <a:solidFill>
                  <a:srgbClr val="142B43"/>
                </a:solidFill>
                <a:latin typeface="Times New Roman"/>
                <a:ea typeface="Times New Roman"/>
                <a:cs typeface="Times New Roman"/>
              </a:rPr>
              <a:t> </a:t>
            </a:r>
            <a:r>
              <a:rPr sz="2400" b="1" i="0" dirty="0" err="1">
                <a:solidFill>
                  <a:srgbClr val="142B43"/>
                </a:solidFill>
                <a:latin typeface="Times New Roman"/>
                <a:ea typeface="Times New Roman"/>
                <a:cs typeface="Times New Roman"/>
              </a:rPr>
              <a:t>biện</a:t>
            </a:r>
            <a:r>
              <a:rPr sz="2400" b="1" i="0" dirty="0">
                <a:solidFill>
                  <a:srgbClr val="142B43"/>
                </a:solidFill>
                <a:latin typeface="Times New Roman"/>
                <a:ea typeface="Times New Roman"/>
                <a:cs typeface="Times New Roman"/>
              </a:rPr>
              <a:t> </a:t>
            </a:r>
            <a:r>
              <a:rPr sz="2400" b="1" i="0" dirty="0" err="1">
                <a:solidFill>
                  <a:srgbClr val="142B43"/>
                </a:solidFill>
                <a:latin typeface="Times New Roman"/>
                <a:ea typeface="Times New Roman"/>
                <a:cs typeface="Times New Roman"/>
              </a:rPr>
              <a:t>chứng</a:t>
            </a:r>
            <a:endParaRPr sz="2400" b="1" i="0" dirty="0">
              <a:solidFill>
                <a:srgbClr val="142B43"/>
              </a:solidFill>
              <a:latin typeface="Times New Roman"/>
              <a:ea typeface="Times New Roman"/>
              <a:cs typeface="Times New Roman"/>
            </a:endParaRPr>
          </a:p>
        </p:txBody>
      </p:sp>
      <p:sp>
        <p:nvSpPr>
          <p:cNvPr id="16" name="Hình chữ nhật 15">
            <a:extLst>
              <a:ext uri="{FF2B5EF4-FFF2-40B4-BE49-F238E27FC236}">
                <a16:creationId xmlns:a16="http://schemas.microsoft.com/office/drawing/2014/main" id="{2522988B-2663-49D7-8539-055AF7EDFCB5}"/>
              </a:ext>
            </a:extLst>
          </p:cNvPr>
          <p:cNvSpPr>
            <a:spLocks noGrp="1"/>
          </p:cNvSpPr>
          <p:nvPr/>
        </p:nvSpPr>
        <p:spPr>
          <a:xfrm>
            <a:off x="8058150" y="3105150"/>
            <a:ext cx="1828800" cy="47625"/>
          </a:xfrm>
          <a:prstGeom prst="rect">
            <a:avLst/>
          </a:prstGeom>
          <a:solidFill>
            <a:srgbClr val="C65B4B"/>
          </a:solidFill>
          <a:ln w="0">
            <a:solidFill>
              <a:srgbClr val="C65B4B"/>
            </a:solidFill>
          </a:ln>
        </p:spPr>
        <p:txBody>
          <a:bodyPr/>
          <a:lstStyle/>
          <a:p>
            <a:endParaRPr/>
          </a:p>
        </p:txBody>
      </p:sp>
      <p:sp>
        <p:nvSpPr>
          <p:cNvPr id="17" name="Hình chữ nhật 16">
            <a:extLst>
              <a:ext uri="{FF2B5EF4-FFF2-40B4-BE49-F238E27FC236}">
                <a16:creationId xmlns:a16="http://schemas.microsoft.com/office/drawing/2014/main" id="{A7709838-3955-4724-853B-304C57BCB536}"/>
              </a:ext>
            </a:extLst>
          </p:cNvPr>
          <p:cNvSpPr>
            <a:spLocks noGrp="1"/>
          </p:cNvSpPr>
          <p:nvPr/>
        </p:nvSpPr>
        <p:spPr>
          <a:xfrm>
            <a:off x="7669763" y="3428999"/>
            <a:ext cx="2731537" cy="1200151"/>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2400" b="0" i="0" dirty="0">
                <a:solidFill>
                  <a:srgbClr val="1D2A35"/>
                </a:solidFill>
                <a:latin typeface="Times New Roman"/>
                <a:ea typeface="Times New Roman"/>
                <a:cs typeface="Times New Roman"/>
              </a:rPr>
              <a:t>Do C. </a:t>
            </a:r>
            <a:r>
              <a:rPr sz="2400" b="0" i="0" dirty="0" err="1">
                <a:solidFill>
                  <a:srgbClr val="1D2A35"/>
                </a:solidFill>
                <a:latin typeface="Times New Roman"/>
                <a:ea typeface="Times New Roman"/>
                <a:cs typeface="Times New Roman"/>
              </a:rPr>
              <a:t>Mác</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và</a:t>
            </a:r>
            <a:r>
              <a:rPr sz="2400" b="0" i="0" dirty="0">
                <a:solidFill>
                  <a:srgbClr val="1D2A35"/>
                </a:solidFill>
                <a:latin typeface="Times New Roman"/>
                <a:ea typeface="Times New Roman"/>
                <a:cs typeface="Times New Roman"/>
              </a:rPr>
              <a:t> Ph. </a:t>
            </a:r>
            <a:r>
              <a:rPr sz="2400" b="0" i="0" dirty="0" err="1">
                <a:solidFill>
                  <a:srgbClr val="1D2A35"/>
                </a:solidFill>
                <a:latin typeface="Times New Roman"/>
                <a:ea typeface="Times New Roman"/>
                <a:cs typeface="Times New Roman"/>
              </a:rPr>
              <a:t>Ăngghen</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xây</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dựng</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sau</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đó</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được</a:t>
            </a:r>
            <a:r>
              <a:rPr sz="2400" b="0" i="0" dirty="0">
                <a:solidFill>
                  <a:srgbClr val="1D2A35"/>
                </a:solidFill>
                <a:latin typeface="Times New Roman"/>
                <a:ea typeface="Times New Roman"/>
                <a:cs typeface="Times New Roman"/>
              </a:rPr>
              <a:t> V.I. </a:t>
            </a:r>
            <a:r>
              <a:rPr sz="2400" b="0" i="0" dirty="0" err="1">
                <a:solidFill>
                  <a:srgbClr val="1D2A35"/>
                </a:solidFill>
                <a:latin typeface="Times New Roman"/>
                <a:ea typeface="Times New Roman"/>
                <a:cs typeface="Times New Roman"/>
              </a:rPr>
              <a:t>Lênin</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phát</a:t>
            </a:r>
            <a:r>
              <a:rPr sz="2400" b="0" i="0" dirty="0">
                <a:solidFill>
                  <a:srgbClr val="1D2A35"/>
                </a:solidFill>
                <a:latin typeface="Times New Roman"/>
                <a:ea typeface="Times New Roman"/>
                <a:cs typeface="Times New Roman"/>
              </a:rPr>
              <a:t> </a:t>
            </a:r>
            <a:r>
              <a:rPr sz="2400" b="0" i="0" dirty="0" err="1">
                <a:solidFill>
                  <a:srgbClr val="1D2A35"/>
                </a:solidFill>
                <a:latin typeface="Times New Roman"/>
                <a:ea typeface="Times New Roman"/>
                <a:cs typeface="Times New Roman"/>
              </a:rPr>
              <a:t>triển</a:t>
            </a:r>
            <a:r>
              <a:rPr sz="2400" b="0" i="0" dirty="0">
                <a:solidFill>
                  <a:srgbClr val="1D2A35"/>
                </a:solidFill>
                <a:latin typeface="Times New Roman"/>
                <a:ea typeface="Times New Roman"/>
                <a:cs typeface="Times New Roman"/>
              </a:rPr>
              <a:t>.</a:t>
            </a:r>
          </a:p>
        </p:txBody>
      </p:sp>
      <p:sp>
        <p:nvSpPr>
          <p:cNvPr id="19" name="Ví dụ minh họa">
            <a:extLst>
              <a:ext uri="{FF2B5EF4-FFF2-40B4-BE49-F238E27FC236}">
                <a16:creationId xmlns:a16="http://schemas.microsoft.com/office/drawing/2014/main" id="{0B08220A-03A3-4343-9656-8FF012D7FA2E}"/>
              </a:ext>
            </a:extLst>
          </p:cNvPr>
          <p:cNvSpPr>
            <a:spLocks noGrp="1"/>
          </p:cNvSpPr>
          <p:nvPr/>
        </p:nvSpPr>
        <p:spPr>
          <a:xfrm>
            <a:off x="685800" y="5476875"/>
            <a:ext cx="10363200" cy="552450"/>
          </a:xfrm>
          <a:prstGeom prst="roundRect">
            <a:avLst>
              <a:gd name="adj" fmla="val 20690"/>
            </a:avLst>
          </a:prstGeom>
          <a:solidFill>
            <a:srgbClr val="FFF4D8"/>
          </a:solidFill>
          <a:ln w="0">
            <a:noFill/>
          </a:ln>
        </p:spPr>
        <p:txBody>
          <a:bodyPr lIns="190500" tIns="76200" rIns="190500" bIns="76200" anchor="ctr">
            <a:noAutofit/>
          </a:bodyPr>
          <a:lstStyle/>
          <a:p>
            <a:pPr algn="l">
              <a:defRPr sz="1350" b="0">
                <a:solidFill>
                  <a:srgbClr val="A94D3E"/>
                </a:solidFill>
                <a:latin typeface="Times New Roman"/>
                <a:ea typeface="Times New Roman"/>
                <a:cs typeface="Times New Roman"/>
              </a:defRPr>
            </a:pPr>
            <a:r>
              <a:rPr sz="2000" b="0" dirty="0" err="1">
                <a:solidFill>
                  <a:srgbClr val="A94D3E"/>
                </a:solidFill>
                <a:latin typeface="Times New Roman"/>
                <a:ea typeface="Times New Roman"/>
                <a:cs typeface="Times New Roman"/>
              </a:rPr>
              <a:t>Ví</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dụ</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Coi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chiếc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máy</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chỉ</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là</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tập</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hợp</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các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bộ</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phận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đứng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im</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sẽ</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khó</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giải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thích</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vì</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sao</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nó</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hao</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mòn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và</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thay</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đổi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theo</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thời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gian</a:t>
            </a:r>
            <a:r>
              <a:rPr sz="2000" b="0" dirty="0">
                <a:solidFill>
                  <a:srgbClr val="A94D3E"/>
                </a:solidFill>
                <a:latin typeface="Times New Roman"/>
                <a:ea typeface="Times New Roman"/>
                <a:cs typeface="Times New Roman"/>
              </a:rPr>
              <a:t>.</a:t>
            </a:r>
          </a:p>
        </p:txBody>
      </p:sp>
    </p:spTree>
    <p:extLst>
      <p:ext uri="{BB962C8B-B14F-4D97-AF65-F5344CB8AC3E}">
        <p14:creationId xmlns:p14="http://schemas.microsoft.com/office/powerpoint/2010/main" val="1677638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2" name="Hình chữ nhật 11">
            <a:extLst>
              <a:ext uri="{FF2B5EF4-FFF2-40B4-BE49-F238E27FC236}">
                <a16:creationId xmlns:a16="http://schemas.microsoft.com/office/drawing/2014/main" id="{26CFA22E-1264-4A06-9DFC-BD7CAD07D475}"/>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1.2. VẤN ĐỀ CƠ BẢN CỦA TRIẾT HỌC</a:t>
            </a:r>
          </a:p>
        </p:txBody>
      </p:sp>
      <p:sp>
        <p:nvSpPr>
          <p:cNvPr id="2" name="Hình chữ nhật 1">
            <a:extLst>
              <a:ext uri="{FF2B5EF4-FFF2-40B4-BE49-F238E27FC236}">
                <a16:creationId xmlns:a16="http://schemas.microsoft.com/office/drawing/2014/main" id="{32AB19E2-2D28-4E67-AD4A-10966FF2092C}"/>
              </a:ext>
            </a:extLst>
          </p:cNvPr>
          <p:cNvSpPr>
            <a:spLocks noGrp="1"/>
          </p:cNvSpPr>
          <p:nvPr/>
        </p:nvSpPr>
        <p:spPr>
          <a:xfrm>
            <a:off x="685800" y="733416"/>
            <a:ext cx="10001250" cy="600083"/>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Các dạng của chủ nghĩa duy tâm</a:t>
            </a:r>
          </a:p>
        </p:txBody>
      </p:sp>
      <p:sp>
        <p:nvSpPr>
          <p:cNvPr id="3" name="Hình chữ nhật 2">
            <a:extLst>
              <a:ext uri="{FF2B5EF4-FFF2-40B4-BE49-F238E27FC236}">
                <a16:creationId xmlns:a16="http://schemas.microsoft.com/office/drawing/2014/main" id="{C6427ED8-709F-49D0-85FB-FDB3C08FABE2}"/>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4BB1E872-4EA3-442C-9A3E-98CA38AEA673}"/>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37-38</a:t>
            </a:r>
          </a:p>
        </p:txBody>
      </p:sp>
      <p:sp>
        <p:nvSpPr>
          <p:cNvPr id="5" name="Hình chữ nhật 4">
            <a:extLst>
              <a:ext uri="{FF2B5EF4-FFF2-40B4-BE49-F238E27FC236}">
                <a16:creationId xmlns:a16="http://schemas.microsoft.com/office/drawing/2014/main" id="{8939DE40-AE4D-4E38-AB92-E95017CABEA7}"/>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14</a:t>
            </a:r>
          </a:p>
        </p:txBody>
      </p:sp>
      <p:sp>
        <p:nvSpPr>
          <p:cNvPr id="6" name="Hình chữ nhật: Góc Tròn 5">
            <a:extLst>
              <a:ext uri="{FF2B5EF4-FFF2-40B4-BE49-F238E27FC236}">
                <a16:creationId xmlns:a16="http://schemas.microsoft.com/office/drawing/2014/main" id="{C8739A41-0DF4-4160-A12D-D15772A84D09}"/>
              </a:ext>
            </a:extLst>
          </p:cNvPr>
          <p:cNvSpPr>
            <a:spLocks noGrp="1"/>
          </p:cNvSpPr>
          <p:nvPr/>
        </p:nvSpPr>
        <p:spPr>
          <a:xfrm>
            <a:off x="685800" y="2057400"/>
            <a:ext cx="4762500" cy="2857500"/>
          </a:xfrm>
          <a:prstGeom prst="roundRect">
            <a:avLst>
              <a:gd name="adj" fmla="val 2667"/>
            </a:avLst>
          </a:prstGeom>
          <a:solidFill>
            <a:srgbClr val="EAF1F4"/>
          </a:solidFill>
          <a:ln w="0">
            <a:solidFill>
              <a:srgbClr val="EAF1F4"/>
            </a:solidFill>
          </a:ln>
        </p:spPr>
        <p:txBody>
          <a:bodyPr/>
          <a:lstStyle/>
          <a:p>
            <a:endParaRPr/>
          </a:p>
        </p:txBody>
      </p:sp>
      <p:sp>
        <p:nvSpPr>
          <p:cNvPr id="7" name="Hình chữ nhật 6">
            <a:extLst>
              <a:ext uri="{FF2B5EF4-FFF2-40B4-BE49-F238E27FC236}">
                <a16:creationId xmlns:a16="http://schemas.microsoft.com/office/drawing/2014/main" id="{62D6C8D0-40C4-4737-8E60-088A104A5743}"/>
              </a:ext>
            </a:extLst>
          </p:cNvPr>
          <p:cNvSpPr>
            <a:spLocks noGrp="1"/>
          </p:cNvSpPr>
          <p:nvPr/>
        </p:nvSpPr>
        <p:spPr>
          <a:xfrm>
            <a:off x="1066800" y="2419350"/>
            <a:ext cx="4000500" cy="342900"/>
          </a:xfrm>
          <a:prstGeom prst="rect">
            <a:avLst/>
          </a:prstGeom>
          <a:noFill/>
          <a:ln w="0">
            <a:noFill/>
          </a:ln>
        </p:spPr>
        <p:txBody>
          <a:bodyPr anchor="t">
            <a:noAutofit/>
          </a:bodyPr>
          <a:lstStyle/>
          <a:p>
            <a:pPr algn="ctr">
              <a:buNone/>
              <a:defRPr sz="2025" b="1" i="0">
                <a:solidFill>
                  <a:srgbClr val="142B43"/>
                </a:solidFill>
                <a:latin typeface="Times New Roman"/>
                <a:ea typeface="Times New Roman"/>
                <a:cs typeface="Times New Roman"/>
              </a:defRPr>
            </a:pPr>
            <a:r>
              <a:rPr sz="2800" b="1" i="0">
                <a:solidFill>
                  <a:srgbClr val="142B43"/>
                </a:solidFill>
                <a:latin typeface="Times New Roman"/>
                <a:ea typeface="Times New Roman"/>
                <a:cs typeface="Times New Roman"/>
              </a:rPr>
              <a:t>Duy tâm chủ quan</a:t>
            </a:r>
          </a:p>
        </p:txBody>
      </p:sp>
      <p:sp>
        <p:nvSpPr>
          <p:cNvPr id="8" name="Hình chữ nhật 7">
            <a:extLst>
              <a:ext uri="{FF2B5EF4-FFF2-40B4-BE49-F238E27FC236}">
                <a16:creationId xmlns:a16="http://schemas.microsoft.com/office/drawing/2014/main" id="{8C74D5E8-EF87-4B51-A5F0-06C5935DD9B9}"/>
              </a:ext>
            </a:extLst>
          </p:cNvPr>
          <p:cNvSpPr>
            <a:spLocks noGrp="1"/>
          </p:cNvSpPr>
          <p:nvPr/>
        </p:nvSpPr>
        <p:spPr>
          <a:xfrm>
            <a:off x="685800" y="3124200"/>
            <a:ext cx="4847253" cy="1522444"/>
          </a:xfrm>
          <a:prstGeom prst="rect">
            <a:avLst/>
          </a:prstGeom>
          <a:noFill/>
          <a:ln w="0">
            <a:noFill/>
          </a:ln>
        </p:spPr>
        <p:txBody>
          <a:bodyPr anchor="t"/>
          <a:lstStyle/>
          <a:p>
            <a:pPr algn="ctr">
              <a:buNone/>
              <a:defRPr sz="1650" b="0" i="0">
                <a:solidFill>
                  <a:srgbClr val="1D2A35"/>
                </a:solidFill>
                <a:latin typeface="Times New Roman"/>
                <a:ea typeface="Times New Roman"/>
                <a:cs typeface="Times New Roman"/>
              </a:defRPr>
            </a:pPr>
            <a:r>
              <a:rPr sz="2800" b="0" i="0" dirty="0" err="1">
                <a:solidFill>
                  <a:srgbClr val="1D2A35"/>
                </a:solidFill>
                <a:latin typeface="Times New Roman"/>
                <a:ea typeface="Times New Roman"/>
                <a:cs typeface="Times New Roman"/>
              </a:rPr>
              <a:t>Thừa</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nhận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tính</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thứ</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nhất</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của</a:t>
            </a:r>
            <a:r>
              <a:rPr sz="2800" b="0" i="0" dirty="0">
                <a:solidFill>
                  <a:srgbClr val="1D2A35"/>
                </a:solidFill>
                <a:latin typeface="Times New Roman"/>
                <a:ea typeface="Times New Roman"/>
                <a:cs typeface="Times New Roman"/>
              </a:rPr>
              <a:t> ý </a:t>
            </a:r>
            <a:r>
              <a:rPr sz="2800" b="0" i="0" dirty="0" err="1">
                <a:solidFill>
                  <a:srgbClr val="1D2A35"/>
                </a:solidFill>
                <a:latin typeface="Times New Roman"/>
                <a:ea typeface="Times New Roman"/>
                <a:cs typeface="Times New Roman"/>
              </a:rPr>
              <a:t>thức</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cá</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nhân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phủ</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nhận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sự</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tồn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tại</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khách</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quan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của</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hiện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thực</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coi</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sự</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vật</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là</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phức</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hợp</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cảm</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giác</a:t>
            </a:r>
            <a:r>
              <a:rPr sz="2800" b="0" i="0" dirty="0">
                <a:solidFill>
                  <a:srgbClr val="1D2A35"/>
                </a:solidFill>
                <a:latin typeface="Times New Roman"/>
                <a:ea typeface="Times New Roman"/>
                <a:cs typeface="Times New Roman"/>
              </a:rPr>
              <a:t>.</a:t>
            </a:r>
          </a:p>
        </p:txBody>
      </p:sp>
      <p:sp>
        <p:nvSpPr>
          <p:cNvPr id="9" name="Hình chữ nhật: Góc Tròn 8">
            <a:extLst>
              <a:ext uri="{FF2B5EF4-FFF2-40B4-BE49-F238E27FC236}">
                <a16:creationId xmlns:a16="http://schemas.microsoft.com/office/drawing/2014/main" id="{639523DC-D7BA-4382-AB40-B6B69FCFD0DE}"/>
              </a:ext>
            </a:extLst>
          </p:cNvPr>
          <p:cNvSpPr>
            <a:spLocks noGrp="1"/>
          </p:cNvSpPr>
          <p:nvPr/>
        </p:nvSpPr>
        <p:spPr>
          <a:xfrm>
            <a:off x="6553200" y="2057400"/>
            <a:ext cx="4495800" cy="2857500"/>
          </a:xfrm>
          <a:prstGeom prst="roundRect">
            <a:avLst>
              <a:gd name="adj" fmla="val 2667"/>
            </a:avLst>
          </a:prstGeom>
          <a:solidFill>
            <a:srgbClr val="F6E6E1"/>
          </a:solidFill>
          <a:ln w="0">
            <a:solidFill>
              <a:srgbClr val="F6E6E1"/>
            </a:solidFill>
          </a:ln>
        </p:spPr>
        <p:txBody>
          <a:bodyPr/>
          <a:lstStyle/>
          <a:p>
            <a:endParaRPr/>
          </a:p>
        </p:txBody>
      </p:sp>
      <p:sp>
        <p:nvSpPr>
          <p:cNvPr id="10" name="Hình chữ nhật 9">
            <a:extLst>
              <a:ext uri="{FF2B5EF4-FFF2-40B4-BE49-F238E27FC236}">
                <a16:creationId xmlns:a16="http://schemas.microsoft.com/office/drawing/2014/main" id="{D7F83D2C-D99F-4E7C-9995-E963770829AD}"/>
              </a:ext>
            </a:extLst>
          </p:cNvPr>
          <p:cNvSpPr>
            <a:spLocks noGrp="1"/>
          </p:cNvSpPr>
          <p:nvPr/>
        </p:nvSpPr>
        <p:spPr>
          <a:xfrm>
            <a:off x="6934200" y="2419350"/>
            <a:ext cx="3733800" cy="342900"/>
          </a:xfrm>
          <a:prstGeom prst="rect">
            <a:avLst/>
          </a:prstGeom>
          <a:noFill/>
          <a:ln w="0">
            <a:noFill/>
          </a:ln>
        </p:spPr>
        <p:txBody>
          <a:bodyPr anchor="t">
            <a:noAutofit/>
          </a:bodyPr>
          <a:lstStyle/>
          <a:p>
            <a:pPr algn="ctr">
              <a:buNone/>
              <a:defRPr sz="2025" b="1" i="0">
                <a:solidFill>
                  <a:srgbClr val="142B43"/>
                </a:solidFill>
                <a:latin typeface="Times New Roman"/>
                <a:ea typeface="Times New Roman"/>
                <a:cs typeface="Times New Roman"/>
              </a:defRPr>
            </a:pPr>
            <a:r>
              <a:rPr sz="2800" b="1" i="0">
                <a:solidFill>
                  <a:srgbClr val="142B43"/>
                </a:solidFill>
                <a:latin typeface="Times New Roman"/>
                <a:ea typeface="Times New Roman"/>
                <a:cs typeface="Times New Roman"/>
              </a:rPr>
              <a:t>Duy tâm khách quan</a:t>
            </a:r>
          </a:p>
        </p:txBody>
      </p:sp>
      <p:sp>
        <p:nvSpPr>
          <p:cNvPr id="11" name="Hình chữ nhật 10">
            <a:extLst>
              <a:ext uri="{FF2B5EF4-FFF2-40B4-BE49-F238E27FC236}">
                <a16:creationId xmlns:a16="http://schemas.microsoft.com/office/drawing/2014/main" id="{5E4FA348-F47E-4F26-BED1-44F9C2F56E61}"/>
              </a:ext>
            </a:extLst>
          </p:cNvPr>
          <p:cNvSpPr>
            <a:spLocks noGrp="1"/>
          </p:cNvSpPr>
          <p:nvPr/>
        </p:nvSpPr>
        <p:spPr>
          <a:xfrm>
            <a:off x="6553200" y="3114675"/>
            <a:ext cx="4762500" cy="1247775"/>
          </a:xfrm>
          <a:prstGeom prst="rect">
            <a:avLst/>
          </a:prstGeom>
          <a:noFill/>
          <a:ln w="0">
            <a:noFill/>
          </a:ln>
        </p:spPr>
        <p:txBody>
          <a:bodyPr anchor="t"/>
          <a:lstStyle/>
          <a:p>
            <a:pPr algn="ctr">
              <a:buNone/>
              <a:defRPr sz="1650" b="0" i="0">
                <a:solidFill>
                  <a:srgbClr val="1D2A35"/>
                </a:solidFill>
                <a:latin typeface="Times New Roman"/>
                <a:ea typeface="Times New Roman"/>
                <a:cs typeface="Times New Roman"/>
              </a:defRPr>
            </a:pPr>
            <a:r>
              <a:rPr sz="2800" b="0" i="0">
                <a:solidFill>
                  <a:srgbClr val="1D2A35"/>
                </a:solidFill>
                <a:latin typeface="Times New Roman"/>
                <a:ea typeface="Times New Roman"/>
                <a:cs typeface="Times New Roman"/>
              </a:rPr>
              <a:t>Thừa nhận tính thứ nhất của ý thức, nhưng coi đó là tinh thần khách quan tồn tại trước và độc lập với con người.</a:t>
            </a:r>
          </a:p>
        </p:txBody>
      </p:sp>
      <p:sp>
        <p:nvSpPr>
          <p:cNvPr id="13" name="Ví dụ minh họa">
            <a:extLst>
              <a:ext uri="{FF2B5EF4-FFF2-40B4-BE49-F238E27FC236}">
                <a16:creationId xmlns:a16="http://schemas.microsoft.com/office/drawing/2014/main" id="{435D58F2-52B3-4AB2-A80C-2300FEB9D263}"/>
              </a:ext>
            </a:extLst>
          </p:cNvPr>
          <p:cNvSpPr>
            <a:spLocks noGrp="1"/>
          </p:cNvSpPr>
          <p:nvPr/>
        </p:nvSpPr>
        <p:spPr>
          <a:xfrm>
            <a:off x="685800" y="5476875"/>
            <a:ext cx="10363200" cy="552450"/>
          </a:xfrm>
          <a:prstGeom prst="roundRect">
            <a:avLst>
              <a:gd name="adj" fmla="val 20690"/>
            </a:avLst>
          </a:prstGeom>
          <a:solidFill>
            <a:srgbClr val="FFF4D8"/>
          </a:solidFill>
          <a:ln w="0">
            <a:noFill/>
          </a:ln>
        </p:spPr>
        <p:txBody>
          <a:bodyPr lIns="190500" tIns="76200" rIns="190500" bIns="76200" anchor="ctr">
            <a:noAutofit/>
          </a:bodyPr>
          <a:lstStyle/>
          <a:p>
            <a:pPr algn="l">
              <a:defRPr sz="1350" b="0">
                <a:solidFill>
                  <a:srgbClr val="A94D3E"/>
                </a:solidFill>
                <a:latin typeface="Times New Roman"/>
                <a:ea typeface="Times New Roman"/>
                <a:cs typeface="Times New Roman"/>
              </a:defRPr>
            </a:pPr>
            <a:r>
              <a:rPr sz="2000" b="0" dirty="0" err="1">
                <a:solidFill>
                  <a:srgbClr val="A94D3E"/>
                </a:solidFill>
                <a:latin typeface="Times New Roman"/>
                <a:ea typeface="Times New Roman"/>
                <a:cs typeface="Times New Roman"/>
              </a:rPr>
              <a:t>Ví</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dụ</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Tôi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thấy</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món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ăn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ngon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phản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ánh</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cảm</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giác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cá</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nhân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còn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món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ăn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vẫn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tồn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tại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khách</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quan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dù</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tôi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không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nếm</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thử</a:t>
            </a:r>
            <a:r>
              <a:rPr sz="2000" b="0" dirty="0">
                <a:solidFill>
                  <a:srgbClr val="A94D3E"/>
                </a:solidFill>
                <a:latin typeface="Times New Roman"/>
                <a:ea typeface="Times New Roman"/>
                <a:cs typeface="Times New Roman"/>
              </a:rPr>
              <a:t>.</a:t>
            </a:r>
          </a:p>
        </p:txBody>
      </p:sp>
    </p:spTree>
    <p:extLst>
      <p:ext uri="{BB962C8B-B14F-4D97-AF65-F5344CB8AC3E}">
        <p14:creationId xmlns:p14="http://schemas.microsoft.com/office/powerpoint/2010/main" val="352945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3" name="Hình chữ nhật 12">
            <a:extLst>
              <a:ext uri="{FF2B5EF4-FFF2-40B4-BE49-F238E27FC236}">
                <a16:creationId xmlns:a16="http://schemas.microsoft.com/office/drawing/2014/main" id="{D9733B07-5BAC-41E7-A113-7653FF11398C}"/>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1.2. VẤN ĐỀ CƠ BẢN CỦA TRIẾT HỌC</a:t>
            </a:r>
          </a:p>
        </p:txBody>
      </p:sp>
      <p:sp>
        <p:nvSpPr>
          <p:cNvPr id="2" name="Hình chữ nhật 1">
            <a:extLst>
              <a:ext uri="{FF2B5EF4-FFF2-40B4-BE49-F238E27FC236}">
                <a16:creationId xmlns:a16="http://schemas.microsoft.com/office/drawing/2014/main" id="{9CD02E8E-FD1D-4375-B578-010402F8223E}"/>
              </a:ext>
            </a:extLst>
          </p:cNvPr>
          <p:cNvSpPr>
            <a:spLocks noGrp="1"/>
          </p:cNvSpPr>
          <p:nvPr/>
        </p:nvSpPr>
        <p:spPr>
          <a:xfrm>
            <a:off x="685800" y="737118"/>
            <a:ext cx="10001250" cy="596382"/>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Nhất nguyên luận và nhị nguyên luận</a:t>
            </a:r>
          </a:p>
        </p:txBody>
      </p:sp>
      <p:sp>
        <p:nvSpPr>
          <p:cNvPr id="3" name="Hình chữ nhật 2">
            <a:extLst>
              <a:ext uri="{FF2B5EF4-FFF2-40B4-BE49-F238E27FC236}">
                <a16:creationId xmlns:a16="http://schemas.microsoft.com/office/drawing/2014/main" id="{1CF3F09B-A7D6-4063-9A47-9565EFFF3F4E}"/>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4494F16A-408D-48CA-8702-612509168BCE}"/>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38-39</a:t>
            </a:r>
          </a:p>
        </p:txBody>
      </p:sp>
      <p:sp>
        <p:nvSpPr>
          <p:cNvPr id="5" name="Hình chữ nhật 4">
            <a:extLst>
              <a:ext uri="{FF2B5EF4-FFF2-40B4-BE49-F238E27FC236}">
                <a16:creationId xmlns:a16="http://schemas.microsoft.com/office/drawing/2014/main" id="{00A09E65-1A96-46C4-ACF7-1F198BD0746C}"/>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15</a:t>
            </a:r>
          </a:p>
        </p:txBody>
      </p:sp>
      <p:sp>
        <p:nvSpPr>
          <p:cNvPr id="6" name="Hình chữ nhật: Góc Tròn 5">
            <a:extLst>
              <a:ext uri="{FF2B5EF4-FFF2-40B4-BE49-F238E27FC236}">
                <a16:creationId xmlns:a16="http://schemas.microsoft.com/office/drawing/2014/main" id="{0C61EAA0-D1C2-4E87-9D33-689E58AA83FA}"/>
              </a:ext>
            </a:extLst>
          </p:cNvPr>
          <p:cNvSpPr>
            <a:spLocks noGrp="1"/>
          </p:cNvSpPr>
          <p:nvPr/>
        </p:nvSpPr>
        <p:spPr>
          <a:xfrm>
            <a:off x="685800" y="2000250"/>
            <a:ext cx="4667250" cy="2895600"/>
          </a:xfrm>
          <a:prstGeom prst="roundRect">
            <a:avLst>
              <a:gd name="adj" fmla="val 2632"/>
            </a:avLst>
          </a:prstGeom>
          <a:solidFill>
            <a:srgbClr val="F8EFD9"/>
          </a:solidFill>
          <a:ln w="0">
            <a:solidFill>
              <a:srgbClr val="F8EFD9"/>
            </a:solidFill>
          </a:ln>
        </p:spPr>
        <p:txBody>
          <a:bodyPr/>
          <a:lstStyle/>
          <a:p>
            <a:endParaRPr/>
          </a:p>
        </p:txBody>
      </p:sp>
      <p:sp>
        <p:nvSpPr>
          <p:cNvPr id="7" name="Hình chữ nhật 6">
            <a:extLst>
              <a:ext uri="{FF2B5EF4-FFF2-40B4-BE49-F238E27FC236}">
                <a16:creationId xmlns:a16="http://schemas.microsoft.com/office/drawing/2014/main" id="{E4379EE1-9790-4E47-8C69-FD3B3206735F}"/>
              </a:ext>
            </a:extLst>
          </p:cNvPr>
          <p:cNvSpPr>
            <a:spLocks noGrp="1"/>
          </p:cNvSpPr>
          <p:nvPr/>
        </p:nvSpPr>
        <p:spPr>
          <a:xfrm>
            <a:off x="1066800" y="2266950"/>
            <a:ext cx="3905250" cy="438150"/>
          </a:xfrm>
          <a:prstGeom prst="rect">
            <a:avLst/>
          </a:prstGeom>
          <a:noFill/>
          <a:ln w="0">
            <a:noFill/>
          </a:ln>
        </p:spPr>
        <p:txBody>
          <a:bodyPr anchor="t">
            <a:noAutofit/>
          </a:bodyPr>
          <a:lstStyle/>
          <a:p>
            <a:pPr algn="ctr">
              <a:buNone/>
              <a:defRPr sz="2025" b="1" i="0">
                <a:solidFill>
                  <a:srgbClr val="142B43"/>
                </a:solidFill>
                <a:latin typeface="Times New Roman"/>
                <a:ea typeface="Times New Roman"/>
                <a:cs typeface="Times New Roman"/>
              </a:defRPr>
            </a:pPr>
            <a:r>
              <a:rPr sz="3200" b="1" i="0" dirty="0" err="1">
                <a:solidFill>
                  <a:srgbClr val="142B43"/>
                </a:solidFill>
                <a:latin typeface="Times New Roman"/>
                <a:ea typeface="Times New Roman"/>
                <a:cs typeface="Times New Roman"/>
              </a:rPr>
              <a:t>Nhất</a:t>
            </a:r>
            <a:r>
              <a:rPr sz="3200" b="1" i="0" dirty="0">
                <a:solidFill>
                  <a:srgbClr val="142B43"/>
                </a:solidFill>
                <a:latin typeface="Times New Roman"/>
                <a:ea typeface="Times New Roman"/>
                <a:cs typeface="Times New Roman"/>
              </a:rPr>
              <a:t> </a:t>
            </a:r>
            <a:r>
              <a:rPr sz="3200" b="1" i="0" dirty="0" err="1">
                <a:solidFill>
                  <a:srgbClr val="142B43"/>
                </a:solidFill>
                <a:latin typeface="Times New Roman"/>
                <a:ea typeface="Times New Roman"/>
                <a:cs typeface="Times New Roman"/>
              </a:rPr>
              <a:t>nguyên</a:t>
            </a:r>
            <a:r>
              <a:rPr sz="3200" b="1" i="0" dirty="0">
                <a:solidFill>
                  <a:srgbClr val="142B43"/>
                </a:solidFill>
                <a:latin typeface="Times New Roman"/>
                <a:ea typeface="Times New Roman"/>
                <a:cs typeface="Times New Roman"/>
              </a:rPr>
              <a:t> </a:t>
            </a:r>
            <a:r>
              <a:rPr sz="3200" b="1" i="0" dirty="0" err="1">
                <a:solidFill>
                  <a:srgbClr val="142B43"/>
                </a:solidFill>
                <a:latin typeface="Times New Roman"/>
                <a:ea typeface="Times New Roman"/>
                <a:cs typeface="Times New Roman"/>
              </a:rPr>
              <a:t>luận</a:t>
            </a:r>
            <a:endParaRPr sz="3200" b="1" i="0" dirty="0">
              <a:solidFill>
                <a:srgbClr val="142B43"/>
              </a:solidFill>
              <a:latin typeface="Times New Roman"/>
              <a:ea typeface="Times New Roman"/>
              <a:cs typeface="Times New Roman"/>
            </a:endParaRPr>
          </a:p>
        </p:txBody>
      </p:sp>
      <p:sp>
        <p:nvSpPr>
          <p:cNvPr id="8" name="Hình chữ nhật 7">
            <a:extLst>
              <a:ext uri="{FF2B5EF4-FFF2-40B4-BE49-F238E27FC236}">
                <a16:creationId xmlns:a16="http://schemas.microsoft.com/office/drawing/2014/main" id="{23C32EE2-ADC3-4332-9D16-1C846AFC6A75}"/>
              </a:ext>
            </a:extLst>
          </p:cNvPr>
          <p:cNvSpPr>
            <a:spLocks noGrp="1"/>
          </p:cNvSpPr>
          <p:nvPr/>
        </p:nvSpPr>
        <p:spPr>
          <a:xfrm>
            <a:off x="783771" y="2971800"/>
            <a:ext cx="4264479" cy="1181100"/>
          </a:xfrm>
          <a:prstGeom prst="rect">
            <a:avLst/>
          </a:prstGeom>
          <a:noFill/>
          <a:ln w="0">
            <a:noFill/>
          </a:ln>
        </p:spPr>
        <p:txBody>
          <a:bodyPr anchor="t"/>
          <a:lstStyle/>
          <a:p>
            <a:pPr algn="ctr">
              <a:buNone/>
              <a:defRPr sz="1875" b="0" i="0">
                <a:solidFill>
                  <a:srgbClr val="1D2A35"/>
                </a:solidFill>
                <a:latin typeface="Times New Roman"/>
                <a:ea typeface="Times New Roman"/>
                <a:cs typeface="Times New Roman"/>
              </a:defRPr>
            </a:pPr>
            <a:r>
              <a:rPr sz="2200" b="0" i="0" dirty="0" err="1">
                <a:solidFill>
                  <a:srgbClr val="1D2A35"/>
                </a:solidFill>
                <a:latin typeface="Times New Roman"/>
                <a:ea typeface="Times New Roman"/>
                <a:cs typeface="Times New Roman"/>
              </a:rPr>
              <a:t>Chỉ</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thừa</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nhận</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một</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bản</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nguyên</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của</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thế</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giới</a:t>
            </a:r>
            <a:r>
              <a:rPr sz="2200" b="0" i="0" dirty="0">
                <a:solidFill>
                  <a:srgbClr val="1D2A35"/>
                </a:solidFill>
                <a:latin typeface="Times New Roman"/>
                <a:ea typeface="Times New Roman"/>
                <a:cs typeface="Times New Roman"/>
              </a:rPr>
              <a:t>:</a:t>
            </a:r>
            <a:r>
              <a:rPr lang="vi-VN"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vật</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chất</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hoặc</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tinh</a:t>
            </a:r>
            <a:r>
              <a:rPr sz="2200" b="0" i="0" dirty="0">
                <a:solidFill>
                  <a:srgbClr val="1D2A35"/>
                </a:solidFill>
                <a:latin typeface="Times New Roman"/>
                <a:ea typeface="Times New Roman"/>
                <a:cs typeface="Times New Roman"/>
              </a:rPr>
              <a:t> </a:t>
            </a:r>
            <a:r>
              <a:rPr sz="2200" b="0" i="0" dirty="0" err="1">
                <a:solidFill>
                  <a:srgbClr val="1D2A35"/>
                </a:solidFill>
                <a:latin typeface="Times New Roman"/>
                <a:ea typeface="Times New Roman"/>
                <a:cs typeface="Times New Roman"/>
              </a:rPr>
              <a:t>thần</a:t>
            </a:r>
            <a:r>
              <a:rPr sz="2800" b="0" i="0" dirty="0">
                <a:solidFill>
                  <a:srgbClr val="1D2A35"/>
                </a:solidFill>
                <a:latin typeface="Times New Roman"/>
                <a:ea typeface="Times New Roman"/>
                <a:cs typeface="Times New Roman"/>
              </a:rPr>
              <a:t>.</a:t>
            </a:r>
          </a:p>
        </p:txBody>
      </p:sp>
      <p:sp>
        <p:nvSpPr>
          <p:cNvPr id="9" name="Hình chữ nhật: Góc Tròn 8">
            <a:extLst>
              <a:ext uri="{FF2B5EF4-FFF2-40B4-BE49-F238E27FC236}">
                <a16:creationId xmlns:a16="http://schemas.microsoft.com/office/drawing/2014/main" id="{B6E4424E-66EB-4815-8345-86261BF326CD}"/>
              </a:ext>
            </a:extLst>
          </p:cNvPr>
          <p:cNvSpPr>
            <a:spLocks noGrp="1"/>
          </p:cNvSpPr>
          <p:nvPr/>
        </p:nvSpPr>
        <p:spPr>
          <a:xfrm>
            <a:off x="6553200" y="2000250"/>
            <a:ext cx="4495800" cy="2895600"/>
          </a:xfrm>
          <a:prstGeom prst="roundRect">
            <a:avLst>
              <a:gd name="adj" fmla="val 2632"/>
            </a:avLst>
          </a:prstGeom>
          <a:solidFill>
            <a:srgbClr val="EAF1F4"/>
          </a:solidFill>
          <a:ln w="0">
            <a:solidFill>
              <a:srgbClr val="EAF1F4"/>
            </a:solidFill>
          </a:ln>
        </p:spPr>
        <p:txBody>
          <a:bodyPr/>
          <a:lstStyle/>
          <a:p>
            <a:endParaRPr/>
          </a:p>
        </p:txBody>
      </p:sp>
      <p:sp>
        <p:nvSpPr>
          <p:cNvPr id="10" name="Hình chữ nhật 9">
            <a:extLst>
              <a:ext uri="{FF2B5EF4-FFF2-40B4-BE49-F238E27FC236}">
                <a16:creationId xmlns:a16="http://schemas.microsoft.com/office/drawing/2014/main" id="{D490E24A-ED77-4247-AF0C-BF3707336032}"/>
              </a:ext>
            </a:extLst>
          </p:cNvPr>
          <p:cNvSpPr>
            <a:spLocks noGrp="1"/>
          </p:cNvSpPr>
          <p:nvPr/>
        </p:nvSpPr>
        <p:spPr>
          <a:xfrm>
            <a:off x="6934200" y="2209800"/>
            <a:ext cx="3733800" cy="495300"/>
          </a:xfrm>
          <a:prstGeom prst="rect">
            <a:avLst/>
          </a:prstGeom>
          <a:noFill/>
          <a:ln w="0">
            <a:noFill/>
          </a:ln>
        </p:spPr>
        <p:txBody>
          <a:bodyPr anchor="t">
            <a:noAutofit/>
          </a:bodyPr>
          <a:lstStyle/>
          <a:p>
            <a:pPr algn="ctr">
              <a:buNone/>
              <a:defRPr sz="2025" b="1" i="0">
                <a:solidFill>
                  <a:srgbClr val="142B43"/>
                </a:solidFill>
                <a:latin typeface="Times New Roman"/>
                <a:ea typeface="Times New Roman"/>
                <a:cs typeface="Times New Roman"/>
              </a:defRPr>
            </a:pPr>
            <a:r>
              <a:rPr sz="3200" b="1" i="0" dirty="0" err="1">
                <a:solidFill>
                  <a:srgbClr val="142B43"/>
                </a:solidFill>
                <a:latin typeface="Times New Roman"/>
                <a:ea typeface="Times New Roman"/>
                <a:cs typeface="Times New Roman"/>
              </a:rPr>
              <a:t>Nhị</a:t>
            </a:r>
            <a:r>
              <a:rPr sz="3200" b="1" i="0" dirty="0">
                <a:solidFill>
                  <a:srgbClr val="142B43"/>
                </a:solidFill>
                <a:latin typeface="Times New Roman"/>
                <a:ea typeface="Times New Roman"/>
                <a:cs typeface="Times New Roman"/>
              </a:rPr>
              <a:t> </a:t>
            </a:r>
            <a:r>
              <a:rPr sz="3200" b="1" i="0" dirty="0" err="1">
                <a:solidFill>
                  <a:srgbClr val="142B43"/>
                </a:solidFill>
                <a:latin typeface="Times New Roman"/>
                <a:ea typeface="Times New Roman"/>
                <a:cs typeface="Times New Roman"/>
              </a:rPr>
              <a:t>nguyên</a:t>
            </a:r>
            <a:r>
              <a:rPr sz="3200" b="1" i="0" dirty="0">
                <a:solidFill>
                  <a:srgbClr val="142B43"/>
                </a:solidFill>
                <a:latin typeface="Times New Roman"/>
                <a:ea typeface="Times New Roman"/>
                <a:cs typeface="Times New Roman"/>
              </a:rPr>
              <a:t> </a:t>
            </a:r>
            <a:r>
              <a:rPr sz="3200" b="1" i="0" dirty="0" err="1">
                <a:solidFill>
                  <a:srgbClr val="142B43"/>
                </a:solidFill>
                <a:latin typeface="Times New Roman"/>
                <a:ea typeface="Times New Roman"/>
                <a:cs typeface="Times New Roman"/>
              </a:rPr>
              <a:t>luận</a:t>
            </a:r>
            <a:endParaRPr sz="3200" b="1" i="0" dirty="0">
              <a:solidFill>
                <a:srgbClr val="142B43"/>
              </a:solidFill>
              <a:latin typeface="Times New Roman"/>
              <a:ea typeface="Times New Roman"/>
              <a:cs typeface="Times New Roman"/>
            </a:endParaRPr>
          </a:p>
        </p:txBody>
      </p:sp>
      <p:sp>
        <p:nvSpPr>
          <p:cNvPr id="11" name="Hình chữ nhật 10">
            <a:extLst>
              <a:ext uri="{FF2B5EF4-FFF2-40B4-BE49-F238E27FC236}">
                <a16:creationId xmlns:a16="http://schemas.microsoft.com/office/drawing/2014/main" id="{219332E0-9085-42BC-B24C-3C7709908842}"/>
              </a:ext>
            </a:extLst>
          </p:cNvPr>
          <p:cNvSpPr>
            <a:spLocks noGrp="1"/>
          </p:cNvSpPr>
          <p:nvPr/>
        </p:nvSpPr>
        <p:spPr>
          <a:xfrm>
            <a:off x="6624735" y="2876550"/>
            <a:ext cx="4329403" cy="1790700"/>
          </a:xfrm>
          <a:prstGeom prst="rect">
            <a:avLst/>
          </a:prstGeom>
          <a:noFill/>
          <a:ln w="0">
            <a:noFill/>
          </a:ln>
        </p:spPr>
        <p:txBody>
          <a:bodyPr lIns="76200" tIns="57150" rIns="76200" bIns="57150" anchor="ctr">
            <a:normAutofit fontScale="77500" lnSpcReduction="20000"/>
          </a:bodyPr>
          <a:lstStyle/>
          <a:p>
            <a:pPr algn="ctr">
              <a:buNone/>
              <a:defRPr sz="1650" b="0" i="0">
                <a:solidFill>
                  <a:srgbClr val="1D2A35"/>
                </a:solidFill>
                <a:latin typeface="Times New Roman"/>
                <a:ea typeface="Times New Roman"/>
                <a:cs typeface="Times New Roman"/>
              </a:defRPr>
            </a:pPr>
            <a:r>
              <a:rPr sz="2800" b="0" i="0" dirty="0" err="1">
                <a:solidFill>
                  <a:srgbClr val="1D2A35"/>
                </a:solidFill>
                <a:latin typeface="Times New Roman"/>
                <a:ea typeface="Times New Roman"/>
                <a:cs typeface="Times New Roman"/>
              </a:rPr>
              <a:t>Thừa</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nhận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vật</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chất</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và</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tinh</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thần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là</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hai</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bản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nguyên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cùng</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tồn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tại</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cùng</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quyết</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định</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nguồn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gốc</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và</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vận</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động</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của</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thế</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giới</a:t>
            </a:r>
            <a:r>
              <a:rPr sz="2800" b="0" i="0" dirty="0">
                <a:solidFill>
                  <a:srgbClr val="1D2A35"/>
                </a:solidFill>
                <a:latin typeface="Times New Roman"/>
                <a:ea typeface="Times New Roman"/>
                <a:cs typeface="Times New Roman"/>
              </a:rPr>
              <a:t>.</a:t>
            </a:r>
          </a:p>
          <a:p>
            <a:endParaRPr sz="2800" b="0" i="0" dirty="0">
              <a:solidFill>
                <a:srgbClr val="1D2A35"/>
              </a:solidFill>
              <a:latin typeface="Times New Roman"/>
              <a:ea typeface="Times New Roman"/>
              <a:cs typeface="Times New Roman"/>
            </a:endParaRPr>
          </a:p>
          <a:p>
            <a:pPr algn="ctr">
              <a:buNone/>
              <a:defRPr sz="1650" b="0" i="0">
                <a:solidFill>
                  <a:srgbClr val="1D2A35"/>
                </a:solidFill>
                <a:latin typeface="Times New Roman"/>
                <a:ea typeface="Times New Roman"/>
                <a:cs typeface="Times New Roman"/>
              </a:defRPr>
            </a:pPr>
            <a:r>
              <a:rPr sz="2800" b="0" i="0" dirty="0" err="1">
                <a:solidFill>
                  <a:srgbClr val="1D2A35"/>
                </a:solidFill>
                <a:latin typeface="Times New Roman"/>
                <a:ea typeface="Times New Roman"/>
                <a:cs typeface="Times New Roman"/>
              </a:rPr>
              <a:t>Đại</a:t>
            </a:r>
            <a:r>
              <a:rPr sz="2800" b="0" i="0" dirty="0">
                <a:solidFill>
                  <a:srgbClr val="1D2A35"/>
                </a:solidFill>
                <a:latin typeface="Times New Roman"/>
                <a:ea typeface="Times New Roman"/>
                <a:cs typeface="Times New Roman"/>
              </a:rPr>
              <a:t> </a:t>
            </a:r>
            <a:r>
              <a:rPr sz="2800" b="0" i="0" dirty="0" err="1">
                <a:solidFill>
                  <a:srgbClr val="1D2A35"/>
                </a:solidFill>
                <a:latin typeface="Times New Roman"/>
                <a:ea typeface="Times New Roman"/>
                <a:cs typeface="Times New Roman"/>
              </a:rPr>
              <a:t>biểu</a:t>
            </a:r>
            <a:r>
              <a:rPr sz="2800" b="0" i="0" dirty="0">
                <a:solidFill>
                  <a:srgbClr val="1D2A35"/>
                </a:solidFill>
                <a:latin typeface="Times New Roman"/>
                <a:ea typeface="Times New Roman"/>
                <a:cs typeface="Times New Roman"/>
              </a:rPr>
              <a:t>: Descartes</a:t>
            </a:r>
            <a:r>
              <a:rPr sz="1650" b="0" i="0" dirty="0">
                <a:solidFill>
                  <a:srgbClr val="1D2A35"/>
                </a:solidFill>
                <a:latin typeface="Times New Roman"/>
                <a:ea typeface="Times New Roman"/>
                <a:cs typeface="Times New Roman"/>
              </a:rPr>
              <a:t>.</a:t>
            </a:r>
          </a:p>
        </p:txBody>
      </p:sp>
      <p:sp>
        <p:nvSpPr>
          <p:cNvPr id="12" name="Hình chữ nhật 11">
            <a:extLst>
              <a:ext uri="{FF2B5EF4-FFF2-40B4-BE49-F238E27FC236}">
                <a16:creationId xmlns:a16="http://schemas.microsoft.com/office/drawing/2014/main" id="{DEE21EAE-FDCA-4127-AC5E-8A0BFD66BD17}"/>
              </a:ext>
            </a:extLst>
          </p:cNvPr>
          <p:cNvSpPr>
            <a:spLocks noGrp="1"/>
          </p:cNvSpPr>
          <p:nvPr/>
        </p:nvSpPr>
        <p:spPr>
          <a:xfrm>
            <a:off x="1066800" y="5467350"/>
            <a:ext cx="9696450" cy="361950"/>
          </a:xfrm>
          <a:prstGeom prst="rect">
            <a:avLst/>
          </a:prstGeom>
          <a:noFill/>
          <a:ln w="0">
            <a:noFill/>
          </a:ln>
        </p:spPr>
        <p:txBody>
          <a:bodyPr anchor="t">
            <a:noAutofit/>
          </a:bodyPr>
          <a:lstStyle/>
          <a:p>
            <a:pPr algn="ctr">
              <a:buNone/>
              <a:defRPr sz="1650" b="1" i="0">
                <a:solidFill>
                  <a:srgbClr val="C65B4B"/>
                </a:solidFill>
                <a:latin typeface="Times New Roman"/>
                <a:ea typeface="Times New Roman"/>
                <a:cs typeface="Times New Roman"/>
              </a:defRPr>
            </a:pPr>
            <a:r>
              <a:rPr sz="2800" b="1" i="0">
                <a:solidFill>
                  <a:srgbClr val="C65B4B"/>
                </a:solidFill>
                <a:latin typeface="Times New Roman"/>
                <a:ea typeface="Times New Roman"/>
                <a:cs typeface="Times New Roman"/>
              </a:rPr>
              <a:t>Trong lịch sử, triết học chủ yếu là lịch sử đấu tranh giữa hai trường phái duy vật và duy tâm.</a:t>
            </a:r>
          </a:p>
        </p:txBody>
      </p:sp>
    </p:spTree>
    <p:extLst>
      <p:ext uri="{BB962C8B-B14F-4D97-AF65-F5344CB8AC3E}">
        <p14:creationId xmlns:p14="http://schemas.microsoft.com/office/powerpoint/2010/main" val="52723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5" name="Hình chữ nhật 14">
            <a:extLst>
              <a:ext uri="{FF2B5EF4-FFF2-40B4-BE49-F238E27FC236}">
                <a16:creationId xmlns:a16="http://schemas.microsoft.com/office/drawing/2014/main" id="{5F05060F-6D6E-4B9B-9889-B5DBF406A453}"/>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1.2. VẤN ĐỀ CƠ BẢN CỦA TRIẾT HỌC</a:t>
            </a:r>
          </a:p>
        </p:txBody>
      </p:sp>
      <p:sp>
        <p:nvSpPr>
          <p:cNvPr id="2" name="Hình chữ nhật 1">
            <a:extLst>
              <a:ext uri="{FF2B5EF4-FFF2-40B4-BE49-F238E27FC236}">
                <a16:creationId xmlns:a16="http://schemas.microsoft.com/office/drawing/2014/main" id="{44530DCE-CBBB-48EA-A3D8-00F80A9A204F}"/>
              </a:ext>
            </a:extLst>
          </p:cNvPr>
          <p:cNvSpPr>
            <a:spLocks noGrp="1"/>
          </p:cNvSpPr>
          <p:nvPr/>
        </p:nvSpPr>
        <p:spPr>
          <a:xfrm>
            <a:off x="685800" y="838200"/>
            <a:ext cx="10001250" cy="49530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Thuyết khả tri và thuyết bất khả tri</a:t>
            </a:r>
          </a:p>
        </p:txBody>
      </p:sp>
      <p:sp>
        <p:nvSpPr>
          <p:cNvPr id="3" name="Hình chữ nhật 2">
            <a:extLst>
              <a:ext uri="{FF2B5EF4-FFF2-40B4-BE49-F238E27FC236}">
                <a16:creationId xmlns:a16="http://schemas.microsoft.com/office/drawing/2014/main" id="{FA03E630-1CB4-470C-98D5-E9627B01C8FF}"/>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ACF64F3D-F44D-44BD-BBD0-F8A937EB9226}"/>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39-42</a:t>
            </a:r>
          </a:p>
        </p:txBody>
      </p:sp>
      <p:sp>
        <p:nvSpPr>
          <p:cNvPr id="5" name="Hình chữ nhật 4">
            <a:extLst>
              <a:ext uri="{FF2B5EF4-FFF2-40B4-BE49-F238E27FC236}">
                <a16:creationId xmlns:a16="http://schemas.microsoft.com/office/drawing/2014/main" id="{8FBB551B-C8C8-4980-BB7D-4151FBAD8217}"/>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16</a:t>
            </a:r>
          </a:p>
        </p:txBody>
      </p:sp>
      <p:sp>
        <p:nvSpPr>
          <p:cNvPr id="6" name="Hình chữ nhật: Góc Tròn 5">
            <a:extLst>
              <a:ext uri="{FF2B5EF4-FFF2-40B4-BE49-F238E27FC236}">
                <a16:creationId xmlns:a16="http://schemas.microsoft.com/office/drawing/2014/main" id="{AC16166F-9589-4A4D-8923-0DE446DB7DE1}"/>
              </a:ext>
            </a:extLst>
          </p:cNvPr>
          <p:cNvSpPr>
            <a:spLocks noGrp="1"/>
          </p:cNvSpPr>
          <p:nvPr/>
        </p:nvSpPr>
        <p:spPr>
          <a:xfrm>
            <a:off x="685800" y="2038350"/>
            <a:ext cx="4762500" cy="2724150"/>
          </a:xfrm>
          <a:prstGeom prst="roundRect">
            <a:avLst>
              <a:gd name="adj" fmla="val 2797"/>
            </a:avLst>
          </a:prstGeom>
          <a:solidFill>
            <a:srgbClr val="EAF1F4"/>
          </a:solidFill>
          <a:ln w="0">
            <a:solidFill>
              <a:srgbClr val="EAF1F4"/>
            </a:solidFill>
          </a:ln>
        </p:spPr>
        <p:txBody>
          <a:bodyPr/>
          <a:lstStyle/>
          <a:p>
            <a:endParaRPr/>
          </a:p>
        </p:txBody>
      </p:sp>
      <p:sp>
        <p:nvSpPr>
          <p:cNvPr id="7" name="Hình chữ nhật: Góc Tròn 6">
            <a:extLst>
              <a:ext uri="{FF2B5EF4-FFF2-40B4-BE49-F238E27FC236}">
                <a16:creationId xmlns:a16="http://schemas.microsoft.com/office/drawing/2014/main" id="{B433FCEE-04DA-463B-B6AA-E69CD20AD233}"/>
              </a:ext>
            </a:extLst>
          </p:cNvPr>
          <p:cNvSpPr>
            <a:spLocks noGrp="1"/>
          </p:cNvSpPr>
          <p:nvPr/>
        </p:nvSpPr>
        <p:spPr>
          <a:xfrm>
            <a:off x="971549" y="2155371"/>
            <a:ext cx="1855627" cy="492579"/>
          </a:xfrm>
          <a:prstGeom prst="roundRect">
            <a:avLst>
              <a:gd name="adj" fmla="val 23529"/>
            </a:avLst>
          </a:prstGeom>
          <a:solidFill>
            <a:srgbClr val="3E8C86"/>
          </a:solidFill>
          <a:ln w="0">
            <a:solidFill>
              <a:srgbClr val="3E8C86"/>
            </a:solidFill>
          </a:ln>
        </p:spPr>
        <p:txBody>
          <a:bodyPr/>
          <a:lstStyle/>
          <a:p>
            <a:endParaRPr/>
          </a:p>
        </p:txBody>
      </p:sp>
      <p:sp>
        <p:nvSpPr>
          <p:cNvPr id="8" name="Hình chữ nhật 7">
            <a:extLst>
              <a:ext uri="{FF2B5EF4-FFF2-40B4-BE49-F238E27FC236}">
                <a16:creationId xmlns:a16="http://schemas.microsoft.com/office/drawing/2014/main" id="{3C967B4A-F86E-4668-A082-C883AB29F975}"/>
              </a:ext>
            </a:extLst>
          </p:cNvPr>
          <p:cNvSpPr>
            <a:spLocks noGrp="1"/>
          </p:cNvSpPr>
          <p:nvPr/>
        </p:nvSpPr>
        <p:spPr>
          <a:xfrm>
            <a:off x="1066800" y="2155371"/>
            <a:ext cx="1760376" cy="435429"/>
          </a:xfrm>
          <a:prstGeom prst="rect">
            <a:avLst/>
          </a:prstGeom>
          <a:noFill/>
          <a:ln w="0">
            <a:noFill/>
          </a:ln>
        </p:spPr>
        <p:txBody>
          <a:bodyPr anchor="ctr">
            <a:normAutofit/>
          </a:bodyPr>
          <a:lstStyle/>
          <a:p>
            <a:pPr algn="ctr">
              <a:buNone/>
              <a:defRPr sz="1500" b="1" i="0">
                <a:solidFill>
                  <a:srgbClr val="FFFFFF"/>
                </a:solidFill>
                <a:latin typeface="Times New Roman"/>
                <a:ea typeface="Times New Roman"/>
                <a:cs typeface="Times New Roman"/>
              </a:defRPr>
            </a:pPr>
            <a:r>
              <a:rPr sz="1500" b="1" i="0" dirty="0" err="1">
                <a:solidFill>
                  <a:srgbClr val="FFFFFF"/>
                </a:solidFill>
                <a:latin typeface="Times New Roman"/>
                <a:ea typeface="Times New Roman"/>
                <a:cs typeface="Times New Roman"/>
              </a:rPr>
              <a:t>Thuyết</a:t>
            </a:r>
            <a:r>
              <a:rPr sz="1500" b="1" i="0" dirty="0">
                <a:solidFill>
                  <a:srgbClr val="FFFFFF"/>
                </a:solidFill>
                <a:latin typeface="Times New Roman"/>
                <a:ea typeface="Times New Roman"/>
                <a:cs typeface="Times New Roman"/>
              </a:rPr>
              <a:t> </a:t>
            </a:r>
            <a:r>
              <a:rPr sz="1500" b="1" i="0" dirty="0" err="1">
                <a:solidFill>
                  <a:srgbClr val="FFFFFF"/>
                </a:solidFill>
                <a:latin typeface="Times New Roman"/>
                <a:ea typeface="Times New Roman"/>
                <a:cs typeface="Times New Roman"/>
              </a:rPr>
              <a:t>khả</a:t>
            </a:r>
            <a:r>
              <a:rPr sz="1500" b="1" i="0" dirty="0">
                <a:solidFill>
                  <a:srgbClr val="FFFFFF"/>
                </a:solidFill>
                <a:latin typeface="Times New Roman"/>
                <a:ea typeface="Times New Roman"/>
                <a:cs typeface="Times New Roman"/>
              </a:rPr>
              <a:t> tri</a:t>
            </a:r>
          </a:p>
        </p:txBody>
      </p:sp>
      <p:sp>
        <p:nvSpPr>
          <p:cNvPr id="9" name="Hình chữ nhật 8">
            <a:extLst>
              <a:ext uri="{FF2B5EF4-FFF2-40B4-BE49-F238E27FC236}">
                <a16:creationId xmlns:a16="http://schemas.microsoft.com/office/drawing/2014/main" id="{D0668DE7-1E09-4C97-BD5F-8F9C96E75B93}"/>
              </a:ext>
            </a:extLst>
          </p:cNvPr>
          <p:cNvSpPr>
            <a:spLocks noGrp="1"/>
          </p:cNvSpPr>
          <p:nvPr/>
        </p:nvSpPr>
        <p:spPr>
          <a:xfrm>
            <a:off x="685799" y="2855167"/>
            <a:ext cx="4567335" cy="1469183"/>
          </a:xfrm>
          <a:prstGeom prst="rect">
            <a:avLst/>
          </a:prstGeom>
          <a:noFill/>
          <a:ln w="0">
            <a:noFill/>
          </a:ln>
        </p:spPr>
        <p:txBody>
          <a:bodyPr anchor="t"/>
          <a:lstStyle/>
          <a:p>
            <a:pPr>
              <a:buNone/>
              <a:defRPr sz="1725" b="0" i="0">
                <a:solidFill>
                  <a:srgbClr val="1D2A35"/>
                </a:solidFill>
                <a:latin typeface="Times New Roman"/>
                <a:ea typeface="Times New Roman"/>
                <a:cs typeface="Times New Roman"/>
              </a:defRPr>
            </a:pPr>
            <a:r>
              <a:rPr sz="2800" b="0" i="0">
                <a:solidFill>
                  <a:srgbClr val="1D2A35"/>
                </a:solidFill>
                <a:latin typeface="Times New Roman"/>
                <a:ea typeface="Times New Roman"/>
                <a:cs typeface="Times New Roman"/>
              </a:rPr>
              <a:t>Khẳng định về nguyên tắc con người có thể hiểu được bản chất của sự vật. Nhận thức có thể phù hợp với hiện thực.</a:t>
            </a:r>
          </a:p>
        </p:txBody>
      </p:sp>
      <p:sp>
        <p:nvSpPr>
          <p:cNvPr id="10" name="Hình chữ nhật: Góc Tròn 9">
            <a:extLst>
              <a:ext uri="{FF2B5EF4-FFF2-40B4-BE49-F238E27FC236}">
                <a16:creationId xmlns:a16="http://schemas.microsoft.com/office/drawing/2014/main" id="{7EDC83BE-B1AC-4861-95D7-BECBB7092D2C}"/>
              </a:ext>
            </a:extLst>
          </p:cNvPr>
          <p:cNvSpPr>
            <a:spLocks noGrp="1"/>
          </p:cNvSpPr>
          <p:nvPr/>
        </p:nvSpPr>
        <p:spPr>
          <a:xfrm>
            <a:off x="6095999" y="2028436"/>
            <a:ext cx="4762500" cy="2724150"/>
          </a:xfrm>
          <a:prstGeom prst="roundRect">
            <a:avLst>
              <a:gd name="adj" fmla="val 2797"/>
            </a:avLst>
          </a:prstGeom>
          <a:solidFill>
            <a:srgbClr val="F6E6E1"/>
          </a:solidFill>
          <a:ln w="0">
            <a:solidFill>
              <a:srgbClr val="F6E6E1"/>
            </a:solidFill>
          </a:ln>
        </p:spPr>
        <p:txBody>
          <a:bodyPr/>
          <a:lstStyle/>
          <a:p>
            <a:endParaRPr/>
          </a:p>
        </p:txBody>
      </p:sp>
      <p:sp>
        <p:nvSpPr>
          <p:cNvPr id="11" name="Hình chữ nhật: Góc Tròn 10">
            <a:extLst>
              <a:ext uri="{FF2B5EF4-FFF2-40B4-BE49-F238E27FC236}">
                <a16:creationId xmlns:a16="http://schemas.microsoft.com/office/drawing/2014/main" id="{EE894412-9BE6-4C95-81F9-C3AA077CEB11}"/>
              </a:ext>
            </a:extLst>
          </p:cNvPr>
          <p:cNvSpPr>
            <a:spLocks noGrp="1"/>
          </p:cNvSpPr>
          <p:nvPr/>
        </p:nvSpPr>
        <p:spPr>
          <a:xfrm>
            <a:off x="6214189" y="2155371"/>
            <a:ext cx="1968758" cy="435429"/>
          </a:xfrm>
          <a:prstGeom prst="roundRect">
            <a:avLst>
              <a:gd name="adj" fmla="val 23529"/>
            </a:avLst>
          </a:prstGeom>
          <a:solidFill>
            <a:srgbClr val="C65B4B"/>
          </a:solidFill>
          <a:ln w="0">
            <a:solidFill>
              <a:srgbClr val="C65B4B"/>
            </a:solidFill>
          </a:ln>
        </p:spPr>
        <p:txBody>
          <a:bodyPr/>
          <a:lstStyle/>
          <a:p>
            <a:endParaRPr/>
          </a:p>
        </p:txBody>
      </p:sp>
      <p:sp>
        <p:nvSpPr>
          <p:cNvPr id="12" name="Hình chữ nhật 11">
            <a:extLst>
              <a:ext uri="{FF2B5EF4-FFF2-40B4-BE49-F238E27FC236}">
                <a16:creationId xmlns:a16="http://schemas.microsoft.com/office/drawing/2014/main" id="{520C85AC-1380-4ED1-BC1B-5A1448758DAE}"/>
              </a:ext>
            </a:extLst>
          </p:cNvPr>
          <p:cNvSpPr>
            <a:spLocks noGrp="1"/>
          </p:cNvSpPr>
          <p:nvPr/>
        </p:nvSpPr>
        <p:spPr>
          <a:xfrm>
            <a:off x="6095999" y="2086364"/>
            <a:ext cx="2236237" cy="504436"/>
          </a:xfrm>
          <a:prstGeom prst="rect">
            <a:avLst/>
          </a:prstGeom>
          <a:noFill/>
          <a:ln w="0">
            <a:noFill/>
          </a:ln>
        </p:spPr>
        <p:txBody>
          <a:bodyPr anchor="ctr">
            <a:normAutofit/>
          </a:bodyPr>
          <a:lstStyle/>
          <a:p>
            <a:pPr algn="ctr">
              <a:buNone/>
              <a:defRPr sz="1500" b="1" i="0">
                <a:solidFill>
                  <a:srgbClr val="FFFFFF"/>
                </a:solidFill>
                <a:latin typeface="Times New Roman"/>
                <a:ea typeface="Times New Roman"/>
                <a:cs typeface="Times New Roman"/>
              </a:defRPr>
            </a:pPr>
            <a:r>
              <a:rPr sz="1500" b="1" i="0" dirty="0" err="1">
                <a:solidFill>
                  <a:srgbClr val="FFFFFF"/>
                </a:solidFill>
                <a:latin typeface="Times New Roman"/>
                <a:ea typeface="Times New Roman"/>
                <a:cs typeface="Times New Roman"/>
              </a:rPr>
              <a:t>Thuyết</a:t>
            </a:r>
            <a:r>
              <a:rPr sz="1500" b="1" i="0" dirty="0">
                <a:solidFill>
                  <a:srgbClr val="FFFFFF"/>
                </a:solidFill>
                <a:latin typeface="Times New Roman"/>
                <a:ea typeface="Times New Roman"/>
                <a:cs typeface="Times New Roman"/>
              </a:rPr>
              <a:t> </a:t>
            </a:r>
            <a:r>
              <a:rPr sz="1500" b="1" i="0" dirty="0" err="1">
                <a:solidFill>
                  <a:srgbClr val="FFFFFF"/>
                </a:solidFill>
                <a:latin typeface="Times New Roman"/>
                <a:ea typeface="Times New Roman"/>
                <a:cs typeface="Times New Roman"/>
              </a:rPr>
              <a:t>bất</a:t>
            </a:r>
            <a:r>
              <a:rPr sz="1500" b="1" i="0" dirty="0">
                <a:solidFill>
                  <a:srgbClr val="FFFFFF"/>
                </a:solidFill>
                <a:latin typeface="Times New Roman"/>
                <a:ea typeface="Times New Roman"/>
                <a:cs typeface="Times New Roman"/>
              </a:rPr>
              <a:t> </a:t>
            </a:r>
            <a:r>
              <a:rPr sz="1500" b="1" i="0" dirty="0" err="1">
                <a:solidFill>
                  <a:srgbClr val="FFFFFF"/>
                </a:solidFill>
                <a:latin typeface="Times New Roman"/>
                <a:ea typeface="Times New Roman"/>
                <a:cs typeface="Times New Roman"/>
              </a:rPr>
              <a:t>khả</a:t>
            </a:r>
            <a:r>
              <a:rPr sz="1500" b="1" i="0" dirty="0">
                <a:solidFill>
                  <a:srgbClr val="FFFFFF"/>
                </a:solidFill>
                <a:latin typeface="Times New Roman"/>
                <a:ea typeface="Times New Roman"/>
                <a:cs typeface="Times New Roman"/>
              </a:rPr>
              <a:t> tri</a:t>
            </a:r>
          </a:p>
        </p:txBody>
      </p:sp>
      <p:sp>
        <p:nvSpPr>
          <p:cNvPr id="13" name="Hình chữ nhật 12">
            <a:extLst>
              <a:ext uri="{FF2B5EF4-FFF2-40B4-BE49-F238E27FC236}">
                <a16:creationId xmlns:a16="http://schemas.microsoft.com/office/drawing/2014/main" id="{01EB890B-F0D9-45F5-BF90-4336D21570BF}"/>
              </a:ext>
            </a:extLst>
          </p:cNvPr>
          <p:cNvSpPr>
            <a:spLocks noGrp="1"/>
          </p:cNvSpPr>
          <p:nvPr/>
        </p:nvSpPr>
        <p:spPr>
          <a:xfrm>
            <a:off x="6214188" y="2677887"/>
            <a:ext cx="4644309" cy="1646464"/>
          </a:xfrm>
          <a:prstGeom prst="rect">
            <a:avLst/>
          </a:prstGeom>
          <a:noFill/>
          <a:ln w="0">
            <a:noFill/>
          </a:ln>
        </p:spPr>
        <p:txBody>
          <a:bodyPr anchor="t"/>
          <a:lstStyle/>
          <a:p>
            <a:pPr>
              <a:buNone/>
              <a:defRPr sz="1725" b="0" i="0">
                <a:solidFill>
                  <a:srgbClr val="1D2A35"/>
                </a:solidFill>
                <a:latin typeface="Times New Roman"/>
                <a:ea typeface="Times New Roman"/>
                <a:cs typeface="Times New Roman"/>
              </a:defRPr>
            </a:pPr>
            <a:r>
              <a:rPr sz="2800" b="0" i="0">
                <a:solidFill>
                  <a:srgbClr val="1D2A35"/>
                </a:solidFill>
                <a:latin typeface="Times New Roman"/>
                <a:ea typeface="Times New Roman"/>
                <a:cs typeface="Times New Roman"/>
              </a:rPr>
              <a:t>Phủ nhận khả năng nhận thức bản chất của đối tượng; cho rằng con người chỉ nắm được những biểu hiện bên ngoài, hữu hạn.</a:t>
            </a:r>
          </a:p>
        </p:txBody>
      </p:sp>
      <p:sp>
        <p:nvSpPr>
          <p:cNvPr id="14" name="Hình chữ nhật 13">
            <a:extLst>
              <a:ext uri="{FF2B5EF4-FFF2-40B4-BE49-F238E27FC236}">
                <a16:creationId xmlns:a16="http://schemas.microsoft.com/office/drawing/2014/main" id="{C03C1FB4-0AB0-44F1-A6A2-E1A5445B243D}"/>
              </a:ext>
            </a:extLst>
          </p:cNvPr>
          <p:cNvSpPr>
            <a:spLocks noGrp="1"/>
          </p:cNvSpPr>
          <p:nvPr/>
        </p:nvSpPr>
        <p:spPr>
          <a:xfrm>
            <a:off x="1066800" y="5505450"/>
            <a:ext cx="9620250" cy="495300"/>
          </a:xfrm>
          <a:prstGeom prst="rect">
            <a:avLst/>
          </a:prstGeom>
          <a:noFill/>
          <a:ln w="0">
            <a:noFill/>
          </a:ln>
        </p:spPr>
        <p:txBody>
          <a:bodyPr anchor="t"/>
          <a:lstStyle/>
          <a:p>
            <a:pPr algn="ctr">
              <a:buNone/>
              <a:defRPr sz="1575" b="1" i="0">
                <a:solidFill>
                  <a:srgbClr val="142B43"/>
                </a:solidFill>
                <a:latin typeface="Times New Roman"/>
                <a:ea typeface="Times New Roman"/>
                <a:cs typeface="Times New Roman"/>
              </a:defRPr>
            </a:pPr>
            <a:r>
              <a:rPr sz="2400" b="1" i="0">
                <a:solidFill>
                  <a:srgbClr val="142B43"/>
                </a:solidFill>
                <a:latin typeface="Times New Roman"/>
                <a:ea typeface="Times New Roman"/>
                <a:cs typeface="Times New Roman"/>
              </a:rPr>
              <a:t>Theo quan điểm duy vật biện chứng, con người có khả năng nhận thức vô hạn, dù mỗi giai đoạn nhận thức luôn có giới hạn lịch sử cụ thể.</a:t>
            </a:r>
          </a:p>
        </p:txBody>
      </p:sp>
    </p:spTree>
    <p:extLst>
      <p:ext uri="{BB962C8B-B14F-4D97-AF65-F5344CB8AC3E}">
        <p14:creationId xmlns:p14="http://schemas.microsoft.com/office/powerpoint/2010/main" val="651609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5" name="Hình chữ nhật 14">
            <a:extLst>
              <a:ext uri="{FF2B5EF4-FFF2-40B4-BE49-F238E27FC236}">
                <a16:creationId xmlns:a16="http://schemas.microsoft.com/office/drawing/2014/main" id="{ECB004E1-3258-4C00-92C2-D81EB3051D56}"/>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1.3. BIỆN CHỨNG VÀ SIÊU HÌNH</a:t>
            </a:r>
          </a:p>
        </p:txBody>
      </p:sp>
      <p:sp>
        <p:nvSpPr>
          <p:cNvPr id="2" name="Hình chữ nhật 1">
            <a:extLst>
              <a:ext uri="{FF2B5EF4-FFF2-40B4-BE49-F238E27FC236}">
                <a16:creationId xmlns:a16="http://schemas.microsoft.com/office/drawing/2014/main" id="{8AE28F58-4FFF-4552-A237-749DF3FBB171}"/>
              </a:ext>
            </a:extLst>
          </p:cNvPr>
          <p:cNvSpPr>
            <a:spLocks noGrp="1"/>
          </p:cNvSpPr>
          <p:nvPr/>
        </p:nvSpPr>
        <p:spPr>
          <a:xfrm>
            <a:off x="685800" y="774440"/>
            <a:ext cx="10001250" cy="559059"/>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2775" b="1" i="0">
                <a:solidFill>
                  <a:srgbClr val="142B43"/>
                </a:solidFill>
                <a:latin typeface="Times New Roman"/>
                <a:ea typeface="Times New Roman"/>
                <a:cs typeface="Times New Roman"/>
              </a:rPr>
              <a:t>Phương pháp siêu hình</a:t>
            </a:r>
          </a:p>
        </p:txBody>
      </p:sp>
      <p:sp>
        <p:nvSpPr>
          <p:cNvPr id="3" name="Hình chữ nhật 2">
            <a:extLst>
              <a:ext uri="{FF2B5EF4-FFF2-40B4-BE49-F238E27FC236}">
                <a16:creationId xmlns:a16="http://schemas.microsoft.com/office/drawing/2014/main" id="{794B830D-A62B-456A-867A-FDC0E7EB986D}"/>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31A07924-9CCC-4BB5-A3F2-46171CCE8710}"/>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43-45</a:t>
            </a:r>
          </a:p>
        </p:txBody>
      </p:sp>
      <p:sp>
        <p:nvSpPr>
          <p:cNvPr id="5" name="Hình chữ nhật 4">
            <a:extLst>
              <a:ext uri="{FF2B5EF4-FFF2-40B4-BE49-F238E27FC236}">
                <a16:creationId xmlns:a16="http://schemas.microsoft.com/office/drawing/2014/main" id="{4682119F-A1A1-4CF9-B860-CFF68D755535}"/>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17</a:t>
            </a:r>
          </a:p>
        </p:txBody>
      </p:sp>
      <p:sp>
        <p:nvSpPr>
          <p:cNvPr id="6" name="Hình chữ nhật: Góc Tròn 5">
            <a:extLst>
              <a:ext uri="{FF2B5EF4-FFF2-40B4-BE49-F238E27FC236}">
                <a16:creationId xmlns:a16="http://schemas.microsoft.com/office/drawing/2014/main" id="{1240196D-B375-4010-854B-CD5AA0982820}"/>
              </a:ext>
            </a:extLst>
          </p:cNvPr>
          <p:cNvSpPr>
            <a:spLocks noGrp="1"/>
          </p:cNvSpPr>
          <p:nvPr/>
        </p:nvSpPr>
        <p:spPr>
          <a:xfrm>
            <a:off x="685800" y="1943100"/>
            <a:ext cx="10363200" cy="1143000"/>
          </a:xfrm>
          <a:prstGeom prst="roundRect">
            <a:avLst>
              <a:gd name="adj" fmla="val 6667"/>
            </a:avLst>
          </a:prstGeom>
          <a:solidFill>
            <a:srgbClr val="F6E6E1"/>
          </a:solidFill>
          <a:ln w="0">
            <a:solidFill>
              <a:srgbClr val="F6E6E1"/>
            </a:solidFill>
          </a:ln>
        </p:spPr>
        <p:txBody>
          <a:bodyPr/>
          <a:lstStyle/>
          <a:p>
            <a:endParaRPr/>
          </a:p>
        </p:txBody>
      </p:sp>
      <p:sp>
        <p:nvSpPr>
          <p:cNvPr id="7" name="Hình chữ nhật 6">
            <a:extLst>
              <a:ext uri="{FF2B5EF4-FFF2-40B4-BE49-F238E27FC236}">
                <a16:creationId xmlns:a16="http://schemas.microsoft.com/office/drawing/2014/main" id="{AE31ECD9-56A9-4AEB-817E-41B3C00EB2F9}"/>
              </a:ext>
            </a:extLst>
          </p:cNvPr>
          <p:cNvSpPr>
            <a:spLocks noGrp="1"/>
          </p:cNvSpPr>
          <p:nvPr/>
        </p:nvSpPr>
        <p:spPr>
          <a:xfrm>
            <a:off x="1104900" y="2171700"/>
            <a:ext cx="9525000" cy="552450"/>
          </a:xfrm>
          <a:prstGeom prst="rect">
            <a:avLst/>
          </a:prstGeom>
          <a:noFill/>
          <a:ln w="0">
            <a:noFill/>
          </a:ln>
        </p:spPr>
        <p:txBody>
          <a:bodyPr anchor="t"/>
          <a:lstStyle/>
          <a:p>
            <a:pPr algn="ctr">
              <a:buNone/>
              <a:defRPr sz="2025" b="1" i="0">
                <a:solidFill>
                  <a:srgbClr val="142B43"/>
                </a:solidFill>
                <a:latin typeface="Times New Roman"/>
                <a:ea typeface="Times New Roman"/>
                <a:cs typeface="Times New Roman"/>
              </a:defRPr>
            </a:pPr>
            <a:r>
              <a:rPr sz="2400" b="1" i="0">
                <a:solidFill>
                  <a:srgbClr val="142B43"/>
                </a:solidFill>
                <a:latin typeface="Times New Roman"/>
                <a:ea typeface="Times New Roman"/>
                <a:cs typeface="Times New Roman"/>
              </a:rPr>
              <a:t>Nhìn sự vật trong trạng thái cô lập, tách rời khỏi các mối liên hệ và coi các mặt đối lập có ranh giới tuyệt đối.</a:t>
            </a:r>
          </a:p>
        </p:txBody>
      </p:sp>
      <p:sp>
        <p:nvSpPr>
          <p:cNvPr id="8" name="Hình chữ nhật: Góc Tròn 7">
            <a:extLst>
              <a:ext uri="{FF2B5EF4-FFF2-40B4-BE49-F238E27FC236}">
                <a16:creationId xmlns:a16="http://schemas.microsoft.com/office/drawing/2014/main" id="{855379D4-25DF-4672-A237-F9198649FFF3}"/>
              </a:ext>
            </a:extLst>
          </p:cNvPr>
          <p:cNvSpPr>
            <a:spLocks noGrp="1"/>
          </p:cNvSpPr>
          <p:nvPr/>
        </p:nvSpPr>
        <p:spPr>
          <a:xfrm>
            <a:off x="685800" y="3752850"/>
            <a:ext cx="2857500" cy="1200150"/>
          </a:xfrm>
          <a:prstGeom prst="roundRect">
            <a:avLst>
              <a:gd name="adj" fmla="val 6349"/>
            </a:avLst>
          </a:prstGeom>
          <a:solidFill>
            <a:srgbClr val="FFFDF8"/>
          </a:solidFill>
          <a:ln w="9525">
            <a:solidFill>
              <a:srgbClr val="D7D2C8"/>
            </a:solidFill>
          </a:ln>
        </p:spPr>
        <p:txBody>
          <a:bodyPr/>
          <a:lstStyle/>
          <a:p>
            <a:endParaRPr/>
          </a:p>
        </p:txBody>
      </p:sp>
      <p:sp>
        <p:nvSpPr>
          <p:cNvPr id="9" name="Hình chữ nhật 8">
            <a:extLst>
              <a:ext uri="{FF2B5EF4-FFF2-40B4-BE49-F238E27FC236}">
                <a16:creationId xmlns:a16="http://schemas.microsoft.com/office/drawing/2014/main" id="{FF19C8D2-BCCB-44A5-AAB6-36A94DCF1930}"/>
              </a:ext>
            </a:extLst>
          </p:cNvPr>
          <p:cNvSpPr>
            <a:spLocks noGrp="1"/>
          </p:cNvSpPr>
          <p:nvPr/>
        </p:nvSpPr>
        <p:spPr>
          <a:xfrm>
            <a:off x="895350" y="3900197"/>
            <a:ext cx="2438400" cy="728954"/>
          </a:xfrm>
          <a:prstGeom prst="rect">
            <a:avLst/>
          </a:prstGeom>
          <a:noFill/>
          <a:ln w="0">
            <a:noFill/>
          </a:ln>
        </p:spPr>
        <p:txBody>
          <a:bodyPr anchor="t"/>
          <a:lstStyle/>
          <a:p>
            <a:pPr algn="ctr">
              <a:buNone/>
              <a:defRPr sz="1575" b="1" i="0">
                <a:solidFill>
                  <a:srgbClr val="1D2A35"/>
                </a:solidFill>
                <a:latin typeface="Times New Roman"/>
                <a:ea typeface="Times New Roman"/>
                <a:cs typeface="Times New Roman"/>
              </a:defRPr>
            </a:pPr>
            <a:r>
              <a:rPr sz="2400" b="1" i="0">
                <a:solidFill>
                  <a:srgbClr val="1D2A35"/>
                </a:solidFill>
                <a:latin typeface="Times New Roman"/>
                <a:ea typeface="Times New Roman"/>
                <a:cs typeface="Times New Roman"/>
              </a:rPr>
              <a:t>Nhấn mạnh trạng thái tĩnh</a:t>
            </a:r>
          </a:p>
        </p:txBody>
      </p:sp>
      <p:sp>
        <p:nvSpPr>
          <p:cNvPr id="10" name="Hình chữ nhật: Góc Tròn 9">
            <a:extLst>
              <a:ext uri="{FF2B5EF4-FFF2-40B4-BE49-F238E27FC236}">
                <a16:creationId xmlns:a16="http://schemas.microsoft.com/office/drawing/2014/main" id="{A5E3BDDF-EDF4-4531-A384-CCBCFFDC1910}"/>
              </a:ext>
            </a:extLst>
          </p:cNvPr>
          <p:cNvSpPr>
            <a:spLocks noGrp="1"/>
          </p:cNvSpPr>
          <p:nvPr/>
        </p:nvSpPr>
        <p:spPr>
          <a:xfrm>
            <a:off x="4114800" y="3752850"/>
            <a:ext cx="2857500" cy="1200150"/>
          </a:xfrm>
          <a:prstGeom prst="roundRect">
            <a:avLst>
              <a:gd name="adj" fmla="val 6349"/>
            </a:avLst>
          </a:prstGeom>
          <a:solidFill>
            <a:srgbClr val="FFFDF8"/>
          </a:solidFill>
          <a:ln w="9525">
            <a:solidFill>
              <a:srgbClr val="D7D2C8"/>
            </a:solidFill>
          </a:ln>
        </p:spPr>
        <p:txBody>
          <a:bodyPr/>
          <a:lstStyle/>
          <a:p>
            <a:endParaRPr/>
          </a:p>
        </p:txBody>
      </p:sp>
      <p:sp>
        <p:nvSpPr>
          <p:cNvPr id="11" name="Hình chữ nhật 10">
            <a:extLst>
              <a:ext uri="{FF2B5EF4-FFF2-40B4-BE49-F238E27FC236}">
                <a16:creationId xmlns:a16="http://schemas.microsoft.com/office/drawing/2014/main" id="{A36ACF1A-5417-4B50-98D3-AAA8C8000A6F}"/>
              </a:ext>
            </a:extLst>
          </p:cNvPr>
          <p:cNvSpPr>
            <a:spLocks noGrp="1"/>
          </p:cNvSpPr>
          <p:nvPr/>
        </p:nvSpPr>
        <p:spPr>
          <a:xfrm>
            <a:off x="4114800" y="3809999"/>
            <a:ext cx="2857500" cy="819151"/>
          </a:xfrm>
          <a:prstGeom prst="rect">
            <a:avLst/>
          </a:prstGeom>
          <a:noFill/>
          <a:ln w="0">
            <a:noFill/>
          </a:ln>
        </p:spPr>
        <p:txBody>
          <a:bodyPr anchor="t"/>
          <a:lstStyle/>
          <a:p>
            <a:pPr algn="ctr">
              <a:buNone/>
              <a:defRPr sz="1575" b="1" i="0">
                <a:solidFill>
                  <a:srgbClr val="1D2A35"/>
                </a:solidFill>
                <a:latin typeface="Times New Roman"/>
                <a:ea typeface="Times New Roman"/>
                <a:cs typeface="Times New Roman"/>
              </a:defRPr>
            </a:pPr>
            <a:r>
              <a:rPr sz="2400" b="1" i="0">
                <a:solidFill>
                  <a:srgbClr val="1D2A35"/>
                </a:solidFill>
                <a:latin typeface="Times New Roman"/>
                <a:ea typeface="Times New Roman"/>
                <a:cs typeface="Times New Roman"/>
              </a:rPr>
              <a:t>Coi biến đổi chủ yếu là tăng giảm về lượng</a:t>
            </a:r>
          </a:p>
        </p:txBody>
      </p:sp>
      <p:sp>
        <p:nvSpPr>
          <p:cNvPr id="12" name="Hình chữ nhật: Góc Tròn 11">
            <a:extLst>
              <a:ext uri="{FF2B5EF4-FFF2-40B4-BE49-F238E27FC236}">
                <a16:creationId xmlns:a16="http://schemas.microsoft.com/office/drawing/2014/main" id="{DEC2449F-ACC5-45F0-AD08-D4EA7A7C7DB3}"/>
              </a:ext>
            </a:extLst>
          </p:cNvPr>
          <p:cNvSpPr>
            <a:spLocks noGrp="1"/>
          </p:cNvSpPr>
          <p:nvPr/>
        </p:nvSpPr>
        <p:spPr>
          <a:xfrm>
            <a:off x="7543800" y="3752850"/>
            <a:ext cx="2857500" cy="1200150"/>
          </a:xfrm>
          <a:prstGeom prst="roundRect">
            <a:avLst>
              <a:gd name="adj" fmla="val 6349"/>
            </a:avLst>
          </a:prstGeom>
          <a:solidFill>
            <a:srgbClr val="FFFDF8"/>
          </a:solidFill>
          <a:ln w="9525">
            <a:solidFill>
              <a:srgbClr val="D7D2C8"/>
            </a:solidFill>
          </a:ln>
        </p:spPr>
        <p:txBody>
          <a:bodyPr/>
          <a:lstStyle/>
          <a:p>
            <a:endParaRPr/>
          </a:p>
        </p:txBody>
      </p:sp>
      <p:sp>
        <p:nvSpPr>
          <p:cNvPr id="13" name="Hình chữ nhật 12">
            <a:extLst>
              <a:ext uri="{FF2B5EF4-FFF2-40B4-BE49-F238E27FC236}">
                <a16:creationId xmlns:a16="http://schemas.microsoft.com/office/drawing/2014/main" id="{01196C23-D32F-4FE1-AACD-3779F0DABCD5}"/>
              </a:ext>
            </a:extLst>
          </p:cNvPr>
          <p:cNvSpPr>
            <a:spLocks noGrp="1"/>
          </p:cNvSpPr>
          <p:nvPr/>
        </p:nvSpPr>
        <p:spPr>
          <a:xfrm>
            <a:off x="7543800" y="3752851"/>
            <a:ext cx="2857500" cy="914400"/>
          </a:xfrm>
          <a:prstGeom prst="rect">
            <a:avLst/>
          </a:prstGeom>
          <a:noFill/>
          <a:ln w="0">
            <a:noFill/>
          </a:ln>
        </p:spPr>
        <p:txBody>
          <a:bodyPr anchor="t"/>
          <a:lstStyle/>
          <a:p>
            <a:pPr algn="ctr">
              <a:buNone/>
              <a:defRPr sz="1575" b="1" i="0">
                <a:solidFill>
                  <a:srgbClr val="1D2A35"/>
                </a:solidFill>
                <a:latin typeface="Times New Roman"/>
                <a:ea typeface="Times New Roman"/>
                <a:cs typeface="Times New Roman"/>
              </a:defRPr>
            </a:pPr>
            <a:r>
              <a:rPr sz="2400" b="1" i="0">
                <a:solidFill>
                  <a:srgbClr val="1D2A35"/>
                </a:solidFill>
                <a:latin typeface="Times New Roman"/>
                <a:ea typeface="Times New Roman"/>
                <a:cs typeface="Times New Roman"/>
              </a:rPr>
              <a:t>Nguyên nhân biến đổi thường bị đẩy ra bên ngoài sự vật</a:t>
            </a:r>
          </a:p>
        </p:txBody>
      </p:sp>
      <p:sp>
        <p:nvSpPr>
          <p:cNvPr id="14" name="Hình chữ nhật 13">
            <a:extLst>
              <a:ext uri="{FF2B5EF4-FFF2-40B4-BE49-F238E27FC236}">
                <a16:creationId xmlns:a16="http://schemas.microsoft.com/office/drawing/2014/main" id="{FB26AE19-9FF5-4483-B348-2488ABFB234A}"/>
              </a:ext>
            </a:extLst>
          </p:cNvPr>
          <p:cNvSpPr>
            <a:spLocks noGrp="1"/>
          </p:cNvSpPr>
          <p:nvPr/>
        </p:nvSpPr>
        <p:spPr>
          <a:xfrm>
            <a:off x="1238250" y="5562600"/>
            <a:ext cx="9429750" cy="428625"/>
          </a:xfrm>
          <a:prstGeom prst="rect">
            <a:avLst/>
          </a:prstGeom>
          <a:noFill/>
          <a:ln w="0">
            <a:noFill/>
          </a:ln>
        </p:spPr>
        <p:txBody>
          <a:bodyPr anchor="t"/>
          <a:lstStyle/>
          <a:p>
            <a:pPr algn="ctr">
              <a:buNone/>
              <a:defRPr sz="1500"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Phương pháp này có giá trị trong phạm vi nghiên cứu cơ học cổ điển, nhưng trở nên hạn chế khi khái quát sang vận động và liên hệ của sự vật.</a:t>
            </a:r>
          </a:p>
        </p:txBody>
      </p:sp>
    </p:spTree>
    <p:extLst>
      <p:ext uri="{BB962C8B-B14F-4D97-AF65-F5344CB8AC3E}">
        <p14:creationId xmlns:p14="http://schemas.microsoft.com/office/powerpoint/2010/main" val="171590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7" name="Hình chữ nhật 16">
            <a:extLst>
              <a:ext uri="{FF2B5EF4-FFF2-40B4-BE49-F238E27FC236}">
                <a16:creationId xmlns:a16="http://schemas.microsoft.com/office/drawing/2014/main" id="{F99DA5C9-1ACD-4B50-8CEC-319A046641BC}"/>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1.3. BIỆN CHỨNG VÀ SIÊU HÌNH</a:t>
            </a:r>
          </a:p>
        </p:txBody>
      </p:sp>
      <p:sp>
        <p:nvSpPr>
          <p:cNvPr id="2" name="Hình chữ nhật 1">
            <a:extLst>
              <a:ext uri="{FF2B5EF4-FFF2-40B4-BE49-F238E27FC236}">
                <a16:creationId xmlns:a16="http://schemas.microsoft.com/office/drawing/2014/main" id="{C526A0E9-9AFF-4C3C-AC05-D702A16FFA35}"/>
              </a:ext>
            </a:extLst>
          </p:cNvPr>
          <p:cNvSpPr>
            <a:spLocks noGrp="1"/>
          </p:cNvSpPr>
          <p:nvPr/>
        </p:nvSpPr>
        <p:spPr>
          <a:xfrm>
            <a:off x="685800" y="762000"/>
            <a:ext cx="10001250" cy="57150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Phương</a:t>
            </a:r>
            <a:r>
              <a:rPr sz="2775" b="1" i="0">
                <a:solidFill>
                  <a:srgbClr val="142B43"/>
                </a:solidFill>
                <a:latin typeface="Times New Roman"/>
                <a:ea typeface="Times New Roman"/>
                <a:cs typeface="Times New Roman"/>
              </a:rPr>
              <a:t> </a:t>
            </a:r>
            <a:r>
              <a:rPr sz="3000" b="1" i="0">
                <a:solidFill>
                  <a:srgbClr val="142B43"/>
                </a:solidFill>
                <a:latin typeface="Times New Roman"/>
                <a:ea typeface="Times New Roman"/>
                <a:cs typeface="Times New Roman"/>
              </a:rPr>
              <a:t>pháp</a:t>
            </a:r>
            <a:r>
              <a:rPr sz="2775" b="1" i="0">
                <a:solidFill>
                  <a:srgbClr val="142B43"/>
                </a:solidFill>
                <a:latin typeface="Times New Roman"/>
                <a:ea typeface="Times New Roman"/>
                <a:cs typeface="Times New Roman"/>
              </a:rPr>
              <a:t> </a:t>
            </a:r>
            <a:r>
              <a:rPr sz="3000" b="1" i="0">
                <a:solidFill>
                  <a:srgbClr val="142B43"/>
                </a:solidFill>
                <a:latin typeface="Times New Roman"/>
                <a:ea typeface="Times New Roman"/>
                <a:cs typeface="Times New Roman"/>
              </a:rPr>
              <a:t>biện</a:t>
            </a:r>
            <a:r>
              <a:rPr sz="2775" b="1" i="0">
                <a:solidFill>
                  <a:srgbClr val="142B43"/>
                </a:solidFill>
                <a:latin typeface="Times New Roman"/>
                <a:ea typeface="Times New Roman"/>
                <a:cs typeface="Times New Roman"/>
              </a:rPr>
              <a:t> </a:t>
            </a:r>
            <a:r>
              <a:rPr sz="3000" b="1" i="0">
                <a:solidFill>
                  <a:srgbClr val="142B43"/>
                </a:solidFill>
                <a:latin typeface="Times New Roman"/>
                <a:ea typeface="Times New Roman"/>
                <a:cs typeface="Times New Roman"/>
              </a:rPr>
              <a:t>chứng</a:t>
            </a:r>
            <a:endParaRPr sz="2775" b="1" i="0">
              <a:solidFill>
                <a:srgbClr val="142B43"/>
              </a:solidFill>
              <a:latin typeface="Times New Roman"/>
              <a:ea typeface="Times New Roman"/>
              <a:cs typeface="Times New Roman"/>
            </a:endParaRPr>
          </a:p>
        </p:txBody>
      </p:sp>
      <p:sp>
        <p:nvSpPr>
          <p:cNvPr id="3" name="Hình chữ nhật 2">
            <a:extLst>
              <a:ext uri="{FF2B5EF4-FFF2-40B4-BE49-F238E27FC236}">
                <a16:creationId xmlns:a16="http://schemas.microsoft.com/office/drawing/2014/main" id="{0BCAFC5B-AA34-4E14-AF78-C940ED2B7083}"/>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17D4CC96-723C-4378-9345-87AA27B93C43}"/>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45-47</a:t>
            </a:r>
          </a:p>
        </p:txBody>
      </p:sp>
      <p:sp>
        <p:nvSpPr>
          <p:cNvPr id="5" name="Hình chữ nhật 4">
            <a:extLst>
              <a:ext uri="{FF2B5EF4-FFF2-40B4-BE49-F238E27FC236}">
                <a16:creationId xmlns:a16="http://schemas.microsoft.com/office/drawing/2014/main" id="{C4D7294A-596D-44C5-B7DB-ECF42553798A}"/>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18</a:t>
            </a:r>
          </a:p>
        </p:txBody>
      </p:sp>
      <p:sp>
        <p:nvSpPr>
          <p:cNvPr id="6" name="Hình chữ nhật: Góc Tròn 5">
            <a:extLst>
              <a:ext uri="{FF2B5EF4-FFF2-40B4-BE49-F238E27FC236}">
                <a16:creationId xmlns:a16="http://schemas.microsoft.com/office/drawing/2014/main" id="{81DA06DB-9A8C-4596-84A0-7ECFA752B4B0}"/>
              </a:ext>
            </a:extLst>
          </p:cNvPr>
          <p:cNvSpPr>
            <a:spLocks noGrp="1"/>
          </p:cNvSpPr>
          <p:nvPr/>
        </p:nvSpPr>
        <p:spPr>
          <a:xfrm>
            <a:off x="685800" y="1847850"/>
            <a:ext cx="10363200" cy="1047750"/>
          </a:xfrm>
          <a:prstGeom prst="roundRect">
            <a:avLst>
              <a:gd name="adj" fmla="val 7273"/>
            </a:avLst>
          </a:prstGeom>
          <a:solidFill>
            <a:srgbClr val="142B43"/>
          </a:solidFill>
          <a:ln w="0">
            <a:solidFill>
              <a:srgbClr val="142B43"/>
            </a:solidFill>
          </a:ln>
        </p:spPr>
        <p:txBody>
          <a:bodyPr/>
          <a:lstStyle/>
          <a:p>
            <a:endParaRPr/>
          </a:p>
        </p:txBody>
      </p:sp>
      <p:sp>
        <p:nvSpPr>
          <p:cNvPr id="7" name="Hình chữ nhật 6">
            <a:extLst>
              <a:ext uri="{FF2B5EF4-FFF2-40B4-BE49-F238E27FC236}">
                <a16:creationId xmlns:a16="http://schemas.microsoft.com/office/drawing/2014/main" id="{86EB4733-1F4F-429F-A3DC-2D8AD2FAA6E8}"/>
              </a:ext>
            </a:extLst>
          </p:cNvPr>
          <p:cNvSpPr>
            <a:spLocks noGrp="1"/>
          </p:cNvSpPr>
          <p:nvPr/>
        </p:nvSpPr>
        <p:spPr>
          <a:xfrm>
            <a:off x="1104900" y="1981200"/>
            <a:ext cx="9525000" cy="738378"/>
          </a:xfrm>
          <a:prstGeom prst="rect">
            <a:avLst/>
          </a:prstGeom>
          <a:noFill/>
          <a:ln w="0">
            <a:noFill/>
          </a:ln>
        </p:spPr>
        <p:txBody>
          <a:bodyPr anchor="t"/>
          <a:lstStyle/>
          <a:p>
            <a:pPr algn="ctr">
              <a:buNone/>
              <a:defRPr sz="2025" b="1" i="0">
                <a:solidFill>
                  <a:srgbClr val="FFFFFF"/>
                </a:solidFill>
                <a:latin typeface="Times New Roman"/>
                <a:ea typeface="Times New Roman"/>
                <a:cs typeface="Times New Roman"/>
              </a:defRPr>
            </a:pPr>
            <a:r>
              <a:rPr sz="2600" b="1" i="0">
                <a:solidFill>
                  <a:srgbClr val="FFFFFF"/>
                </a:solidFill>
                <a:latin typeface="Times New Roman"/>
                <a:ea typeface="Times New Roman"/>
                <a:cs typeface="Times New Roman"/>
              </a:rPr>
              <a:t>Nhận</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thức</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đối</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tượng</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trong</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các</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mối</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liên</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hệ</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phổ</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biến, trong</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trạng</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thái</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vận</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động, biến</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đổi</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và</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phát</a:t>
            </a:r>
            <a:r>
              <a:rPr sz="2400" b="1" i="0">
                <a:solidFill>
                  <a:srgbClr val="FFFFFF"/>
                </a:solidFill>
                <a:latin typeface="Times New Roman"/>
                <a:ea typeface="Times New Roman"/>
                <a:cs typeface="Times New Roman"/>
              </a:rPr>
              <a:t> </a:t>
            </a:r>
            <a:r>
              <a:rPr sz="2600" b="1" i="0">
                <a:solidFill>
                  <a:srgbClr val="FFFFFF"/>
                </a:solidFill>
                <a:latin typeface="Times New Roman"/>
                <a:ea typeface="Times New Roman"/>
                <a:cs typeface="Times New Roman"/>
              </a:rPr>
              <a:t>triển.</a:t>
            </a:r>
          </a:p>
        </p:txBody>
      </p:sp>
      <p:sp>
        <p:nvSpPr>
          <p:cNvPr id="8" name="Hình chữ nhật: Góc Tròn 7">
            <a:extLst>
              <a:ext uri="{FF2B5EF4-FFF2-40B4-BE49-F238E27FC236}">
                <a16:creationId xmlns:a16="http://schemas.microsoft.com/office/drawing/2014/main" id="{CAB5C34D-6324-4560-8C36-3EBDDE341FDE}"/>
              </a:ext>
            </a:extLst>
          </p:cNvPr>
          <p:cNvSpPr>
            <a:spLocks noGrp="1"/>
          </p:cNvSpPr>
          <p:nvPr/>
        </p:nvSpPr>
        <p:spPr>
          <a:xfrm>
            <a:off x="685800" y="3543300"/>
            <a:ext cx="2857500" cy="1619250"/>
          </a:xfrm>
          <a:prstGeom prst="roundRect">
            <a:avLst>
              <a:gd name="adj" fmla="val 4706"/>
            </a:avLst>
          </a:prstGeom>
          <a:solidFill>
            <a:srgbClr val="EAF1F4"/>
          </a:solidFill>
          <a:ln w="0">
            <a:noFill/>
          </a:ln>
        </p:spPr>
        <p:txBody>
          <a:bodyPr/>
          <a:lstStyle/>
          <a:p>
            <a:endParaRPr/>
          </a:p>
        </p:txBody>
      </p:sp>
      <p:sp>
        <p:nvSpPr>
          <p:cNvPr id="9" name="Hình chữ nhật 8">
            <a:extLst>
              <a:ext uri="{FF2B5EF4-FFF2-40B4-BE49-F238E27FC236}">
                <a16:creationId xmlns:a16="http://schemas.microsoft.com/office/drawing/2014/main" id="{CDDBA4DE-E94D-496C-B09E-0E9A55B7E9EA}"/>
              </a:ext>
            </a:extLst>
          </p:cNvPr>
          <p:cNvSpPr>
            <a:spLocks noGrp="1"/>
          </p:cNvSpPr>
          <p:nvPr/>
        </p:nvSpPr>
        <p:spPr>
          <a:xfrm>
            <a:off x="914400" y="3543300"/>
            <a:ext cx="2400300" cy="679704"/>
          </a:xfrm>
          <a:prstGeom prst="rect">
            <a:avLst/>
          </a:prstGeom>
          <a:noFill/>
          <a:ln w="0">
            <a:noFill/>
          </a:ln>
        </p:spPr>
        <p:txBody>
          <a:bodyPr anchor="t">
            <a:noAutofit/>
          </a:bodyPr>
          <a:lstStyle/>
          <a:p>
            <a:pPr algn="ctr">
              <a:buNone/>
              <a:defRPr sz="1875" b="1" i="0">
                <a:solidFill>
                  <a:srgbClr val="142B43"/>
                </a:solidFill>
                <a:latin typeface="Times New Roman"/>
                <a:ea typeface="Times New Roman"/>
                <a:cs typeface="Times New Roman"/>
              </a:defRPr>
            </a:pPr>
            <a:r>
              <a:rPr sz="2600" b="1" i="0">
                <a:solidFill>
                  <a:srgbClr val="142B43"/>
                </a:solidFill>
                <a:latin typeface="Times New Roman"/>
                <a:ea typeface="Times New Roman"/>
                <a:cs typeface="Times New Roman"/>
              </a:rPr>
              <a:t>Mối</a:t>
            </a:r>
            <a:r>
              <a:rPr sz="2400" b="1" i="0">
                <a:solidFill>
                  <a:srgbClr val="142B43"/>
                </a:solidFill>
                <a:latin typeface="Times New Roman"/>
                <a:ea typeface="Times New Roman"/>
                <a:cs typeface="Times New Roman"/>
              </a:rPr>
              <a:t> </a:t>
            </a:r>
            <a:r>
              <a:rPr sz="2600" b="1" i="0">
                <a:solidFill>
                  <a:srgbClr val="142B43"/>
                </a:solidFill>
                <a:latin typeface="Times New Roman"/>
                <a:ea typeface="Times New Roman"/>
                <a:cs typeface="Times New Roman"/>
              </a:rPr>
              <a:t>liên</a:t>
            </a:r>
            <a:r>
              <a:rPr sz="2400" b="1" i="0">
                <a:solidFill>
                  <a:srgbClr val="142B43"/>
                </a:solidFill>
                <a:latin typeface="Times New Roman"/>
                <a:ea typeface="Times New Roman"/>
                <a:cs typeface="Times New Roman"/>
              </a:rPr>
              <a:t> </a:t>
            </a:r>
            <a:r>
              <a:rPr sz="2600" b="1" i="0">
                <a:solidFill>
                  <a:srgbClr val="142B43"/>
                </a:solidFill>
                <a:latin typeface="Times New Roman"/>
                <a:ea typeface="Times New Roman"/>
                <a:cs typeface="Times New Roman"/>
              </a:rPr>
              <a:t>hệ</a:t>
            </a:r>
            <a:endParaRPr sz="2400" b="1" i="0">
              <a:solidFill>
                <a:srgbClr val="142B43"/>
              </a:solidFill>
              <a:latin typeface="Times New Roman"/>
              <a:ea typeface="Times New Roman"/>
              <a:cs typeface="Times New Roman"/>
            </a:endParaRPr>
          </a:p>
        </p:txBody>
      </p:sp>
      <p:sp>
        <p:nvSpPr>
          <p:cNvPr id="10" name="Hình chữ nhật 9">
            <a:extLst>
              <a:ext uri="{FF2B5EF4-FFF2-40B4-BE49-F238E27FC236}">
                <a16:creationId xmlns:a16="http://schemas.microsoft.com/office/drawing/2014/main" id="{B2B0E29B-CA5D-4C86-A686-9F3B67CE6C67}"/>
              </a:ext>
            </a:extLst>
          </p:cNvPr>
          <p:cNvSpPr>
            <a:spLocks noGrp="1"/>
          </p:cNvSpPr>
          <p:nvPr/>
        </p:nvSpPr>
        <p:spPr>
          <a:xfrm>
            <a:off x="839755" y="4091178"/>
            <a:ext cx="2703545" cy="876300"/>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Các</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bộ</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phận</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tác</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động, ràng</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buộc</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và</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quy</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định</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lẫn</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nhau.</a:t>
            </a:r>
          </a:p>
        </p:txBody>
      </p:sp>
      <p:sp>
        <p:nvSpPr>
          <p:cNvPr id="11" name="Hình chữ nhật: Góc Tròn 10">
            <a:extLst>
              <a:ext uri="{FF2B5EF4-FFF2-40B4-BE49-F238E27FC236}">
                <a16:creationId xmlns:a16="http://schemas.microsoft.com/office/drawing/2014/main" id="{CEDA349E-2E80-4107-B5AD-4970096392FE}"/>
              </a:ext>
            </a:extLst>
          </p:cNvPr>
          <p:cNvSpPr>
            <a:spLocks noGrp="1"/>
          </p:cNvSpPr>
          <p:nvPr/>
        </p:nvSpPr>
        <p:spPr>
          <a:xfrm>
            <a:off x="3970176" y="3476625"/>
            <a:ext cx="2857500" cy="1619250"/>
          </a:xfrm>
          <a:prstGeom prst="roundRect">
            <a:avLst>
              <a:gd name="adj" fmla="val 4706"/>
            </a:avLst>
          </a:prstGeom>
          <a:solidFill>
            <a:srgbClr val="F8EFD9"/>
          </a:solidFill>
          <a:ln w="0">
            <a:noFill/>
          </a:ln>
        </p:spPr>
        <p:txBody>
          <a:bodyPr/>
          <a:lstStyle/>
          <a:p>
            <a:endParaRPr/>
          </a:p>
        </p:txBody>
      </p:sp>
      <p:sp>
        <p:nvSpPr>
          <p:cNvPr id="12" name="Hình chữ nhật 11">
            <a:extLst>
              <a:ext uri="{FF2B5EF4-FFF2-40B4-BE49-F238E27FC236}">
                <a16:creationId xmlns:a16="http://schemas.microsoft.com/office/drawing/2014/main" id="{82AC53E4-86BF-48AE-87DE-325B91C26F89}"/>
              </a:ext>
            </a:extLst>
          </p:cNvPr>
          <p:cNvSpPr>
            <a:spLocks noGrp="1"/>
          </p:cNvSpPr>
          <p:nvPr/>
        </p:nvSpPr>
        <p:spPr>
          <a:xfrm>
            <a:off x="4343400" y="3543300"/>
            <a:ext cx="2400300" cy="679704"/>
          </a:xfrm>
          <a:prstGeom prst="rect">
            <a:avLst/>
          </a:prstGeom>
          <a:noFill/>
          <a:ln w="0">
            <a:noFill/>
          </a:ln>
        </p:spPr>
        <p:txBody>
          <a:bodyPr anchor="t">
            <a:noAutofit/>
          </a:bodyPr>
          <a:lstStyle/>
          <a:p>
            <a:pPr algn="ctr">
              <a:buNone/>
              <a:defRPr sz="1875" b="1" i="0">
                <a:solidFill>
                  <a:srgbClr val="142B43"/>
                </a:solidFill>
                <a:latin typeface="Times New Roman"/>
                <a:ea typeface="Times New Roman"/>
                <a:cs typeface="Times New Roman"/>
              </a:defRPr>
            </a:pPr>
            <a:r>
              <a:rPr sz="2600" b="1" i="0">
                <a:solidFill>
                  <a:srgbClr val="142B43"/>
                </a:solidFill>
                <a:latin typeface="Times New Roman"/>
                <a:ea typeface="Times New Roman"/>
                <a:cs typeface="Times New Roman"/>
              </a:rPr>
              <a:t>Vận</a:t>
            </a:r>
            <a:r>
              <a:rPr sz="2400" b="1" i="0">
                <a:solidFill>
                  <a:srgbClr val="142B43"/>
                </a:solidFill>
                <a:latin typeface="Times New Roman"/>
                <a:ea typeface="Times New Roman"/>
                <a:cs typeface="Times New Roman"/>
              </a:rPr>
              <a:t> </a:t>
            </a:r>
            <a:r>
              <a:rPr sz="2600" b="1" i="0">
                <a:solidFill>
                  <a:srgbClr val="142B43"/>
                </a:solidFill>
                <a:latin typeface="Times New Roman"/>
                <a:ea typeface="Times New Roman"/>
                <a:cs typeface="Times New Roman"/>
              </a:rPr>
              <a:t>động</a:t>
            </a:r>
            <a:endParaRPr sz="2400" b="1" i="0">
              <a:solidFill>
                <a:srgbClr val="142B43"/>
              </a:solidFill>
              <a:latin typeface="Times New Roman"/>
              <a:ea typeface="Times New Roman"/>
              <a:cs typeface="Times New Roman"/>
            </a:endParaRPr>
          </a:p>
        </p:txBody>
      </p:sp>
      <p:sp>
        <p:nvSpPr>
          <p:cNvPr id="13" name="Hình chữ nhật 12">
            <a:extLst>
              <a:ext uri="{FF2B5EF4-FFF2-40B4-BE49-F238E27FC236}">
                <a16:creationId xmlns:a16="http://schemas.microsoft.com/office/drawing/2014/main" id="{0D6395BE-F1C5-40EF-8FF9-09D9B876BD0E}"/>
              </a:ext>
            </a:extLst>
          </p:cNvPr>
          <p:cNvSpPr>
            <a:spLocks noGrp="1"/>
          </p:cNvSpPr>
          <p:nvPr/>
        </p:nvSpPr>
        <p:spPr>
          <a:xfrm>
            <a:off x="3951514" y="4068325"/>
            <a:ext cx="2936810" cy="990594"/>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Sự</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vật</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không</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ngừng</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biến</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đổi</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cả</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về</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lượng</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và</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chất.</a:t>
            </a:r>
          </a:p>
        </p:txBody>
      </p:sp>
      <p:sp>
        <p:nvSpPr>
          <p:cNvPr id="14" name="Hình chữ nhật: Góc Tròn 13">
            <a:extLst>
              <a:ext uri="{FF2B5EF4-FFF2-40B4-BE49-F238E27FC236}">
                <a16:creationId xmlns:a16="http://schemas.microsoft.com/office/drawing/2014/main" id="{1307160D-E84A-4E30-8E51-27939E38571C}"/>
              </a:ext>
            </a:extLst>
          </p:cNvPr>
          <p:cNvSpPr>
            <a:spLocks noGrp="1"/>
          </p:cNvSpPr>
          <p:nvPr/>
        </p:nvSpPr>
        <p:spPr>
          <a:xfrm>
            <a:off x="7543800" y="3543300"/>
            <a:ext cx="2857500" cy="1619250"/>
          </a:xfrm>
          <a:prstGeom prst="roundRect">
            <a:avLst>
              <a:gd name="adj" fmla="val 4706"/>
            </a:avLst>
          </a:prstGeom>
          <a:solidFill>
            <a:srgbClr val="F6E6E1"/>
          </a:solidFill>
          <a:ln w="0">
            <a:noFill/>
          </a:ln>
        </p:spPr>
        <p:txBody>
          <a:bodyPr/>
          <a:lstStyle/>
          <a:p>
            <a:endParaRPr/>
          </a:p>
        </p:txBody>
      </p:sp>
      <p:sp>
        <p:nvSpPr>
          <p:cNvPr id="15" name="Hình chữ nhật 14">
            <a:extLst>
              <a:ext uri="{FF2B5EF4-FFF2-40B4-BE49-F238E27FC236}">
                <a16:creationId xmlns:a16="http://schemas.microsoft.com/office/drawing/2014/main" id="{2814DAE7-7EDE-448E-B052-3DA05BD484A5}"/>
              </a:ext>
            </a:extLst>
          </p:cNvPr>
          <p:cNvSpPr>
            <a:spLocks noGrp="1"/>
          </p:cNvSpPr>
          <p:nvPr/>
        </p:nvSpPr>
        <p:spPr>
          <a:xfrm>
            <a:off x="7772400" y="3543300"/>
            <a:ext cx="2400300" cy="679704"/>
          </a:xfrm>
          <a:prstGeom prst="rect">
            <a:avLst/>
          </a:prstGeom>
          <a:noFill/>
          <a:ln w="0">
            <a:noFill/>
          </a:ln>
        </p:spPr>
        <p:txBody>
          <a:bodyPr anchor="t">
            <a:noAutofit/>
          </a:bodyPr>
          <a:lstStyle/>
          <a:p>
            <a:pPr algn="ctr">
              <a:buNone/>
              <a:defRPr sz="1875" b="1" i="0">
                <a:solidFill>
                  <a:srgbClr val="142B43"/>
                </a:solidFill>
                <a:latin typeface="Times New Roman"/>
                <a:ea typeface="Times New Roman"/>
                <a:cs typeface="Times New Roman"/>
              </a:defRPr>
            </a:pPr>
            <a:r>
              <a:rPr sz="2600" b="1" i="0">
                <a:solidFill>
                  <a:srgbClr val="142B43"/>
                </a:solidFill>
                <a:latin typeface="Times New Roman"/>
                <a:ea typeface="Times New Roman"/>
                <a:cs typeface="Times New Roman"/>
              </a:rPr>
              <a:t>Phát</a:t>
            </a:r>
            <a:r>
              <a:rPr sz="2400" b="1" i="0">
                <a:solidFill>
                  <a:srgbClr val="142B43"/>
                </a:solidFill>
                <a:latin typeface="Times New Roman"/>
                <a:ea typeface="Times New Roman"/>
                <a:cs typeface="Times New Roman"/>
              </a:rPr>
              <a:t> </a:t>
            </a:r>
            <a:r>
              <a:rPr sz="2600" b="1" i="0">
                <a:solidFill>
                  <a:srgbClr val="142B43"/>
                </a:solidFill>
                <a:latin typeface="Times New Roman"/>
                <a:ea typeface="Times New Roman"/>
                <a:cs typeface="Times New Roman"/>
              </a:rPr>
              <a:t>triển</a:t>
            </a:r>
            <a:endParaRPr sz="2400" b="1" i="0">
              <a:solidFill>
                <a:srgbClr val="142B43"/>
              </a:solidFill>
              <a:latin typeface="Times New Roman"/>
              <a:ea typeface="Times New Roman"/>
              <a:cs typeface="Times New Roman"/>
            </a:endParaRPr>
          </a:p>
        </p:txBody>
      </p:sp>
      <p:sp>
        <p:nvSpPr>
          <p:cNvPr id="16" name="Hình chữ nhật 15">
            <a:extLst>
              <a:ext uri="{FF2B5EF4-FFF2-40B4-BE49-F238E27FC236}">
                <a16:creationId xmlns:a16="http://schemas.microsoft.com/office/drawing/2014/main" id="{E9A649A9-7641-4649-AF13-21D5ED077F6C}"/>
              </a:ext>
            </a:extLst>
          </p:cNvPr>
          <p:cNvSpPr>
            <a:spLocks noGrp="1"/>
          </p:cNvSpPr>
          <p:nvPr/>
        </p:nvSpPr>
        <p:spPr>
          <a:xfrm>
            <a:off x="7464490" y="3971927"/>
            <a:ext cx="2936810" cy="885824"/>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Nguồn</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gốc</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nằm</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trong</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mâu</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thuẫn</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và</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sự</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đấu</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tranh</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giữa</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các</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mặt</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đối</a:t>
            </a:r>
            <a:r>
              <a:rPr sz="2000" b="0" i="0">
                <a:solidFill>
                  <a:srgbClr val="1D2A35"/>
                </a:solidFill>
                <a:latin typeface="Times New Roman"/>
                <a:ea typeface="Times New Roman"/>
                <a:cs typeface="Times New Roman"/>
              </a:rPr>
              <a:t> </a:t>
            </a:r>
            <a:r>
              <a:rPr sz="2400" b="0" i="0">
                <a:solidFill>
                  <a:srgbClr val="1D2A35"/>
                </a:solidFill>
                <a:latin typeface="Times New Roman"/>
                <a:ea typeface="Times New Roman"/>
                <a:cs typeface="Times New Roman"/>
              </a:rPr>
              <a:t>lập.</a:t>
            </a:r>
          </a:p>
        </p:txBody>
      </p:sp>
      <p:sp>
        <p:nvSpPr>
          <p:cNvPr id="18" name="Ví dụ minh họa">
            <a:extLst>
              <a:ext uri="{FF2B5EF4-FFF2-40B4-BE49-F238E27FC236}">
                <a16:creationId xmlns:a16="http://schemas.microsoft.com/office/drawing/2014/main" id="{1D8E4DF0-790E-4BD1-ACB7-BF5376079603}"/>
              </a:ext>
            </a:extLst>
          </p:cNvPr>
          <p:cNvSpPr>
            <a:spLocks noGrp="1"/>
          </p:cNvSpPr>
          <p:nvPr/>
        </p:nvSpPr>
        <p:spPr>
          <a:xfrm>
            <a:off x="685800" y="5715000"/>
            <a:ext cx="10363200" cy="400050"/>
          </a:xfrm>
          <a:prstGeom prst="roundRect">
            <a:avLst>
              <a:gd name="adj" fmla="val 28571"/>
            </a:avLst>
          </a:prstGeom>
          <a:solidFill>
            <a:srgbClr val="FFF4D8"/>
          </a:solidFill>
          <a:ln w="0">
            <a:noFill/>
          </a:ln>
        </p:spPr>
        <p:txBody>
          <a:bodyPr lIns="190500" tIns="76200" rIns="190500" bIns="76200" anchor="ctr">
            <a:noAutofit/>
          </a:bodyPr>
          <a:lstStyle/>
          <a:p>
            <a:pPr algn="l">
              <a:defRPr sz="1350" b="0">
                <a:solidFill>
                  <a:srgbClr val="A94D3E"/>
                </a:solidFill>
                <a:latin typeface="Times New Roman"/>
                <a:ea typeface="Times New Roman"/>
                <a:cs typeface="Times New Roman"/>
              </a:defRPr>
            </a:pPr>
            <a:r>
              <a:rPr sz="2000" b="0" dirty="0" err="1">
                <a:solidFill>
                  <a:srgbClr val="A94D3E"/>
                </a:solidFill>
                <a:latin typeface="Times New Roman"/>
                <a:ea typeface="Times New Roman"/>
                <a:cs typeface="Times New Roman"/>
              </a:rPr>
              <a:t>Ví</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dụ</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Muốn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hiểu</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kết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quả</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học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tập</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cần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xem</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đồng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thời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phương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pháp</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học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thời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gian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ôn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sức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khỏe</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và</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môi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trường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học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tập</a:t>
            </a:r>
            <a:r>
              <a:rPr sz="2000" b="0" dirty="0">
                <a:solidFill>
                  <a:srgbClr val="A94D3E"/>
                </a:solidFill>
                <a:latin typeface="Times New Roman"/>
                <a:ea typeface="Times New Roman"/>
                <a:cs typeface="Times New Roman"/>
              </a:rPr>
              <a:t>.</a:t>
            </a:r>
          </a:p>
        </p:txBody>
      </p:sp>
    </p:spTree>
    <p:extLst>
      <p:ext uri="{BB962C8B-B14F-4D97-AF65-F5344CB8AC3E}">
        <p14:creationId xmlns:p14="http://schemas.microsoft.com/office/powerpoint/2010/main" val="1175809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6" name="Hình chữ nhật 15">
            <a:extLst>
              <a:ext uri="{FF2B5EF4-FFF2-40B4-BE49-F238E27FC236}">
                <a16:creationId xmlns:a16="http://schemas.microsoft.com/office/drawing/2014/main" id="{872CF2E8-47C2-464E-A57E-DB44FECF1583}"/>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1.3. BIỆN CHỨNG VÀ SIÊU HÌNH</a:t>
            </a:r>
          </a:p>
        </p:txBody>
      </p:sp>
      <p:sp>
        <p:nvSpPr>
          <p:cNvPr id="2" name="Hình chữ nhật 1">
            <a:extLst>
              <a:ext uri="{FF2B5EF4-FFF2-40B4-BE49-F238E27FC236}">
                <a16:creationId xmlns:a16="http://schemas.microsoft.com/office/drawing/2014/main" id="{16B2DA18-E18D-46A9-BB9C-54E5519EFF2A}"/>
              </a:ext>
            </a:extLst>
          </p:cNvPr>
          <p:cNvSpPr>
            <a:spLocks noGrp="1"/>
          </p:cNvSpPr>
          <p:nvPr/>
        </p:nvSpPr>
        <p:spPr>
          <a:xfrm>
            <a:off x="685800" y="765794"/>
            <a:ext cx="10001250" cy="567706"/>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Ba hình thức lịch sử của phép biện chứng</a:t>
            </a:r>
          </a:p>
        </p:txBody>
      </p:sp>
      <p:sp>
        <p:nvSpPr>
          <p:cNvPr id="3" name="Hình chữ nhật 2">
            <a:extLst>
              <a:ext uri="{FF2B5EF4-FFF2-40B4-BE49-F238E27FC236}">
                <a16:creationId xmlns:a16="http://schemas.microsoft.com/office/drawing/2014/main" id="{317036E3-4342-410C-8F8F-5E9289B40D76}"/>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3745D5CA-DE0C-4406-9199-F2DA7D676EAB}"/>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46-47</a:t>
            </a:r>
          </a:p>
        </p:txBody>
      </p:sp>
      <p:sp>
        <p:nvSpPr>
          <p:cNvPr id="5" name="Hình chữ nhật 4">
            <a:extLst>
              <a:ext uri="{FF2B5EF4-FFF2-40B4-BE49-F238E27FC236}">
                <a16:creationId xmlns:a16="http://schemas.microsoft.com/office/drawing/2014/main" id="{A1CBEDEF-B520-41DC-AB3F-42FCFFFCEED2}"/>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19</a:t>
            </a:r>
          </a:p>
        </p:txBody>
      </p:sp>
      <p:sp>
        <p:nvSpPr>
          <p:cNvPr id="6" name="Hình chữ nhật: Góc Tròn 5">
            <a:extLst>
              <a:ext uri="{FF2B5EF4-FFF2-40B4-BE49-F238E27FC236}">
                <a16:creationId xmlns:a16="http://schemas.microsoft.com/office/drawing/2014/main" id="{BF0A7C6B-3003-4315-9A5D-EF95AFF3B2FC}"/>
              </a:ext>
            </a:extLst>
          </p:cNvPr>
          <p:cNvSpPr>
            <a:spLocks noGrp="1"/>
          </p:cNvSpPr>
          <p:nvPr/>
        </p:nvSpPr>
        <p:spPr>
          <a:xfrm>
            <a:off x="685800" y="2038350"/>
            <a:ext cx="2857500" cy="2952750"/>
          </a:xfrm>
          <a:prstGeom prst="roundRect">
            <a:avLst>
              <a:gd name="adj" fmla="val 2667"/>
            </a:avLst>
          </a:prstGeom>
          <a:solidFill>
            <a:srgbClr val="F8EFD9"/>
          </a:solidFill>
          <a:ln w="0">
            <a:solidFill>
              <a:srgbClr val="F8EFD9"/>
            </a:solidFill>
          </a:ln>
        </p:spPr>
        <p:txBody>
          <a:bodyPr/>
          <a:lstStyle/>
          <a:p>
            <a:endParaRPr/>
          </a:p>
        </p:txBody>
      </p:sp>
      <p:sp>
        <p:nvSpPr>
          <p:cNvPr id="7" name="Hình chữ nhật 6">
            <a:extLst>
              <a:ext uri="{FF2B5EF4-FFF2-40B4-BE49-F238E27FC236}">
                <a16:creationId xmlns:a16="http://schemas.microsoft.com/office/drawing/2014/main" id="{9A3A2B0E-F802-4D5B-9CC8-E6BE4CA21721}"/>
              </a:ext>
            </a:extLst>
          </p:cNvPr>
          <p:cNvSpPr>
            <a:spLocks noGrp="1"/>
          </p:cNvSpPr>
          <p:nvPr/>
        </p:nvSpPr>
        <p:spPr>
          <a:xfrm>
            <a:off x="685800" y="2381250"/>
            <a:ext cx="2857500" cy="681228"/>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Biện chứng tự phát</a:t>
            </a:r>
          </a:p>
        </p:txBody>
      </p:sp>
      <p:sp>
        <p:nvSpPr>
          <p:cNvPr id="8" name="Hình chữ nhật 7">
            <a:extLst>
              <a:ext uri="{FF2B5EF4-FFF2-40B4-BE49-F238E27FC236}">
                <a16:creationId xmlns:a16="http://schemas.microsoft.com/office/drawing/2014/main" id="{4C603E29-49A6-4494-B584-8648D3B8677C}"/>
              </a:ext>
            </a:extLst>
          </p:cNvPr>
          <p:cNvSpPr>
            <a:spLocks noGrp="1"/>
          </p:cNvSpPr>
          <p:nvPr/>
        </p:nvSpPr>
        <p:spPr>
          <a:xfrm>
            <a:off x="952500" y="3129153"/>
            <a:ext cx="2324100" cy="1404747"/>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Các nhà triết học cổ đại đã thấy vũ trụ vận động, sinh thành và biến hóa, nhưng chưa có cơ sở khoa học chứng minh.</a:t>
            </a:r>
          </a:p>
        </p:txBody>
      </p:sp>
      <p:sp>
        <p:nvSpPr>
          <p:cNvPr id="9" name="Hình chữ nhật: Góc Tròn 8">
            <a:extLst>
              <a:ext uri="{FF2B5EF4-FFF2-40B4-BE49-F238E27FC236}">
                <a16:creationId xmlns:a16="http://schemas.microsoft.com/office/drawing/2014/main" id="{84BEC6D9-A671-46BB-A103-D93BD4DFED70}"/>
              </a:ext>
            </a:extLst>
          </p:cNvPr>
          <p:cNvSpPr>
            <a:spLocks noGrp="1"/>
          </p:cNvSpPr>
          <p:nvPr/>
        </p:nvSpPr>
        <p:spPr>
          <a:xfrm>
            <a:off x="4114800" y="2038350"/>
            <a:ext cx="2857500" cy="2952750"/>
          </a:xfrm>
          <a:prstGeom prst="roundRect">
            <a:avLst>
              <a:gd name="adj" fmla="val 2667"/>
            </a:avLst>
          </a:prstGeom>
          <a:solidFill>
            <a:srgbClr val="EAF1F4"/>
          </a:solidFill>
          <a:ln w="0">
            <a:solidFill>
              <a:srgbClr val="EAF1F4"/>
            </a:solidFill>
          </a:ln>
        </p:spPr>
        <p:txBody>
          <a:bodyPr/>
          <a:lstStyle/>
          <a:p>
            <a:endParaRPr/>
          </a:p>
        </p:txBody>
      </p:sp>
      <p:sp>
        <p:nvSpPr>
          <p:cNvPr id="10" name="Hình chữ nhật 9">
            <a:extLst>
              <a:ext uri="{FF2B5EF4-FFF2-40B4-BE49-F238E27FC236}">
                <a16:creationId xmlns:a16="http://schemas.microsoft.com/office/drawing/2014/main" id="{E7E53EC4-7B6C-4EC3-ABC2-5A3A9A450364}"/>
              </a:ext>
            </a:extLst>
          </p:cNvPr>
          <p:cNvSpPr>
            <a:spLocks noGrp="1"/>
          </p:cNvSpPr>
          <p:nvPr/>
        </p:nvSpPr>
        <p:spPr>
          <a:xfrm>
            <a:off x="4114800" y="2381250"/>
            <a:ext cx="2857500" cy="681228"/>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Biện chứng duy tâm</a:t>
            </a:r>
          </a:p>
        </p:txBody>
      </p:sp>
      <p:sp>
        <p:nvSpPr>
          <p:cNvPr id="11" name="Hình chữ nhật 10">
            <a:extLst>
              <a:ext uri="{FF2B5EF4-FFF2-40B4-BE49-F238E27FC236}">
                <a16:creationId xmlns:a16="http://schemas.microsoft.com/office/drawing/2014/main" id="{C9F880CE-C806-44BC-99D0-88A84994A1D4}"/>
              </a:ext>
            </a:extLst>
          </p:cNvPr>
          <p:cNvSpPr>
            <a:spLocks noGrp="1"/>
          </p:cNvSpPr>
          <p:nvPr/>
        </p:nvSpPr>
        <p:spPr>
          <a:xfrm>
            <a:off x="4381500" y="3333750"/>
            <a:ext cx="2324100" cy="1200150"/>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Đạt đỉnh cao ở Kant và Hegel; coi biện chứng bắt đầu và kết thúc ở tinh thần.</a:t>
            </a:r>
          </a:p>
        </p:txBody>
      </p:sp>
      <p:sp>
        <p:nvSpPr>
          <p:cNvPr id="12" name="Hình chữ nhật: Góc Tròn 11">
            <a:extLst>
              <a:ext uri="{FF2B5EF4-FFF2-40B4-BE49-F238E27FC236}">
                <a16:creationId xmlns:a16="http://schemas.microsoft.com/office/drawing/2014/main" id="{E00E7A2C-C83C-43A2-940C-06CBA4F102CA}"/>
              </a:ext>
            </a:extLst>
          </p:cNvPr>
          <p:cNvSpPr>
            <a:spLocks noGrp="1"/>
          </p:cNvSpPr>
          <p:nvPr/>
        </p:nvSpPr>
        <p:spPr>
          <a:xfrm>
            <a:off x="7543800" y="2038350"/>
            <a:ext cx="2857500" cy="2952750"/>
          </a:xfrm>
          <a:prstGeom prst="roundRect">
            <a:avLst>
              <a:gd name="adj" fmla="val 2667"/>
            </a:avLst>
          </a:prstGeom>
          <a:solidFill>
            <a:srgbClr val="F6E6E1"/>
          </a:solidFill>
          <a:ln w="0">
            <a:solidFill>
              <a:srgbClr val="F6E6E1"/>
            </a:solidFill>
          </a:ln>
        </p:spPr>
        <p:txBody>
          <a:bodyPr/>
          <a:lstStyle/>
          <a:p>
            <a:endParaRPr/>
          </a:p>
        </p:txBody>
      </p:sp>
      <p:sp>
        <p:nvSpPr>
          <p:cNvPr id="13" name="Hình chữ nhật 12">
            <a:extLst>
              <a:ext uri="{FF2B5EF4-FFF2-40B4-BE49-F238E27FC236}">
                <a16:creationId xmlns:a16="http://schemas.microsoft.com/office/drawing/2014/main" id="{79BF8225-E7AB-4560-A117-66740827E377}"/>
              </a:ext>
            </a:extLst>
          </p:cNvPr>
          <p:cNvSpPr>
            <a:spLocks noGrp="1"/>
          </p:cNvSpPr>
          <p:nvPr/>
        </p:nvSpPr>
        <p:spPr>
          <a:xfrm>
            <a:off x="7707086" y="2381250"/>
            <a:ext cx="2593910" cy="681228"/>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Biện chứng duy vật</a:t>
            </a:r>
          </a:p>
        </p:txBody>
      </p:sp>
      <p:sp>
        <p:nvSpPr>
          <p:cNvPr id="14" name="Hình chữ nhật 13">
            <a:extLst>
              <a:ext uri="{FF2B5EF4-FFF2-40B4-BE49-F238E27FC236}">
                <a16:creationId xmlns:a16="http://schemas.microsoft.com/office/drawing/2014/main" id="{54B8228B-07E8-4100-A503-46F090F1C4E8}"/>
              </a:ext>
            </a:extLst>
          </p:cNvPr>
          <p:cNvSpPr>
            <a:spLocks noGrp="1"/>
          </p:cNvSpPr>
          <p:nvPr/>
        </p:nvSpPr>
        <p:spPr>
          <a:xfrm>
            <a:off x="7810500" y="3237722"/>
            <a:ext cx="2324100" cy="1296178"/>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C. Mác và Ph. Ăngghen kế thừa hạt nhân hợp lý, gắn phép biện chứng với chủ nghĩa duy vật.</a:t>
            </a:r>
          </a:p>
        </p:txBody>
      </p:sp>
      <p:sp>
        <p:nvSpPr>
          <p:cNvPr id="15" name="Hình chữ nhật 14">
            <a:extLst>
              <a:ext uri="{FF2B5EF4-FFF2-40B4-BE49-F238E27FC236}">
                <a16:creationId xmlns:a16="http://schemas.microsoft.com/office/drawing/2014/main" id="{CA4158FD-E7E0-4F63-9F83-61508E71D8E2}"/>
              </a:ext>
            </a:extLst>
          </p:cNvPr>
          <p:cNvSpPr>
            <a:spLocks noGrp="1"/>
          </p:cNvSpPr>
          <p:nvPr/>
        </p:nvSpPr>
        <p:spPr>
          <a:xfrm>
            <a:off x="1200150" y="5524500"/>
            <a:ext cx="9715500" cy="508254"/>
          </a:xfrm>
          <a:prstGeom prst="rect">
            <a:avLst/>
          </a:prstGeom>
          <a:noFill/>
          <a:ln w="0">
            <a:noFill/>
          </a:ln>
        </p:spPr>
        <p:txBody>
          <a:bodyPr anchor="t">
            <a:noAutofit/>
          </a:bodyPr>
          <a:lstStyle/>
          <a:p>
            <a:pPr algn="ctr">
              <a:buNone/>
              <a:defRPr sz="1650" b="1" i="0">
                <a:solidFill>
                  <a:srgbClr val="C65B4B"/>
                </a:solidFill>
                <a:latin typeface="Times New Roman"/>
                <a:ea typeface="Times New Roman"/>
                <a:cs typeface="Times New Roman"/>
              </a:defRPr>
            </a:pPr>
            <a:r>
              <a:rPr sz="1950" b="1" i="0">
                <a:solidFill>
                  <a:srgbClr val="C65B4B"/>
                </a:solidFill>
                <a:latin typeface="Times New Roman"/>
                <a:ea typeface="Times New Roman"/>
                <a:cs typeface="Times New Roman"/>
              </a:rPr>
              <a:t>C. Mác và Ph. Ăngghen đã tạo ra sự thống nhất hữu cơ giữa chủ nghĩa duy vật và phép biện chứng.</a:t>
            </a:r>
          </a:p>
        </p:txBody>
      </p:sp>
    </p:spTree>
    <p:extLst>
      <p:ext uri="{BB962C8B-B14F-4D97-AF65-F5344CB8AC3E}">
        <p14:creationId xmlns:p14="http://schemas.microsoft.com/office/powerpoint/2010/main" val="1621925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6" name="Hình chữ nhật 15">
            <a:extLst>
              <a:ext uri="{FF2B5EF4-FFF2-40B4-BE49-F238E27FC236}">
                <a16:creationId xmlns:a16="http://schemas.microsoft.com/office/drawing/2014/main" id="{264294A1-8C0B-4BB1-BDBB-133047634ECD}"/>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2.1. SỰ RA ĐỜI VÀ PHÁT TRIỂN</a:t>
            </a:r>
          </a:p>
        </p:txBody>
      </p:sp>
      <p:sp>
        <p:nvSpPr>
          <p:cNvPr id="2" name="Hình chữ nhật 1">
            <a:extLst>
              <a:ext uri="{FF2B5EF4-FFF2-40B4-BE49-F238E27FC236}">
                <a16:creationId xmlns:a16="http://schemas.microsoft.com/office/drawing/2014/main" id="{241AA3B8-4E47-4226-96A6-259E269D2AC9}"/>
              </a:ext>
            </a:extLst>
          </p:cNvPr>
          <p:cNvSpPr>
            <a:spLocks noGrp="1"/>
          </p:cNvSpPr>
          <p:nvPr/>
        </p:nvSpPr>
        <p:spPr>
          <a:xfrm>
            <a:off x="685800" y="843518"/>
            <a:ext cx="10001250" cy="489981"/>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Điều kiện kinh tế - xã hội</a:t>
            </a:r>
          </a:p>
        </p:txBody>
      </p:sp>
      <p:sp>
        <p:nvSpPr>
          <p:cNvPr id="3" name="Hình chữ nhật 2">
            <a:extLst>
              <a:ext uri="{FF2B5EF4-FFF2-40B4-BE49-F238E27FC236}">
                <a16:creationId xmlns:a16="http://schemas.microsoft.com/office/drawing/2014/main" id="{1873E154-99D6-4BDE-A86B-999DB53D47C3}"/>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E45EF00B-EE2B-4D8A-A821-E0995A66A71E}"/>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48-52</a:t>
            </a:r>
          </a:p>
        </p:txBody>
      </p:sp>
      <p:sp>
        <p:nvSpPr>
          <p:cNvPr id="5" name="Hình chữ nhật 4">
            <a:extLst>
              <a:ext uri="{FF2B5EF4-FFF2-40B4-BE49-F238E27FC236}">
                <a16:creationId xmlns:a16="http://schemas.microsoft.com/office/drawing/2014/main" id="{CEEFCADA-0EFC-4A2E-91C8-87A3022C7F36}"/>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20</a:t>
            </a:r>
          </a:p>
        </p:txBody>
      </p:sp>
      <p:sp>
        <p:nvSpPr>
          <p:cNvPr id="6" name="Hình chữ nhật: Góc Tròn 5">
            <a:extLst>
              <a:ext uri="{FF2B5EF4-FFF2-40B4-BE49-F238E27FC236}">
                <a16:creationId xmlns:a16="http://schemas.microsoft.com/office/drawing/2014/main" id="{AA0CC055-5543-4DDA-9102-52C351262C40}"/>
              </a:ext>
            </a:extLst>
          </p:cNvPr>
          <p:cNvSpPr>
            <a:spLocks noGrp="1"/>
          </p:cNvSpPr>
          <p:nvPr/>
        </p:nvSpPr>
        <p:spPr>
          <a:xfrm>
            <a:off x="685800" y="2076450"/>
            <a:ext cx="2857500" cy="2667000"/>
          </a:xfrm>
          <a:prstGeom prst="roundRect">
            <a:avLst>
              <a:gd name="adj" fmla="val 2857"/>
            </a:avLst>
          </a:prstGeom>
          <a:solidFill>
            <a:srgbClr val="F8EFD9"/>
          </a:solidFill>
          <a:ln w="0">
            <a:noFill/>
          </a:ln>
        </p:spPr>
        <p:txBody>
          <a:bodyPr/>
          <a:lstStyle/>
          <a:p>
            <a:endParaRPr/>
          </a:p>
        </p:txBody>
      </p:sp>
      <p:sp>
        <p:nvSpPr>
          <p:cNvPr id="7" name="Hình chữ nhật 6">
            <a:extLst>
              <a:ext uri="{FF2B5EF4-FFF2-40B4-BE49-F238E27FC236}">
                <a16:creationId xmlns:a16="http://schemas.microsoft.com/office/drawing/2014/main" id="{A2A6D0CE-3B35-4BA6-881F-4DF878A53795}"/>
              </a:ext>
            </a:extLst>
          </p:cNvPr>
          <p:cNvSpPr>
            <a:spLocks noGrp="1"/>
          </p:cNvSpPr>
          <p:nvPr/>
        </p:nvSpPr>
        <p:spPr>
          <a:xfrm>
            <a:off x="531845" y="2381250"/>
            <a:ext cx="3240055" cy="603504"/>
          </a:xfrm>
          <a:prstGeom prst="rect">
            <a:avLst/>
          </a:prstGeom>
          <a:noFill/>
          <a:ln w="0">
            <a:noFill/>
          </a:ln>
        </p:spPr>
        <p:txBody>
          <a:bodyPr anchor="t"/>
          <a:lstStyle/>
          <a:p>
            <a:pPr algn="ctr">
              <a:buNone/>
              <a:defRPr sz="1875"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Cách mạng công nghiệp</a:t>
            </a:r>
          </a:p>
        </p:txBody>
      </p:sp>
      <p:sp>
        <p:nvSpPr>
          <p:cNvPr id="8" name="Hình chữ nhật 7">
            <a:extLst>
              <a:ext uri="{FF2B5EF4-FFF2-40B4-BE49-F238E27FC236}">
                <a16:creationId xmlns:a16="http://schemas.microsoft.com/office/drawing/2014/main" id="{71FBB19F-FC96-4B60-AA45-64057A621C7B}"/>
              </a:ext>
            </a:extLst>
          </p:cNvPr>
          <p:cNvSpPr>
            <a:spLocks noGrp="1"/>
          </p:cNvSpPr>
          <p:nvPr/>
        </p:nvSpPr>
        <p:spPr>
          <a:xfrm>
            <a:off x="952500" y="3124199"/>
            <a:ext cx="2324100" cy="1162051"/>
          </a:xfrm>
          <a:prstGeom prst="rect">
            <a:avLst/>
          </a:prstGeom>
          <a:noFill/>
          <a:ln w="0">
            <a:noFill/>
          </a:ln>
        </p:spPr>
        <p:txBody>
          <a:bodyPr anchor="t"/>
          <a:lstStyle/>
          <a:p>
            <a:pPr algn="ctr">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Lực lượng sản xuất phát triển mạnh, chủ nghĩa tư bản được củng cố.</a:t>
            </a:r>
          </a:p>
        </p:txBody>
      </p:sp>
      <p:sp>
        <p:nvSpPr>
          <p:cNvPr id="9" name="Hình chữ nhật: Góc Tròn 8">
            <a:extLst>
              <a:ext uri="{FF2B5EF4-FFF2-40B4-BE49-F238E27FC236}">
                <a16:creationId xmlns:a16="http://schemas.microsoft.com/office/drawing/2014/main" id="{612A19DB-A12F-4EAC-AE33-EA36F8EB58DD}"/>
              </a:ext>
            </a:extLst>
          </p:cNvPr>
          <p:cNvSpPr>
            <a:spLocks noGrp="1"/>
          </p:cNvSpPr>
          <p:nvPr/>
        </p:nvSpPr>
        <p:spPr>
          <a:xfrm>
            <a:off x="4114800" y="2076450"/>
            <a:ext cx="2857500" cy="2667000"/>
          </a:xfrm>
          <a:prstGeom prst="roundRect">
            <a:avLst>
              <a:gd name="adj" fmla="val 2857"/>
            </a:avLst>
          </a:prstGeom>
          <a:solidFill>
            <a:srgbClr val="F6E6E1"/>
          </a:solidFill>
          <a:ln w="0">
            <a:noFill/>
          </a:ln>
        </p:spPr>
        <p:txBody>
          <a:bodyPr/>
          <a:lstStyle/>
          <a:p>
            <a:endParaRPr/>
          </a:p>
        </p:txBody>
      </p:sp>
      <p:sp>
        <p:nvSpPr>
          <p:cNvPr id="10" name="Hình chữ nhật 9">
            <a:extLst>
              <a:ext uri="{FF2B5EF4-FFF2-40B4-BE49-F238E27FC236}">
                <a16:creationId xmlns:a16="http://schemas.microsoft.com/office/drawing/2014/main" id="{09A3C0B7-7474-4C5A-ABB5-84914356AE8D}"/>
              </a:ext>
            </a:extLst>
          </p:cNvPr>
          <p:cNvSpPr>
            <a:spLocks noGrp="1"/>
          </p:cNvSpPr>
          <p:nvPr/>
        </p:nvSpPr>
        <p:spPr>
          <a:xfrm>
            <a:off x="4343400" y="2419350"/>
            <a:ext cx="2400300" cy="565404"/>
          </a:xfrm>
          <a:prstGeom prst="rect">
            <a:avLst/>
          </a:prstGeom>
          <a:noFill/>
          <a:ln w="0">
            <a:noFill/>
          </a:ln>
        </p:spPr>
        <p:txBody>
          <a:bodyPr anchor="t"/>
          <a:lstStyle/>
          <a:p>
            <a:pPr algn="ctr">
              <a:buNone/>
              <a:defRPr sz="1875"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Mâu thuẫn xã hội</a:t>
            </a:r>
          </a:p>
        </p:txBody>
      </p:sp>
      <p:sp>
        <p:nvSpPr>
          <p:cNvPr id="11" name="Hình chữ nhật 10">
            <a:extLst>
              <a:ext uri="{FF2B5EF4-FFF2-40B4-BE49-F238E27FC236}">
                <a16:creationId xmlns:a16="http://schemas.microsoft.com/office/drawing/2014/main" id="{A46E1546-42C2-4F87-8D3B-93C43051CF75}"/>
              </a:ext>
            </a:extLst>
          </p:cNvPr>
          <p:cNvSpPr>
            <a:spLocks noGrp="1"/>
          </p:cNvSpPr>
          <p:nvPr/>
        </p:nvSpPr>
        <p:spPr>
          <a:xfrm>
            <a:off x="4381500" y="3237722"/>
            <a:ext cx="2400300" cy="1048528"/>
          </a:xfrm>
          <a:prstGeom prst="rect">
            <a:avLst/>
          </a:prstGeom>
          <a:noFill/>
          <a:ln w="0">
            <a:noFill/>
          </a:ln>
        </p:spPr>
        <p:txBody>
          <a:bodyPr anchor="t"/>
          <a:lstStyle/>
          <a:p>
            <a:pPr algn="ctr">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Của cải tăng nhưng bất công và đối kháng xã hội gay gắt hơn.</a:t>
            </a:r>
          </a:p>
        </p:txBody>
      </p:sp>
      <p:sp>
        <p:nvSpPr>
          <p:cNvPr id="12" name="Hình chữ nhật: Góc Tròn 11">
            <a:extLst>
              <a:ext uri="{FF2B5EF4-FFF2-40B4-BE49-F238E27FC236}">
                <a16:creationId xmlns:a16="http://schemas.microsoft.com/office/drawing/2014/main" id="{575B40A2-7743-4886-9ED7-E2F21C842D61}"/>
              </a:ext>
            </a:extLst>
          </p:cNvPr>
          <p:cNvSpPr>
            <a:spLocks noGrp="1"/>
          </p:cNvSpPr>
          <p:nvPr/>
        </p:nvSpPr>
        <p:spPr>
          <a:xfrm>
            <a:off x="7543800" y="2076450"/>
            <a:ext cx="2857500" cy="2667000"/>
          </a:xfrm>
          <a:prstGeom prst="roundRect">
            <a:avLst>
              <a:gd name="adj" fmla="val 2857"/>
            </a:avLst>
          </a:prstGeom>
          <a:solidFill>
            <a:srgbClr val="EAF1F4"/>
          </a:solidFill>
          <a:ln w="0">
            <a:noFill/>
          </a:ln>
        </p:spPr>
        <p:txBody>
          <a:bodyPr/>
          <a:lstStyle/>
          <a:p>
            <a:endParaRPr/>
          </a:p>
        </p:txBody>
      </p:sp>
      <p:sp>
        <p:nvSpPr>
          <p:cNvPr id="13" name="Hình chữ nhật 12">
            <a:extLst>
              <a:ext uri="{FF2B5EF4-FFF2-40B4-BE49-F238E27FC236}">
                <a16:creationId xmlns:a16="http://schemas.microsoft.com/office/drawing/2014/main" id="{51589798-E3B7-4B5B-A565-E3275C1D712B}"/>
              </a:ext>
            </a:extLst>
          </p:cNvPr>
          <p:cNvSpPr>
            <a:spLocks noGrp="1"/>
          </p:cNvSpPr>
          <p:nvPr/>
        </p:nvSpPr>
        <p:spPr>
          <a:xfrm>
            <a:off x="7772400" y="2419350"/>
            <a:ext cx="2400300" cy="565404"/>
          </a:xfrm>
          <a:prstGeom prst="rect">
            <a:avLst/>
          </a:prstGeom>
          <a:noFill/>
          <a:ln w="0">
            <a:noFill/>
          </a:ln>
        </p:spPr>
        <p:txBody>
          <a:bodyPr anchor="t"/>
          <a:lstStyle/>
          <a:p>
            <a:pPr algn="ctr">
              <a:buNone/>
              <a:defRPr sz="1875"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Giai cấp vô sản</a:t>
            </a:r>
          </a:p>
        </p:txBody>
      </p:sp>
      <p:sp>
        <p:nvSpPr>
          <p:cNvPr id="14" name="Hình chữ nhật 13">
            <a:extLst>
              <a:ext uri="{FF2B5EF4-FFF2-40B4-BE49-F238E27FC236}">
                <a16:creationId xmlns:a16="http://schemas.microsoft.com/office/drawing/2014/main" id="{C5C58494-911B-4433-B54B-53FF88820C71}"/>
              </a:ext>
            </a:extLst>
          </p:cNvPr>
          <p:cNvSpPr>
            <a:spLocks noGrp="1"/>
          </p:cNvSpPr>
          <p:nvPr/>
        </p:nvSpPr>
        <p:spPr>
          <a:xfrm>
            <a:off x="7543800" y="3237722"/>
            <a:ext cx="2857500" cy="1048528"/>
          </a:xfrm>
          <a:prstGeom prst="rect">
            <a:avLst/>
          </a:prstGeom>
          <a:noFill/>
          <a:ln w="0">
            <a:noFill/>
          </a:ln>
        </p:spPr>
        <p:txBody>
          <a:bodyPr anchor="t"/>
          <a:lstStyle/>
          <a:p>
            <a:pPr algn="ctr">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Xuất hiện như lực lượng tiên phong trong đấu tranh cho dân chủ và tiến bộ xã hội.</a:t>
            </a:r>
          </a:p>
        </p:txBody>
      </p:sp>
      <p:sp>
        <p:nvSpPr>
          <p:cNvPr id="15" name="Hình chữ nhật 14">
            <a:extLst>
              <a:ext uri="{FF2B5EF4-FFF2-40B4-BE49-F238E27FC236}">
                <a16:creationId xmlns:a16="http://schemas.microsoft.com/office/drawing/2014/main" id="{ECFD8080-8324-46DA-BF44-3A00090BCFC9}"/>
              </a:ext>
            </a:extLst>
          </p:cNvPr>
          <p:cNvSpPr>
            <a:spLocks noGrp="1"/>
          </p:cNvSpPr>
          <p:nvPr/>
        </p:nvSpPr>
        <p:spPr>
          <a:xfrm>
            <a:off x="1066799" y="5159829"/>
            <a:ext cx="10251233" cy="815775"/>
          </a:xfrm>
          <a:prstGeom prst="rect">
            <a:avLst/>
          </a:prstGeom>
          <a:noFill/>
          <a:ln w="0">
            <a:noFill/>
          </a:ln>
        </p:spPr>
        <p:txBody>
          <a:bodyPr anchor="t">
            <a:noAutofit/>
          </a:bodyPr>
          <a:lstStyle/>
          <a:p>
            <a:pPr algn="ctr">
              <a:buNone/>
              <a:defRPr sz="1650" b="1" i="0">
                <a:solidFill>
                  <a:srgbClr val="C65B4B"/>
                </a:solidFill>
                <a:latin typeface="Times New Roman"/>
                <a:ea typeface="Times New Roman"/>
                <a:cs typeface="Times New Roman"/>
              </a:defRPr>
            </a:pPr>
            <a:r>
              <a:rPr sz="1950" b="1" i="0" dirty="0" err="1">
                <a:solidFill>
                  <a:srgbClr val="C65B4B"/>
                </a:solidFill>
                <a:latin typeface="Times New Roman"/>
                <a:ea typeface="Times New Roman"/>
                <a:cs typeface="Times New Roman"/>
              </a:rPr>
              <a:t>Thực</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tiễn</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cách</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mạng</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của</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giai</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cấp</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vô</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sản</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là</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cơ</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sở</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chủ</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yếu</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nhất</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cho</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sự</a:t>
            </a:r>
            <a:r>
              <a:rPr sz="1950" b="1" i="0" dirty="0">
                <a:solidFill>
                  <a:srgbClr val="C65B4B"/>
                </a:solidFill>
                <a:latin typeface="Times New Roman"/>
                <a:ea typeface="Times New Roman"/>
                <a:cs typeface="Times New Roman"/>
              </a:rPr>
              <a:t> ra </a:t>
            </a:r>
            <a:r>
              <a:rPr sz="1950" b="1" i="0" dirty="0" err="1">
                <a:solidFill>
                  <a:srgbClr val="C65B4B"/>
                </a:solidFill>
                <a:latin typeface="Times New Roman"/>
                <a:ea typeface="Times New Roman"/>
                <a:cs typeface="Times New Roman"/>
              </a:rPr>
              <a:t>đời</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của</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triết</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học</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Mác</a:t>
            </a:r>
            <a:r>
              <a:rPr sz="1950" b="1" i="0" dirty="0">
                <a:solidFill>
                  <a:srgbClr val="C65B4B"/>
                </a:solidFill>
                <a:latin typeface="Times New Roman"/>
                <a:ea typeface="Times New Roman"/>
                <a:cs typeface="Times New Roman"/>
              </a:rPr>
              <a:t>.</a:t>
            </a:r>
          </a:p>
        </p:txBody>
      </p:sp>
      <p:sp>
        <p:nvSpPr>
          <p:cNvPr id="17" name="Ví dụ minh họa">
            <a:extLst>
              <a:ext uri="{FF2B5EF4-FFF2-40B4-BE49-F238E27FC236}">
                <a16:creationId xmlns:a16="http://schemas.microsoft.com/office/drawing/2014/main" id="{5C6E74BF-DA18-4838-937F-57C9028655DE}"/>
              </a:ext>
            </a:extLst>
          </p:cNvPr>
          <p:cNvSpPr>
            <a:spLocks noGrp="1"/>
          </p:cNvSpPr>
          <p:nvPr/>
        </p:nvSpPr>
        <p:spPr>
          <a:xfrm>
            <a:off x="685800" y="5691673"/>
            <a:ext cx="10363200" cy="651977"/>
          </a:xfrm>
          <a:prstGeom prst="roundRect">
            <a:avLst>
              <a:gd name="adj" fmla="val 26087"/>
            </a:avLst>
          </a:prstGeom>
          <a:solidFill>
            <a:srgbClr val="FFF4D8"/>
          </a:solidFill>
          <a:ln w="0">
            <a:noFill/>
          </a:ln>
        </p:spPr>
        <p:txBody>
          <a:bodyPr lIns="190500" tIns="76200" rIns="190500" bIns="76200" anchor="ctr">
            <a:noAutofit/>
          </a:bodyPr>
          <a:lstStyle/>
          <a:p>
            <a:pPr algn="l">
              <a:defRPr sz="1350" b="0">
                <a:solidFill>
                  <a:srgbClr val="A94D3E"/>
                </a:solidFill>
                <a:latin typeface="Times New Roman"/>
                <a:ea typeface="Times New Roman"/>
                <a:cs typeface="Times New Roman"/>
              </a:defRPr>
            </a:pPr>
            <a:r>
              <a:rPr sz="2000" b="0" i="1" dirty="0" err="1">
                <a:solidFill>
                  <a:srgbClr val="A94D3E"/>
                </a:solidFill>
                <a:latin typeface="Times New Roman"/>
                <a:ea typeface="Times New Roman"/>
                <a:cs typeface="Times New Roman"/>
              </a:rPr>
              <a:t>Ví</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dụ</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Máy</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móc</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mới</a:t>
            </a:r>
            <a:r>
              <a:rPr sz="2000" b="0" i="1" dirty="0">
                <a:solidFill>
                  <a:srgbClr val="A94D3E"/>
                </a:solidFill>
                <a:latin typeface="Times New Roman"/>
                <a:ea typeface="Times New Roman"/>
                <a:cs typeface="Times New Roman"/>
              </a:rPr>
              <a:t> làm </a:t>
            </a:r>
            <a:r>
              <a:rPr sz="2000" b="0" i="1" dirty="0" err="1">
                <a:solidFill>
                  <a:srgbClr val="A94D3E"/>
                </a:solidFill>
                <a:latin typeface="Times New Roman"/>
                <a:ea typeface="Times New Roman"/>
                <a:cs typeface="Times New Roman"/>
              </a:rPr>
              <a:t>năng</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suất</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tăng</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nhưng</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cũng</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đặt</a:t>
            </a:r>
            <a:r>
              <a:rPr sz="2000" b="0" i="1" dirty="0">
                <a:solidFill>
                  <a:srgbClr val="A94D3E"/>
                </a:solidFill>
                <a:latin typeface="Times New Roman"/>
                <a:ea typeface="Times New Roman"/>
                <a:cs typeface="Times New Roman"/>
              </a:rPr>
              <a:t> ra </a:t>
            </a:r>
            <a:r>
              <a:rPr sz="2000" b="0" i="1" dirty="0" err="1">
                <a:solidFill>
                  <a:srgbClr val="A94D3E"/>
                </a:solidFill>
                <a:latin typeface="Times New Roman"/>
                <a:ea typeface="Times New Roman"/>
                <a:cs typeface="Times New Roman"/>
              </a:rPr>
              <a:t>vấn</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đề</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về</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điều</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kiện</a:t>
            </a:r>
            <a:r>
              <a:rPr sz="2000" b="0" i="1" dirty="0">
                <a:solidFill>
                  <a:srgbClr val="A94D3E"/>
                </a:solidFill>
                <a:latin typeface="Times New Roman"/>
                <a:ea typeface="Times New Roman"/>
                <a:cs typeface="Times New Roman"/>
              </a:rPr>
              <a:t> làm </a:t>
            </a:r>
            <a:r>
              <a:rPr sz="2000" b="0" i="1" dirty="0" err="1">
                <a:solidFill>
                  <a:srgbClr val="A94D3E"/>
                </a:solidFill>
                <a:latin typeface="Times New Roman"/>
                <a:ea typeface="Times New Roman"/>
                <a:cs typeface="Times New Roman"/>
              </a:rPr>
              <a:t>việc</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và</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phân</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phối</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lợi</a:t>
            </a:r>
            <a:r>
              <a:rPr sz="2000" b="0" i="1" dirty="0">
                <a:solidFill>
                  <a:srgbClr val="A94D3E"/>
                </a:solidFill>
                <a:latin typeface="Times New Roman"/>
                <a:ea typeface="Times New Roman"/>
                <a:cs typeface="Times New Roman"/>
              </a:rPr>
              <a:t> </a:t>
            </a:r>
            <a:r>
              <a:rPr sz="2000" b="0" i="1" dirty="0" err="1">
                <a:solidFill>
                  <a:srgbClr val="A94D3E"/>
                </a:solidFill>
                <a:latin typeface="Times New Roman"/>
                <a:ea typeface="Times New Roman"/>
                <a:cs typeface="Times New Roman"/>
              </a:rPr>
              <a:t>ích</a:t>
            </a:r>
            <a:r>
              <a:rPr sz="2000" b="0" i="1" dirty="0">
                <a:solidFill>
                  <a:srgbClr val="A94D3E"/>
                </a:solidFill>
                <a:latin typeface="Times New Roman"/>
                <a:ea typeface="Times New Roman"/>
                <a:cs typeface="Times New Roman"/>
              </a:rPr>
              <a:t>.</a:t>
            </a:r>
          </a:p>
        </p:txBody>
      </p:sp>
    </p:spTree>
    <p:extLst>
      <p:ext uri="{BB962C8B-B14F-4D97-AF65-F5344CB8AC3E}">
        <p14:creationId xmlns:p14="http://schemas.microsoft.com/office/powerpoint/2010/main" val="1225509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5" name="Hình chữ nhật 14">
            <a:extLst>
              <a:ext uri="{FF2B5EF4-FFF2-40B4-BE49-F238E27FC236}">
                <a16:creationId xmlns:a16="http://schemas.microsoft.com/office/drawing/2014/main" id="{ABA2C750-6358-49A4-ACE5-8CC176EA4E4F}"/>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2.1. SỰ RA ĐỜI VÀ PHÁT TRIỂN</a:t>
            </a:r>
          </a:p>
        </p:txBody>
      </p:sp>
      <p:sp>
        <p:nvSpPr>
          <p:cNvPr id="2" name="Hình chữ nhật 1">
            <a:extLst>
              <a:ext uri="{FF2B5EF4-FFF2-40B4-BE49-F238E27FC236}">
                <a16:creationId xmlns:a16="http://schemas.microsoft.com/office/drawing/2014/main" id="{450224FC-028F-49EB-A434-4052703C7B9D}"/>
              </a:ext>
            </a:extLst>
          </p:cNvPr>
          <p:cNvSpPr>
            <a:spLocks noGrp="1"/>
          </p:cNvSpPr>
          <p:nvPr/>
        </p:nvSpPr>
        <p:spPr>
          <a:xfrm>
            <a:off x="685800" y="781036"/>
            <a:ext cx="10001250" cy="552463"/>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Nguồn gốc lý luận</a:t>
            </a:r>
          </a:p>
        </p:txBody>
      </p:sp>
      <p:sp>
        <p:nvSpPr>
          <p:cNvPr id="3" name="Hình chữ nhật 2">
            <a:extLst>
              <a:ext uri="{FF2B5EF4-FFF2-40B4-BE49-F238E27FC236}">
                <a16:creationId xmlns:a16="http://schemas.microsoft.com/office/drawing/2014/main" id="{F7DB4E9B-4579-4E1D-BA6F-3C971293EC56}"/>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E95C50AF-EE9E-4D78-A67D-E1FC72C93BE9}"/>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52-54</a:t>
            </a:r>
          </a:p>
        </p:txBody>
      </p:sp>
      <p:sp>
        <p:nvSpPr>
          <p:cNvPr id="5" name="Hình chữ nhật 4">
            <a:extLst>
              <a:ext uri="{FF2B5EF4-FFF2-40B4-BE49-F238E27FC236}">
                <a16:creationId xmlns:a16="http://schemas.microsoft.com/office/drawing/2014/main" id="{4A2AFA0A-159C-4E07-82B0-F21BD5267791}"/>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21</a:t>
            </a:r>
          </a:p>
        </p:txBody>
      </p:sp>
      <p:sp>
        <p:nvSpPr>
          <p:cNvPr id="6" name="Hình chữ nhật: Góc Tròn 5">
            <a:extLst>
              <a:ext uri="{FF2B5EF4-FFF2-40B4-BE49-F238E27FC236}">
                <a16:creationId xmlns:a16="http://schemas.microsoft.com/office/drawing/2014/main" id="{C8590D5D-AD09-4F9F-AD5C-1A864B9289DD}"/>
              </a:ext>
            </a:extLst>
          </p:cNvPr>
          <p:cNvSpPr>
            <a:spLocks noGrp="1"/>
          </p:cNvSpPr>
          <p:nvPr/>
        </p:nvSpPr>
        <p:spPr>
          <a:xfrm>
            <a:off x="685800" y="2000250"/>
            <a:ext cx="2857500" cy="3143250"/>
          </a:xfrm>
          <a:prstGeom prst="roundRect">
            <a:avLst>
              <a:gd name="adj" fmla="val 2667"/>
            </a:avLst>
          </a:prstGeom>
          <a:solidFill>
            <a:srgbClr val="EAF1F4"/>
          </a:solidFill>
          <a:ln w="0">
            <a:noFill/>
          </a:ln>
        </p:spPr>
        <p:txBody>
          <a:bodyPr/>
          <a:lstStyle/>
          <a:p>
            <a:endParaRPr/>
          </a:p>
        </p:txBody>
      </p:sp>
      <p:sp>
        <p:nvSpPr>
          <p:cNvPr id="7" name="Hình chữ nhật 6">
            <a:extLst>
              <a:ext uri="{FF2B5EF4-FFF2-40B4-BE49-F238E27FC236}">
                <a16:creationId xmlns:a16="http://schemas.microsoft.com/office/drawing/2014/main" id="{D962480A-F891-4820-88CA-8BB939AE8047}"/>
              </a:ext>
            </a:extLst>
          </p:cNvPr>
          <p:cNvSpPr>
            <a:spLocks noGrp="1"/>
          </p:cNvSpPr>
          <p:nvPr/>
        </p:nvSpPr>
        <p:spPr>
          <a:xfrm>
            <a:off x="685800" y="2362200"/>
            <a:ext cx="2857500" cy="795528"/>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Triết học cổ điển Đức</a:t>
            </a:r>
          </a:p>
        </p:txBody>
      </p:sp>
      <p:sp>
        <p:nvSpPr>
          <p:cNvPr id="8" name="Hình chữ nhật 7">
            <a:extLst>
              <a:ext uri="{FF2B5EF4-FFF2-40B4-BE49-F238E27FC236}">
                <a16:creationId xmlns:a16="http://schemas.microsoft.com/office/drawing/2014/main" id="{862EC907-6D04-4D8B-85CB-6D41E4FBB285}"/>
              </a:ext>
            </a:extLst>
          </p:cNvPr>
          <p:cNvSpPr>
            <a:spLocks noGrp="1"/>
          </p:cNvSpPr>
          <p:nvPr/>
        </p:nvSpPr>
        <p:spPr>
          <a:xfrm>
            <a:off x="685800" y="3429000"/>
            <a:ext cx="2857500" cy="1143000"/>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Hegel: hạt nhân hợp lý của phép biện chứng.</a:t>
            </a:r>
          </a:p>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Feuerbach: truyền thống duy vật và tư tưởng nhân văn.</a:t>
            </a:r>
          </a:p>
        </p:txBody>
      </p:sp>
      <p:sp>
        <p:nvSpPr>
          <p:cNvPr id="9" name="Hình chữ nhật: Góc Tròn 8">
            <a:extLst>
              <a:ext uri="{FF2B5EF4-FFF2-40B4-BE49-F238E27FC236}">
                <a16:creationId xmlns:a16="http://schemas.microsoft.com/office/drawing/2014/main" id="{8C8A4D21-2759-4549-8210-8814D98C6261}"/>
              </a:ext>
            </a:extLst>
          </p:cNvPr>
          <p:cNvSpPr>
            <a:spLocks noGrp="1"/>
          </p:cNvSpPr>
          <p:nvPr/>
        </p:nvSpPr>
        <p:spPr>
          <a:xfrm>
            <a:off x="4114800" y="2000250"/>
            <a:ext cx="2857500" cy="3143250"/>
          </a:xfrm>
          <a:prstGeom prst="roundRect">
            <a:avLst>
              <a:gd name="adj" fmla="val 2667"/>
            </a:avLst>
          </a:prstGeom>
          <a:solidFill>
            <a:srgbClr val="F8EFD9"/>
          </a:solidFill>
          <a:ln w="0">
            <a:noFill/>
          </a:ln>
        </p:spPr>
        <p:txBody>
          <a:bodyPr/>
          <a:lstStyle/>
          <a:p>
            <a:endParaRPr/>
          </a:p>
        </p:txBody>
      </p:sp>
      <p:sp>
        <p:nvSpPr>
          <p:cNvPr id="10" name="Hình chữ nhật 9">
            <a:extLst>
              <a:ext uri="{FF2B5EF4-FFF2-40B4-BE49-F238E27FC236}">
                <a16:creationId xmlns:a16="http://schemas.microsoft.com/office/drawing/2014/main" id="{E0AB954B-64C1-4D9F-B68B-E304EBB31755}"/>
              </a:ext>
            </a:extLst>
          </p:cNvPr>
          <p:cNvSpPr>
            <a:spLocks noGrp="1"/>
          </p:cNvSpPr>
          <p:nvPr/>
        </p:nvSpPr>
        <p:spPr>
          <a:xfrm>
            <a:off x="4381500" y="2316861"/>
            <a:ext cx="2400300" cy="795528"/>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Kinh tế chính trị cổ điển Anh</a:t>
            </a:r>
          </a:p>
        </p:txBody>
      </p:sp>
      <p:sp>
        <p:nvSpPr>
          <p:cNvPr id="11" name="Hình chữ nhật 10">
            <a:extLst>
              <a:ext uri="{FF2B5EF4-FFF2-40B4-BE49-F238E27FC236}">
                <a16:creationId xmlns:a16="http://schemas.microsoft.com/office/drawing/2014/main" id="{0303CC5F-A5E9-444F-B58F-2B80FEEC673C}"/>
              </a:ext>
            </a:extLst>
          </p:cNvPr>
          <p:cNvSpPr>
            <a:spLocks noGrp="1"/>
          </p:cNvSpPr>
          <p:nvPr/>
        </p:nvSpPr>
        <p:spPr>
          <a:xfrm>
            <a:off x="4381500" y="3429000"/>
            <a:ext cx="2324100" cy="1143000"/>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Adam Smith và David Ricardo: cơ sở để Mác nghiên cứu các quan hệ kinh tế của chủ nghĩa tư bản.</a:t>
            </a:r>
          </a:p>
        </p:txBody>
      </p:sp>
      <p:sp>
        <p:nvSpPr>
          <p:cNvPr id="12" name="Hình chữ nhật: Góc Tròn 11">
            <a:extLst>
              <a:ext uri="{FF2B5EF4-FFF2-40B4-BE49-F238E27FC236}">
                <a16:creationId xmlns:a16="http://schemas.microsoft.com/office/drawing/2014/main" id="{9AECEC38-EA5D-451A-8C29-3DAC1070C85D}"/>
              </a:ext>
            </a:extLst>
          </p:cNvPr>
          <p:cNvSpPr>
            <a:spLocks noGrp="1"/>
          </p:cNvSpPr>
          <p:nvPr/>
        </p:nvSpPr>
        <p:spPr>
          <a:xfrm>
            <a:off x="7543800" y="2000250"/>
            <a:ext cx="2857500" cy="3143250"/>
          </a:xfrm>
          <a:prstGeom prst="roundRect">
            <a:avLst>
              <a:gd name="adj" fmla="val 2667"/>
            </a:avLst>
          </a:prstGeom>
          <a:solidFill>
            <a:srgbClr val="F6E6E1"/>
          </a:solidFill>
          <a:ln w="0">
            <a:noFill/>
          </a:ln>
        </p:spPr>
        <p:txBody>
          <a:bodyPr/>
          <a:lstStyle/>
          <a:p>
            <a:endParaRPr/>
          </a:p>
        </p:txBody>
      </p:sp>
      <p:sp>
        <p:nvSpPr>
          <p:cNvPr id="13" name="Hình chữ nhật 12">
            <a:extLst>
              <a:ext uri="{FF2B5EF4-FFF2-40B4-BE49-F238E27FC236}">
                <a16:creationId xmlns:a16="http://schemas.microsoft.com/office/drawing/2014/main" id="{35448BCE-C2E9-4CC2-B429-421A46B03761}"/>
              </a:ext>
            </a:extLst>
          </p:cNvPr>
          <p:cNvSpPr>
            <a:spLocks noGrp="1"/>
          </p:cNvSpPr>
          <p:nvPr/>
        </p:nvSpPr>
        <p:spPr>
          <a:xfrm>
            <a:off x="7623110" y="2316861"/>
            <a:ext cx="2649894" cy="840867"/>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Chủ nghĩa xã hội không tưởng Pháp</a:t>
            </a:r>
          </a:p>
        </p:txBody>
      </p:sp>
      <p:sp>
        <p:nvSpPr>
          <p:cNvPr id="14" name="Hình chữ nhật 13">
            <a:extLst>
              <a:ext uri="{FF2B5EF4-FFF2-40B4-BE49-F238E27FC236}">
                <a16:creationId xmlns:a16="http://schemas.microsoft.com/office/drawing/2014/main" id="{D27BF63C-4A5C-45E0-99EE-9C96EE91B393}"/>
              </a:ext>
            </a:extLst>
          </p:cNvPr>
          <p:cNvSpPr>
            <a:spLocks noGrp="1"/>
          </p:cNvSpPr>
          <p:nvPr/>
        </p:nvSpPr>
        <p:spPr>
          <a:xfrm>
            <a:off x="7837714" y="3429000"/>
            <a:ext cx="2296886" cy="1143000"/>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Saint-Simon và Fourier: nguồn gốc lý luận trực tiếp của tư tưởng xã hội chủ nghĩa khoa học.</a:t>
            </a:r>
          </a:p>
        </p:txBody>
      </p:sp>
    </p:spTree>
    <p:extLst>
      <p:ext uri="{BB962C8B-B14F-4D97-AF65-F5344CB8AC3E}">
        <p14:creationId xmlns:p14="http://schemas.microsoft.com/office/powerpoint/2010/main" val="320673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7" name="Hình chữ nhật 16">
            <a:extLst>
              <a:ext uri="{FF2B5EF4-FFF2-40B4-BE49-F238E27FC236}">
                <a16:creationId xmlns:a16="http://schemas.microsoft.com/office/drawing/2014/main" id="{29D2B34A-B868-4C00-92AE-DB15680D38FB}"/>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2.1. SỰ RA ĐỜI VÀ PHÁT TRIỂN</a:t>
            </a:r>
          </a:p>
        </p:txBody>
      </p:sp>
      <p:sp>
        <p:nvSpPr>
          <p:cNvPr id="2" name="Hình chữ nhật 1">
            <a:extLst>
              <a:ext uri="{FF2B5EF4-FFF2-40B4-BE49-F238E27FC236}">
                <a16:creationId xmlns:a16="http://schemas.microsoft.com/office/drawing/2014/main" id="{AE619CEC-4504-44D7-AD37-249B5F98250D}"/>
              </a:ext>
            </a:extLst>
          </p:cNvPr>
          <p:cNvSpPr>
            <a:spLocks noGrp="1"/>
          </p:cNvSpPr>
          <p:nvPr/>
        </p:nvSpPr>
        <p:spPr>
          <a:xfrm>
            <a:off x="685800" y="825246"/>
            <a:ext cx="10001250" cy="508254"/>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Tiền đề khoa học tự nhiên</a:t>
            </a:r>
          </a:p>
        </p:txBody>
      </p:sp>
      <p:sp>
        <p:nvSpPr>
          <p:cNvPr id="3" name="Hình chữ nhật 2">
            <a:extLst>
              <a:ext uri="{FF2B5EF4-FFF2-40B4-BE49-F238E27FC236}">
                <a16:creationId xmlns:a16="http://schemas.microsoft.com/office/drawing/2014/main" id="{D53DDE0F-D0E1-466D-9E94-1389CEF501CA}"/>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B1D248B7-C730-460D-89B4-199818CBF09F}"/>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54-57</a:t>
            </a:r>
          </a:p>
        </p:txBody>
      </p:sp>
      <p:sp>
        <p:nvSpPr>
          <p:cNvPr id="5" name="Hình chữ nhật 4">
            <a:extLst>
              <a:ext uri="{FF2B5EF4-FFF2-40B4-BE49-F238E27FC236}">
                <a16:creationId xmlns:a16="http://schemas.microsoft.com/office/drawing/2014/main" id="{514C22AF-3275-4F53-859D-2BED11301587}"/>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22</a:t>
            </a:r>
          </a:p>
        </p:txBody>
      </p:sp>
      <p:sp>
        <p:nvSpPr>
          <p:cNvPr id="6" name="Hình chữ nhật 5">
            <a:extLst>
              <a:ext uri="{FF2B5EF4-FFF2-40B4-BE49-F238E27FC236}">
                <a16:creationId xmlns:a16="http://schemas.microsoft.com/office/drawing/2014/main" id="{B798F002-314A-456D-B33E-B42E21061E69}"/>
              </a:ext>
            </a:extLst>
          </p:cNvPr>
          <p:cNvSpPr>
            <a:spLocks noGrp="1"/>
          </p:cNvSpPr>
          <p:nvPr/>
        </p:nvSpPr>
        <p:spPr>
          <a:xfrm>
            <a:off x="685800" y="1809750"/>
            <a:ext cx="10287000" cy="508254"/>
          </a:xfrm>
          <a:prstGeom prst="rect">
            <a:avLst/>
          </a:prstGeom>
          <a:noFill/>
          <a:ln w="0">
            <a:noFill/>
          </a:ln>
        </p:spPr>
        <p:txBody>
          <a:bodyPr anchor="t">
            <a:noAutofit/>
          </a:bodyPr>
          <a:lstStyle/>
          <a:p>
            <a:pPr algn="ctr">
              <a:buNone/>
              <a:defRPr sz="2025" b="1" i="0">
                <a:solidFill>
                  <a:srgbClr val="142B43"/>
                </a:solidFill>
                <a:latin typeface="Times New Roman"/>
                <a:ea typeface="Times New Roman"/>
                <a:cs typeface="Times New Roman"/>
              </a:defRPr>
            </a:pPr>
            <a:r>
              <a:rPr sz="2800" b="1" i="0">
                <a:solidFill>
                  <a:srgbClr val="142B43"/>
                </a:solidFill>
                <a:latin typeface="Times New Roman"/>
                <a:ea typeface="Times New Roman"/>
                <a:cs typeface="Times New Roman"/>
              </a:rPr>
              <a:t>Ba phát minh lớn của khoa học tự nhiên đầu thế kỷ XIX</a:t>
            </a:r>
          </a:p>
        </p:txBody>
      </p:sp>
      <p:sp>
        <p:nvSpPr>
          <p:cNvPr id="7" name="Hình chữ nhật: Góc Tròn 6">
            <a:extLst>
              <a:ext uri="{FF2B5EF4-FFF2-40B4-BE49-F238E27FC236}">
                <a16:creationId xmlns:a16="http://schemas.microsoft.com/office/drawing/2014/main" id="{2B62B67E-24EC-4917-B1F6-B17D32548BD1}"/>
              </a:ext>
            </a:extLst>
          </p:cNvPr>
          <p:cNvSpPr>
            <a:spLocks noGrp="1"/>
          </p:cNvSpPr>
          <p:nvPr/>
        </p:nvSpPr>
        <p:spPr>
          <a:xfrm>
            <a:off x="685800" y="2590800"/>
            <a:ext cx="2857500" cy="2343150"/>
          </a:xfrm>
          <a:prstGeom prst="roundRect">
            <a:avLst>
              <a:gd name="adj" fmla="val 3252"/>
            </a:avLst>
          </a:prstGeom>
          <a:solidFill>
            <a:srgbClr val="F8EFD9"/>
          </a:solidFill>
          <a:ln w="0">
            <a:solidFill>
              <a:srgbClr val="F8EFD9"/>
            </a:solidFill>
          </a:ln>
        </p:spPr>
        <p:txBody>
          <a:bodyPr/>
          <a:lstStyle/>
          <a:p>
            <a:endParaRPr/>
          </a:p>
        </p:txBody>
      </p:sp>
      <p:sp>
        <p:nvSpPr>
          <p:cNvPr id="8" name="Hình chữ nhật 7">
            <a:extLst>
              <a:ext uri="{FF2B5EF4-FFF2-40B4-BE49-F238E27FC236}">
                <a16:creationId xmlns:a16="http://schemas.microsoft.com/office/drawing/2014/main" id="{41D12313-95F6-418D-BAA4-1D54FDE91B31}"/>
              </a:ext>
            </a:extLst>
          </p:cNvPr>
          <p:cNvSpPr>
            <a:spLocks noGrp="1"/>
          </p:cNvSpPr>
          <p:nvPr/>
        </p:nvSpPr>
        <p:spPr>
          <a:xfrm>
            <a:off x="876299" y="2876550"/>
            <a:ext cx="2734647" cy="781050"/>
          </a:xfrm>
          <a:prstGeom prst="rect">
            <a:avLst/>
          </a:prstGeom>
          <a:noFill/>
          <a:ln w="0">
            <a:noFill/>
          </a:ln>
        </p:spPr>
        <p:txBody>
          <a:bodyPr anchor="t"/>
          <a:lstStyle/>
          <a:p>
            <a:pPr algn="ctr">
              <a:buNone/>
              <a:defRPr sz="1650" b="1" i="0">
                <a:solidFill>
                  <a:srgbClr val="142B43"/>
                </a:solidFill>
                <a:latin typeface="Times New Roman"/>
                <a:ea typeface="Times New Roman"/>
                <a:cs typeface="Times New Roman"/>
              </a:defRPr>
            </a:pPr>
            <a:r>
              <a:rPr sz="2000" b="1" i="0">
                <a:solidFill>
                  <a:srgbClr val="142B43"/>
                </a:solidFill>
                <a:latin typeface="Times New Roman"/>
                <a:ea typeface="Times New Roman"/>
                <a:cs typeface="Times New Roman"/>
              </a:rPr>
              <a:t>Định luật bảo toàn và chuyển hóa năng lượng</a:t>
            </a:r>
          </a:p>
        </p:txBody>
      </p:sp>
      <p:sp>
        <p:nvSpPr>
          <p:cNvPr id="9" name="Hình chữ nhật 8">
            <a:extLst>
              <a:ext uri="{FF2B5EF4-FFF2-40B4-BE49-F238E27FC236}">
                <a16:creationId xmlns:a16="http://schemas.microsoft.com/office/drawing/2014/main" id="{D65E7858-2643-482A-9FEC-36A18FF49C38}"/>
              </a:ext>
            </a:extLst>
          </p:cNvPr>
          <p:cNvSpPr>
            <a:spLocks noGrp="1"/>
          </p:cNvSpPr>
          <p:nvPr/>
        </p:nvSpPr>
        <p:spPr>
          <a:xfrm>
            <a:off x="933450" y="3943350"/>
            <a:ext cx="2362200" cy="776478"/>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Cho thấy các dạng vận động khác nhau có mối liên hệ thống nhất trong thế giới vật chất.</a:t>
            </a:r>
          </a:p>
        </p:txBody>
      </p:sp>
      <p:sp>
        <p:nvSpPr>
          <p:cNvPr id="10" name="Hình chữ nhật: Góc Tròn 9">
            <a:extLst>
              <a:ext uri="{FF2B5EF4-FFF2-40B4-BE49-F238E27FC236}">
                <a16:creationId xmlns:a16="http://schemas.microsoft.com/office/drawing/2014/main" id="{A55E05FD-144F-41E1-BA0F-68B084A46791}"/>
              </a:ext>
            </a:extLst>
          </p:cNvPr>
          <p:cNvSpPr>
            <a:spLocks noGrp="1"/>
          </p:cNvSpPr>
          <p:nvPr/>
        </p:nvSpPr>
        <p:spPr>
          <a:xfrm>
            <a:off x="4114800" y="2590800"/>
            <a:ext cx="2857500" cy="2343150"/>
          </a:xfrm>
          <a:prstGeom prst="roundRect">
            <a:avLst>
              <a:gd name="adj" fmla="val 3252"/>
            </a:avLst>
          </a:prstGeom>
          <a:solidFill>
            <a:srgbClr val="EAF1F4"/>
          </a:solidFill>
          <a:ln w="0">
            <a:solidFill>
              <a:srgbClr val="EAF1F4"/>
            </a:solidFill>
          </a:ln>
        </p:spPr>
        <p:txBody>
          <a:bodyPr/>
          <a:lstStyle/>
          <a:p>
            <a:endParaRPr/>
          </a:p>
        </p:txBody>
      </p:sp>
      <p:sp>
        <p:nvSpPr>
          <p:cNvPr id="11" name="Hình chữ nhật 10">
            <a:extLst>
              <a:ext uri="{FF2B5EF4-FFF2-40B4-BE49-F238E27FC236}">
                <a16:creationId xmlns:a16="http://schemas.microsoft.com/office/drawing/2014/main" id="{732427D1-1E2F-4EE7-9DB4-0068C947FA90}"/>
              </a:ext>
            </a:extLst>
          </p:cNvPr>
          <p:cNvSpPr>
            <a:spLocks noGrp="1"/>
          </p:cNvSpPr>
          <p:nvPr/>
        </p:nvSpPr>
        <p:spPr>
          <a:xfrm>
            <a:off x="4305300" y="2876550"/>
            <a:ext cx="2476500" cy="781050"/>
          </a:xfrm>
          <a:prstGeom prst="rect">
            <a:avLst/>
          </a:prstGeom>
          <a:noFill/>
          <a:ln w="0">
            <a:noFill/>
          </a:ln>
        </p:spPr>
        <p:txBody>
          <a:bodyPr anchor="t"/>
          <a:lstStyle/>
          <a:p>
            <a:pPr algn="ctr">
              <a:buNone/>
              <a:defRPr sz="1650" b="1" i="0">
                <a:solidFill>
                  <a:srgbClr val="142B43"/>
                </a:solidFill>
                <a:latin typeface="Times New Roman"/>
                <a:ea typeface="Times New Roman"/>
                <a:cs typeface="Times New Roman"/>
              </a:defRPr>
            </a:pPr>
            <a:r>
              <a:rPr sz="2000" b="1" i="0">
                <a:solidFill>
                  <a:srgbClr val="142B43"/>
                </a:solidFill>
                <a:latin typeface="Times New Roman"/>
                <a:ea typeface="Times New Roman"/>
                <a:cs typeface="Times New Roman"/>
              </a:rPr>
              <a:t>Thuyết tế bào</a:t>
            </a:r>
          </a:p>
        </p:txBody>
      </p:sp>
      <p:sp>
        <p:nvSpPr>
          <p:cNvPr id="12" name="Hình chữ nhật 11">
            <a:extLst>
              <a:ext uri="{FF2B5EF4-FFF2-40B4-BE49-F238E27FC236}">
                <a16:creationId xmlns:a16="http://schemas.microsoft.com/office/drawing/2014/main" id="{805F3D84-5CAD-451F-A913-D054CB20CD13}"/>
              </a:ext>
            </a:extLst>
          </p:cNvPr>
          <p:cNvSpPr>
            <a:spLocks noGrp="1"/>
          </p:cNvSpPr>
          <p:nvPr/>
        </p:nvSpPr>
        <p:spPr>
          <a:xfrm>
            <a:off x="4362450" y="3943350"/>
            <a:ext cx="2362200" cy="776478"/>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Khẳng định tính thống nhất về cấu tạo của thế giới sống.</a:t>
            </a:r>
          </a:p>
        </p:txBody>
      </p:sp>
      <p:sp>
        <p:nvSpPr>
          <p:cNvPr id="13" name="Hình chữ nhật: Góc Tròn 12">
            <a:extLst>
              <a:ext uri="{FF2B5EF4-FFF2-40B4-BE49-F238E27FC236}">
                <a16:creationId xmlns:a16="http://schemas.microsoft.com/office/drawing/2014/main" id="{35732D20-ACE0-4838-8D9C-FDBAFE12C469}"/>
              </a:ext>
            </a:extLst>
          </p:cNvPr>
          <p:cNvSpPr>
            <a:spLocks noGrp="1"/>
          </p:cNvSpPr>
          <p:nvPr/>
        </p:nvSpPr>
        <p:spPr>
          <a:xfrm>
            <a:off x="7543800" y="2590800"/>
            <a:ext cx="2857500" cy="2343150"/>
          </a:xfrm>
          <a:prstGeom prst="roundRect">
            <a:avLst>
              <a:gd name="adj" fmla="val 3252"/>
            </a:avLst>
          </a:prstGeom>
          <a:solidFill>
            <a:srgbClr val="F6E6E1"/>
          </a:solidFill>
          <a:ln w="0">
            <a:solidFill>
              <a:srgbClr val="F6E6E1"/>
            </a:solidFill>
          </a:ln>
        </p:spPr>
        <p:txBody>
          <a:bodyPr/>
          <a:lstStyle/>
          <a:p>
            <a:endParaRPr/>
          </a:p>
        </p:txBody>
      </p:sp>
      <p:sp>
        <p:nvSpPr>
          <p:cNvPr id="14" name="Hình chữ nhật 13">
            <a:extLst>
              <a:ext uri="{FF2B5EF4-FFF2-40B4-BE49-F238E27FC236}">
                <a16:creationId xmlns:a16="http://schemas.microsoft.com/office/drawing/2014/main" id="{876B4F79-D9DF-440A-98A4-80463C6C1ECA}"/>
              </a:ext>
            </a:extLst>
          </p:cNvPr>
          <p:cNvSpPr>
            <a:spLocks noGrp="1"/>
          </p:cNvSpPr>
          <p:nvPr/>
        </p:nvSpPr>
        <p:spPr>
          <a:xfrm>
            <a:off x="7734300" y="2876550"/>
            <a:ext cx="2476500" cy="781050"/>
          </a:xfrm>
          <a:prstGeom prst="rect">
            <a:avLst/>
          </a:prstGeom>
          <a:noFill/>
          <a:ln w="0">
            <a:noFill/>
          </a:ln>
        </p:spPr>
        <p:txBody>
          <a:bodyPr anchor="t"/>
          <a:lstStyle/>
          <a:p>
            <a:pPr algn="ctr">
              <a:buNone/>
              <a:defRPr sz="1650" b="1" i="0">
                <a:solidFill>
                  <a:srgbClr val="142B43"/>
                </a:solidFill>
                <a:latin typeface="Times New Roman"/>
                <a:ea typeface="Times New Roman"/>
                <a:cs typeface="Times New Roman"/>
              </a:defRPr>
            </a:pPr>
            <a:r>
              <a:rPr sz="2000" b="1" i="0">
                <a:solidFill>
                  <a:srgbClr val="142B43"/>
                </a:solidFill>
                <a:latin typeface="Times New Roman"/>
                <a:ea typeface="Times New Roman"/>
                <a:cs typeface="Times New Roman"/>
              </a:rPr>
              <a:t>Thuyết tiến hóa của Darwin</a:t>
            </a:r>
          </a:p>
        </p:txBody>
      </p:sp>
      <p:sp>
        <p:nvSpPr>
          <p:cNvPr id="15" name="Hình chữ nhật 14">
            <a:extLst>
              <a:ext uri="{FF2B5EF4-FFF2-40B4-BE49-F238E27FC236}">
                <a16:creationId xmlns:a16="http://schemas.microsoft.com/office/drawing/2014/main" id="{9DF89F93-F2AE-47A9-8073-C99A1401E89C}"/>
              </a:ext>
            </a:extLst>
          </p:cNvPr>
          <p:cNvSpPr>
            <a:spLocks noGrp="1"/>
          </p:cNvSpPr>
          <p:nvPr/>
        </p:nvSpPr>
        <p:spPr>
          <a:xfrm>
            <a:off x="7791450" y="3943350"/>
            <a:ext cx="2362200" cy="776478"/>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Làm rõ tính lịch sử, biến đổi và phát triển của thế giới sinh vật.</a:t>
            </a:r>
          </a:p>
        </p:txBody>
      </p:sp>
      <p:sp>
        <p:nvSpPr>
          <p:cNvPr id="16" name="Hình chữ nhật 15">
            <a:extLst>
              <a:ext uri="{FF2B5EF4-FFF2-40B4-BE49-F238E27FC236}">
                <a16:creationId xmlns:a16="http://schemas.microsoft.com/office/drawing/2014/main" id="{96F9860C-6A58-4F5E-AC61-1960784E4DF2}"/>
              </a:ext>
            </a:extLst>
          </p:cNvPr>
          <p:cNvSpPr>
            <a:spLocks noGrp="1"/>
          </p:cNvSpPr>
          <p:nvPr/>
        </p:nvSpPr>
        <p:spPr>
          <a:xfrm>
            <a:off x="1143000" y="5486400"/>
            <a:ext cx="9525000" cy="527304"/>
          </a:xfrm>
          <a:prstGeom prst="rect">
            <a:avLst/>
          </a:prstGeom>
          <a:noFill/>
          <a:ln w="0">
            <a:noFill/>
          </a:ln>
        </p:spPr>
        <p:txBody>
          <a:bodyPr anchor="t"/>
          <a:lstStyle/>
          <a:p>
            <a:pPr algn="ctr">
              <a:buNone/>
              <a:defRPr sz="1575" b="1" i="0">
                <a:solidFill>
                  <a:srgbClr val="C65B4B"/>
                </a:solidFill>
                <a:latin typeface="Times New Roman"/>
                <a:ea typeface="Times New Roman"/>
                <a:cs typeface="Times New Roman"/>
              </a:defRPr>
            </a:pPr>
            <a:r>
              <a:rPr sz="1875" b="1" i="0">
                <a:solidFill>
                  <a:srgbClr val="C65B4B"/>
                </a:solidFill>
                <a:latin typeface="Times New Roman"/>
                <a:ea typeface="Times New Roman"/>
                <a:cs typeface="Times New Roman"/>
              </a:rPr>
              <a:t>Khoa học tự nhiên cung cấp cơ sở để phép biện chứng vượt khỏi tính tự phát và chủ nghĩa duy vật vượt khỏi tính siêu hình.</a:t>
            </a:r>
          </a:p>
        </p:txBody>
      </p:sp>
    </p:spTree>
    <p:extLst>
      <p:ext uri="{BB962C8B-B14F-4D97-AF65-F5344CB8AC3E}">
        <p14:creationId xmlns:p14="http://schemas.microsoft.com/office/powerpoint/2010/main" val="2024048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8" name="Hình chữ nhật 7">
            <a:extLst>
              <a:ext uri="{FF2B5EF4-FFF2-40B4-BE49-F238E27FC236}">
                <a16:creationId xmlns:a16="http://schemas.microsoft.com/office/drawing/2014/main" id="{6E08DDE8-8172-4BBA-954A-FF5C5C1A9C0E}"/>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2.1. SỰ RA ĐỜI VÀ PHÁT TRIỂN</a:t>
            </a:r>
          </a:p>
        </p:txBody>
      </p:sp>
      <p:sp>
        <p:nvSpPr>
          <p:cNvPr id="2" name="Hình chữ nhật 1">
            <a:extLst>
              <a:ext uri="{FF2B5EF4-FFF2-40B4-BE49-F238E27FC236}">
                <a16:creationId xmlns:a16="http://schemas.microsoft.com/office/drawing/2014/main" id="{91CFAF83-B4EA-4197-A59D-7277F59C1210}"/>
              </a:ext>
            </a:extLst>
          </p:cNvPr>
          <p:cNvSpPr>
            <a:spLocks noGrp="1"/>
          </p:cNvSpPr>
          <p:nvPr/>
        </p:nvSpPr>
        <p:spPr>
          <a:xfrm>
            <a:off x="685800" y="733424"/>
            <a:ext cx="10001250" cy="600075"/>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Nhân tố chủ quan: Mác và Ăngghen</a:t>
            </a:r>
          </a:p>
        </p:txBody>
      </p:sp>
      <p:sp>
        <p:nvSpPr>
          <p:cNvPr id="3" name="Hình chữ nhật 2">
            <a:extLst>
              <a:ext uri="{FF2B5EF4-FFF2-40B4-BE49-F238E27FC236}">
                <a16:creationId xmlns:a16="http://schemas.microsoft.com/office/drawing/2014/main" id="{441C59B4-B736-429D-8B51-4BE07CC1091B}"/>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505F2CBD-DDDD-4609-9E97-726A104F0BC9}"/>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57-58</a:t>
            </a:r>
          </a:p>
        </p:txBody>
      </p:sp>
      <p:sp>
        <p:nvSpPr>
          <p:cNvPr id="5" name="Hình chữ nhật 4">
            <a:extLst>
              <a:ext uri="{FF2B5EF4-FFF2-40B4-BE49-F238E27FC236}">
                <a16:creationId xmlns:a16="http://schemas.microsoft.com/office/drawing/2014/main" id="{C7D007A7-F311-440C-B9C9-A514C1DF48C7}"/>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23</a:t>
            </a:r>
          </a:p>
        </p:txBody>
      </p:sp>
      <p:pic>
        <p:nvPicPr>
          <p:cNvPr id="15" name="Hình ảnh 14"/>
          <p:cNvPicPr>
            <a:picLocks noChangeAspect="1"/>
          </p:cNvPicPr>
          <p:nvPr/>
        </p:nvPicPr>
        <p:blipFill>
          <a:blip r:embed="rId3"/>
          <a:srcRect l="11694" r="11694"/>
          <a:stretch>
            <a:fillRect/>
          </a:stretch>
        </p:blipFill>
        <p:spPr>
          <a:xfrm>
            <a:off x="685800" y="1809750"/>
            <a:ext cx="4953000" cy="3638550"/>
          </a:xfrm>
          <a:prstGeom prst="roundRect">
            <a:avLst>
              <a:gd name="adj" fmla="val 4188"/>
            </a:avLst>
          </a:prstGeom>
        </p:spPr>
      </p:pic>
      <p:sp>
        <p:nvSpPr>
          <p:cNvPr id="7" name="Hình chữ nhật 6">
            <a:extLst>
              <a:ext uri="{FF2B5EF4-FFF2-40B4-BE49-F238E27FC236}">
                <a16:creationId xmlns:a16="http://schemas.microsoft.com/office/drawing/2014/main" id="{3C2740A0-6458-46B9-B2A7-DDF549A650B2}"/>
              </a:ext>
            </a:extLst>
          </p:cNvPr>
          <p:cNvSpPr>
            <a:spLocks noGrp="1"/>
          </p:cNvSpPr>
          <p:nvPr/>
        </p:nvSpPr>
        <p:spPr>
          <a:xfrm>
            <a:off x="6286500" y="1981200"/>
            <a:ext cx="4762500" cy="3371850"/>
          </a:xfrm>
          <a:prstGeom prst="rect">
            <a:avLst/>
          </a:prstGeom>
          <a:noFill/>
          <a:ln w="0">
            <a:noFill/>
          </a:ln>
        </p:spPr>
        <p:txBody>
          <a:bodyPr anchor="t"/>
          <a:lstStyle/>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Có năng lực tư duy lý luận, ý chí và nghị lực nghiên cứu đặc biệt.</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Sớm gắn hoạt động lý luận với hoạt động thực tiễn và phong trào công nhân.</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Chuyển từ lập trường dân chủ cách mạng sang lập trường giai cấp công nhân.</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Kết hợp tinh hoa trí tuệ nhân loại với mục tiêu giải phóng giai cấp và giải phóng con người.</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Tình bạn và sự cộng tác của hai ông tạo nên một nhân tố chủ quan đặc biệt trong sự hình thành học thuyết.</a:t>
            </a:r>
          </a:p>
        </p:txBody>
      </p:sp>
    </p:spTree>
    <p:extLst>
      <p:ext uri="{BB962C8B-B14F-4D97-AF65-F5344CB8AC3E}">
        <p14:creationId xmlns:p14="http://schemas.microsoft.com/office/powerpoint/2010/main" val="1120275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21" name="Hình chữ nhật 20">
            <a:extLst>
              <a:ext uri="{FF2B5EF4-FFF2-40B4-BE49-F238E27FC236}">
                <a16:creationId xmlns:a16="http://schemas.microsoft.com/office/drawing/2014/main" id="{B42BEFCF-4E8B-487E-89B4-2BC51E16D184}"/>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2.2. CÁC THỜI KỲ CHỦ YẾU</a:t>
            </a:r>
          </a:p>
        </p:txBody>
      </p:sp>
      <p:sp>
        <p:nvSpPr>
          <p:cNvPr id="2" name="Hình chữ nhật 1">
            <a:extLst>
              <a:ext uri="{FF2B5EF4-FFF2-40B4-BE49-F238E27FC236}">
                <a16:creationId xmlns:a16="http://schemas.microsoft.com/office/drawing/2014/main" id="{AC9C6E58-978A-489A-B278-6856D4959481}"/>
              </a:ext>
            </a:extLst>
          </p:cNvPr>
          <p:cNvSpPr>
            <a:spLocks noGrp="1"/>
          </p:cNvSpPr>
          <p:nvPr/>
        </p:nvSpPr>
        <p:spPr>
          <a:xfrm>
            <a:off x="685800" y="729990"/>
            <a:ext cx="10001250" cy="603509"/>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Giai đoạn hình thành tư tưởng triết học (1841 - 1844)</a:t>
            </a:r>
          </a:p>
        </p:txBody>
      </p:sp>
      <p:sp>
        <p:nvSpPr>
          <p:cNvPr id="3" name="Hình chữ nhật 2">
            <a:extLst>
              <a:ext uri="{FF2B5EF4-FFF2-40B4-BE49-F238E27FC236}">
                <a16:creationId xmlns:a16="http://schemas.microsoft.com/office/drawing/2014/main" id="{4B7DD664-522E-4BA3-B2AF-217CEDA468A7}"/>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00412523-3CC2-4DD2-9A18-FEA5CCF8AFCD}"/>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59-65</a:t>
            </a:r>
          </a:p>
        </p:txBody>
      </p:sp>
      <p:sp>
        <p:nvSpPr>
          <p:cNvPr id="5" name="Hình chữ nhật 4">
            <a:extLst>
              <a:ext uri="{FF2B5EF4-FFF2-40B4-BE49-F238E27FC236}">
                <a16:creationId xmlns:a16="http://schemas.microsoft.com/office/drawing/2014/main" id="{04F4A5E9-99E5-4D8C-BF67-1D0C846C0DAD}"/>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24</a:t>
            </a:r>
          </a:p>
        </p:txBody>
      </p:sp>
      <p:sp>
        <p:nvSpPr>
          <p:cNvPr id="6" name="Hình Bầu dục 5">
            <a:extLst>
              <a:ext uri="{FF2B5EF4-FFF2-40B4-BE49-F238E27FC236}">
                <a16:creationId xmlns:a16="http://schemas.microsoft.com/office/drawing/2014/main" id="{0FB50D25-0D26-4CB5-9963-C18BCADCB93A}"/>
              </a:ext>
            </a:extLst>
          </p:cNvPr>
          <p:cNvSpPr>
            <a:spLocks noGrp="1"/>
          </p:cNvSpPr>
          <p:nvPr/>
        </p:nvSpPr>
        <p:spPr>
          <a:xfrm>
            <a:off x="914400" y="1790700"/>
            <a:ext cx="876300" cy="685800"/>
          </a:xfrm>
          <a:prstGeom prst="ellipse">
            <a:avLst/>
          </a:prstGeom>
          <a:solidFill>
            <a:srgbClr val="3E8C86"/>
          </a:solidFill>
          <a:ln w="0">
            <a:solidFill>
              <a:srgbClr val="3E8C86"/>
            </a:solidFill>
          </a:ln>
        </p:spPr>
        <p:txBody>
          <a:bodyPr/>
          <a:lstStyle/>
          <a:p>
            <a:endParaRPr/>
          </a:p>
        </p:txBody>
      </p:sp>
      <p:sp>
        <p:nvSpPr>
          <p:cNvPr id="7" name="Hình chữ nhật 6">
            <a:extLst>
              <a:ext uri="{FF2B5EF4-FFF2-40B4-BE49-F238E27FC236}">
                <a16:creationId xmlns:a16="http://schemas.microsoft.com/office/drawing/2014/main" id="{3893208A-5A40-436C-89A1-79E80C242EB2}"/>
              </a:ext>
            </a:extLst>
          </p:cNvPr>
          <p:cNvSpPr>
            <a:spLocks noGrp="1"/>
          </p:cNvSpPr>
          <p:nvPr/>
        </p:nvSpPr>
        <p:spPr>
          <a:xfrm>
            <a:off x="1028700" y="1981200"/>
            <a:ext cx="647700" cy="413004"/>
          </a:xfrm>
          <a:prstGeom prst="rect">
            <a:avLst/>
          </a:prstGeom>
          <a:noFill/>
          <a:ln w="0">
            <a:noFill/>
          </a:ln>
        </p:spPr>
        <p:txBody>
          <a:bodyPr anchor="t">
            <a:noAutofit/>
          </a:bodyPr>
          <a:lstStyle/>
          <a:p>
            <a:pPr algn="ctr">
              <a:buNone/>
              <a:defRPr sz="1500" b="1" i="0">
                <a:solidFill>
                  <a:srgbClr val="FFFFFF"/>
                </a:solidFill>
                <a:latin typeface="Times New Roman"/>
                <a:ea typeface="Times New Roman"/>
                <a:cs typeface="Times New Roman"/>
              </a:defRPr>
            </a:pPr>
            <a:r>
              <a:rPr sz="1800" b="1" i="0">
                <a:solidFill>
                  <a:srgbClr val="FFFFFF"/>
                </a:solidFill>
                <a:latin typeface="Times New Roman"/>
                <a:ea typeface="Times New Roman"/>
                <a:cs typeface="Times New Roman"/>
              </a:rPr>
              <a:t>1841</a:t>
            </a:r>
          </a:p>
        </p:txBody>
      </p:sp>
      <p:sp>
        <p:nvSpPr>
          <p:cNvPr id="8" name="Hình chữ nhật 7">
            <a:extLst>
              <a:ext uri="{FF2B5EF4-FFF2-40B4-BE49-F238E27FC236}">
                <a16:creationId xmlns:a16="http://schemas.microsoft.com/office/drawing/2014/main" id="{7C5FD164-F3F0-465B-B8F5-E7AC8A259E28}"/>
              </a:ext>
            </a:extLst>
          </p:cNvPr>
          <p:cNvSpPr>
            <a:spLocks noGrp="1"/>
          </p:cNvSpPr>
          <p:nvPr/>
        </p:nvSpPr>
        <p:spPr>
          <a:xfrm>
            <a:off x="2305050" y="1885950"/>
            <a:ext cx="8286750" cy="753618"/>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Mác nhận bằng tiến sĩ triết học; nghiên cứu Hegel và Feuerbach.</a:t>
            </a:r>
          </a:p>
        </p:txBody>
      </p:sp>
      <p:sp>
        <p:nvSpPr>
          <p:cNvPr id="9" name="Hình chữ nhật 8">
            <a:extLst>
              <a:ext uri="{FF2B5EF4-FFF2-40B4-BE49-F238E27FC236}">
                <a16:creationId xmlns:a16="http://schemas.microsoft.com/office/drawing/2014/main" id="{A57A441B-8883-4110-A378-5F460D45D591}"/>
              </a:ext>
            </a:extLst>
          </p:cNvPr>
          <p:cNvSpPr>
            <a:spLocks noGrp="1"/>
          </p:cNvSpPr>
          <p:nvPr/>
        </p:nvSpPr>
        <p:spPr>
          <a:xfrm>
            <a:off x="1333500" y="2476500"/>
            <a:ext cx="38100" cy="361950"/>
          </a:xfrm>
          <a:prstGeom prst="rect">
            <a:avLst/>
          </a:prstGeom>
          <a:solidFill>
            <a:srgbClr val="D7D2C8"/>
          </a:solidFill>
          <a:ln w="0">
            <a:solidFill>
              <a:srgbClr val="D7D2C8"/>
            </a:solidFill>
          </a:ln>
        </p:spPr>
        <p:txBody>
          <a:bodyPr/>
          <a:lstStyle/>
          <a:p>
            <a:endParaRPr/>
          </a:p>
        </p:txBody>
      </p:sp>
      <p:sp>
        <p:nvSpPr>
          <p:cNvPr id="10" name="Hình Bầu dục 9">
            <a:extLst>
              <a:ext uri="{FF2B5EF4-FFF2-40B4-BE49-F238E27FC236}">
                <a16:creationId xmlns:a16="http://schemas.microsoft.com/office/drawing/2014/main" id="{829B5D6E-1D03-4F2C-BCE1-359C1FD4D32B}"/>
              </a:ext>
            </a:extLst>
          </p:cNvPr>
          <p:cNvSpPr>
            <a:spLocks noGrp="1"/>
          </p:cNvSpPr>
          <p:nvPr/>
        </p:nvSpPr>
        <p:spPr>
          <a:xfrm>
            <a:off x="914400" y="2838450"/>
            <a:ext cx="876300" cy="685800"/>
          </a:xfrm>
          <a:prstGeom prst="ellipse">
            <a:avLst/>
          </a:prstGeom>
          <a:solidFill>
            <a:srgbClr val="C65B4B"/>
          </a:solidFill>
          <a:ln w="0">
            <a:solidFill>
              <a:srgbClr val="C65B4B"/>
            </a:solidFill>
          </a:ln>
        </p:spPr>
        <p:txBody>
          <a:bodyPr/>
          <a:lstStyle/>
          <a:p>
            <a:endParaRPr/>
          </a:p>
        </p:txBody>
      </p:sp>
      <p:sp>
        <p:nvSpPr>
          <p:cNvPr id="11" name="Hình chữ nhật 10">
            <a:extLst>
              <a:ext uri="{FF2B5EF4-FFF2-40B4-BE49-F238E27FC236}">
                <a16:creationId xmlns:a16="http://schemas.microsoft.com/office/drawing/2014/main" id="{564B229A-28DC-451E-BA0E-2594266FE18C}"/>
              </a:ext>
            </a:extLst>
          </p:cNvPr>
          <p:cNvSpPr>
            <a:spLocks noGrp="1"/>
          </p:cNvSpPr>
          <p:nvPr/>
        </p:nvSpPr>
        <p:spPr>
          <a:xfrm>
            <a:off x="1028700" y="3028950"/>
            <a:ext cx="647700" cy="413004"/>
          </a:xfrm>
          <a:prstGeom prst="rect">
            <a:avLst/>
          </a:prstGeom>
          <a:noFill/>
          <a:ln w="0">
            <a:noFill/>
          </a:ln>
        </p:spPr>
        <p:txBody>
          <a:bodyPr anchor="t">
            <a:noAutofit/>
          </a:bodyPr>
          <a:lstStyle/>
          <a:p>
            <a:pPr algn="ctr">
              <a:buNone/>
              <a:defRPr sz="1500" b="1" i="0">
                <a:solidFill>
                  <a:srgbClr val="FFFFFF"/>
                </a:solidFill>
                <a:latin typeface="Times New Roman"/>
                <a:ea typeface="Times New Roman"/>
                <a:cs typeface="Times New Roman"/>
              </a:defRPr>
            </a:pPr>
            <a:r>
              <a:rPr sz="1800" b="1" i="0">
                <a:solidFill>
                  <a:srgbClr val="FFFFFF"/>
                </a:solidFill>
                <a:latin typeface="Times New Roman"/>
                <a:ea typeface="Times New Roman"/>
                <a:cs typeface="Times New Roman"/>
              </a:rPr>
              <a:t>1842</a:t>
            </a:r>
          </a:p>
        </p:txBody>
      </p:sp>
      <p:sp>
        <p:nvSpPr>
          <p:cNvPr id="12" name="Hình chữ nhật 11">
            <a:extLst>
              <a:ext uri="{FF2B5EF4-FFF2-40B4-BE49-F238E27FC236}">
                <a16:creationId xmlns:a16="http://schemas.microsoft.com/office/drawing/2014/main" id="{786B9C11-C35D-4D40-9698-F060D2D16653}"/>
              </a:ext>
            </a:extLst>
          </p:cNvPr>
          <p:cNvSpPr>
            <a:spLocks noGrp="1"/>
          </p:cNvSpPr>
          <p:nvPr/>
        </p:nvSpPr>
        <p:spPr>
          <a:xfrm>
            <a:off x="2305050" y="2933700"/>
            <a:ext cx="8286750" cy="753618"/>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Hoạt động báo chí làm tư tưởng dân chủ - cách mạng của Mác gắn với lợi ích của quần chúng lao động.</a:t>
            </a:r>
          </a:p>
        </p:txBody>
      </p:sp>
      <p:sp>
        <p:nvSpPr>
          <p:cNvPr id="13" name="Hình chữ nhật 12">
            <a:extLst>
              <a:ext uri="{FF2B5EF4-FFF2-40B4-BE49-F238E27FC236}">
                <a16:creationId xmlns:a16="http://schemas.microsoft.com/office/drawing/2014/main" id="{ACFB87A8-6D29-4F4D-A7AA-EE6C5C12743C}"/>
              </a:ext>
            </a:extLst>
          </p:cNvPr>
          <p:cNvSpPr>
            <a:spLocks noGrp="1"/>
          </p:cNvSpPr>
          <p:nvPr/>
        </p:nvSpPr>
        <p:spPr>
          <a:xfrm>
            <a:off x="1333500" y="3524250"/>
            <a:ext cx="38100" cy="361950"/>
          </a:xfrm>
          <a:prstGeom prst="rect">
            <a:avLst/>
          </a:prstGeom>
          <a:solidFill>
            <a:srgbClr val="D7D2C8"/>
          </a:solidFill>
          <a:ln w="0">
            <a:solidFill>
              <a:srgbClr val="D7D2C8"/>
            </a:solidFill>
          </a:ln>
        </p:spPr>
        <p:txBody>
          <a:bodyPr/>
          <a:lstStyle/>
          <a:p>
            <a:endParaRPr/>
          </a:p>
        </p:txBody>
      </p:sp>
      <p:sp>
        <p:nvSpPr>
          <p:cNvPr id="14" name="Hình Bầu dục 13">
            <a:extLst>
              <a:ext uri="{FF2B5EF4-FFF2-40B4-BE49-F238E27FC236}">
                <a16:creationId xmlns:a16="http://schemas.microsoft.com/office/drawing/2014/main" id="{FE340DB6-0BAF-45B0-BCEE-93BC5E2BE240}"/>
              </a:ext>
            </a:extLst>
          </p:cNvPr>
          <p:cNvSpPr>
            <a:spLocks noGrp="1"/>
          </p:cNvSpPr>
          <p:nvPr/>
        </p:nvSpPr>
        <p:spPr>
          <a:xfrm>
            <a:off x="914400" y="3886200"/>
            <a:ext cx="876300" cy="685800"/>
          </a:xfrm>
          <a:prstGeom prst="ellipse">
            <a:avLst/>
          </a:prstGeom>
          <a:solidFill>
            <a:srgbClr val="3E8C86"/>
          </a:solidFill>
          <a:ln w="0">
            <a:solidFill>
              <a:srgbClr val="3E8C86"/>
            </a:solidFill>
          </a:ln>
        </p:spPr>
        <p:txBody>
          <a:bodyPr/>
          <a:lstStyle/>
          <a:p>
            <a:endParaRPr/>
          </a:p>
        </p:txBody>
      </p:sp>
      <p:sp>
        <p:nvSpPr>
          <p:cNvPr id="15" name="Hình chữ nhật 14">
            <a:extLst>
              <a:ext uri="{FF2B5EF4-FFF2-40B4-BE49-F238E27FC236}">
                <a16:creationId xmlns:a16="http://schemas.microsoft.com/office/drawing/2014/main" id="{6C298615-40DD-4C7F-9BC4-2027B4C86B79}"/>
              </a:ext>
            </a:extLst>
          </p:cNvPr>
          <p:cNvSpPr>
            <a:spLocks noGrp="1"/>
          </p:cNvSpPr>
          <p:nvPr/>
        </p:nvSpPr>
        <p:spPr>
          <a:xfrm>
            <a:off x="1028700" y="4076700"/>
            <a:ext cx="647700" cy="413004"/>
          </a:xfrm>
          <a:prstGeom prst="rect">
            <a:avLst/>
          </a:prstGeom>
          <a:noFill/>
          <a:ln w="0">
            <a:noFill/>
          </a:ln>
        </p:spPr>
        <p:txBody>
          <a:bodyPr anchor="t">
            <a:noAutofit/>
          </a:bodyPr>
          <a:lstStyle/>
          <a:p>
            <a:pPr algn="ctr">
              <a:buNone/>
              <a:defRPr sz="1500" b="1" i="0">
                <a:solidFill>
                  <a:srgbClr val="FFFFFF"/>
                </a:solidFill>
                <a:latin typeface="Times New Roman"/>
                <a:ea typeface="Times New Roman"/>
                <a:cs typeface="Times New Roman"/>
              </a:defRPr>
            </a:pPr>
            <a:r>
              <a:rPr sz="1800" b="1" i="0">
                <a:solidFill>
                  <a:srgbClr val="FFFFFF"/>
                </a:solidFill>
                <a:latin typeface="Times New Roman"/>
                <a:ea typeface="Times New Roman"/>
                <a:cs typeface="Times New Roman"/>
              </a:rPr>
              <a:t>1843</a:t>
            </a:r>
          </a:p>
        </p:txBody>
      </p:sp>
      <p:sp>
        <p:nvSpPr>
          <p:cNvPr id="16" name="Hình chữ nhật 15">
            <a:extLst>
              <a:ext uri="{FF2B5EF4-FFF2-40B4-BE49-F238E27FC236}">
                <a16:creationId xmlns:a16="http://schemas.microsoft.com/office/drawing/2014/main" id="{23A5FBD9-57F7-4A5E-852E-7BFF8814C171}"/>
              </a:ext>
            </a:extLst>
          </p:cNvPr>
          <p:cNvSpPr>
            <a:spLocks noGrp="1"/>
          </p:cNvSpPr>
          <p:nvPr/>
        </p:nvSpPr>
        <p:spPr>
          <a:xfrm>
            <a:off x="2305050" y="3981450"/>
            <a:ext cx="8286750" cy="753618"/>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Phê phán triết học pháp quyền của Hegel; chuyển dần sang lập trường duy vật.</a:t>
            </a:r>
          </a:p>
        </p:txBody>
      </p:sp>
      <p:sp>
        <p:nvSpPr>
          <p:cNvPr id="17" name="Hình chữ nhật 16">
            <a:extLst>
              <a:ext uri="{FF2B5EF4-FFF2-40B4-BE49-F238E27FC236}">
                <a16:creationId xmlns:a16="http://schemas.microsoft.com/office/drawing/2014/main" id="{E755E437-2A91-4BEF-8F80-7D0AB93034B9}"/>
              </a:ext>
            </a:extLst>
          </p:cNvPr>
          <p:cNvSpPr>
            <a:spLocks noGrp="1"/>
          </p:cNvSpPr>
          <p:nvPr/>
        </p:nvSpPr>
        <p:spPr>
          <a:xfrm>
            <a:off x="1333500" y="4572000"/>
            <a:ext cx="38100" cy="361950"/>
          </a:xfrm>
          <a:prstGeom prst="rect">
            <a:avLst/>
          </a:prstGeom>
          <a:solidFill>
            <a:srgbClr val="D7D2C8"/>
          </a:solidFill>
          <a:ln w="0">
            <a:solidFill>
              <a:srgbClr val="D7D2C8"/>
            </a:solidFill>
          </a:ln>
        </p:spPr>
        <p:txBody>
          <a:bodyPr/>
          <a:lstStyle/>
          <a:p>
            <a:endParaRPr/>
          </a:p>
        </p:txBody>
      </p:sp>
      <p:sp>
        <p:nvSpPr>
          <p:cNvPr id="18" name="Hình Bầu dục 17">
            <a:extLst>
              <a:ext uri="{FF2B5EF4-FFF2-40B4-BE49-F238E27FC236}">
                <a16:creationId xmlns:a16="http://schemas.microsoft.com/office/drawing/2014/main" id="{B4F1C437-142C-475D-A356-297F90DCD20E}"/>
              </a:ext>
            </a:extLst>
          </p:cNvPr>
          <p:cNvSpPr>
            <a:spLocks noGrp="1"/>
          </p:cNvSpPr>
          <p:nvPr/>
        </p:nvSpPr>
        <p:spPr>
          <a:xfrm>
            <a:off x="914400" y="4933950"/>
            <a:ext cx="876300" cy="685800"/>
          </a:xfrm>
          <a:prstGeom prst="ellipse">
            <a:avLst/>
          </a:prstGeom>
          <a:solidFill>
            <a:srgbClr val="C65B4B"/>
          </a:solidFill>
          <a:ln w="0">
            <a:solidFill>
              <a:srgbClr val="C65B4B"/>
            </a:solidFill>
          </a:ln>
        </p:spPr>
        <p:txBody>
          <a:bodyPr/>
          <a:lstStyle/>
          <a:p>
            <a:endParaRPr/>
          </a:p>
        </p:txBody>
      </p:sp>
      <p:sp>
        <p:nvSpPr>
          <p:cNvPr id="19" name="Hình chữ nhật 18">
            <a:extLst>
              <a:ext uri="{FF2B5EF4-FFF2-40B4-BE49-F238E27FC236}">
                <a16:creationId xmlns:a16="http://schemas.microsoft.com/office/drawing/2014/main" id="{E2A6D8B8-8403-4A07-AE94-A999B5C5C6FD}"/>
              </a:ext>
            </a:extLst>
          </p:cNvPr>
          <p:cNvSpPr>
            <a:spLocks noGrp="1"/>
          </p:cNvSpPr>
          <p:nvPr/>
        </p:nvSpPr>
        <p:spPr>
          <a:xfrm>
            <a:off x="1028700" y="5124450"/>
            <a:ext cx="647700" cy="413004"/>
          </a:xfrm>
          <a:prstGeom prst="rect">
            <a:avLst/>
          </a:prstGeom>
          <a:noFill/>
          <a:ln w="0">
            <a:noFill/>
          </a:ln>
        </p:spPr>
        <p:txBody>
          <a:bodyPr anchor="t">
            <a:noAutofit/>
          </a:bodyPr>
          <a:lstStyle/>
          <a:p>
            <a:pPr algn="ctr">
              <a:buNone/>
              <a:defRPr sz="1500" b="1" i="0">
                <a:solidFill>
                  <a:srgbClr val="FFFFFF"/>
                </a:solidFill>
                <a:latin typeface="Times New Roman"/>
                <a:ea typeface="Times New Roman"/>
                <a:cs typeface="Times New Roman"/>
              </a:defRPr>
            </a:pPr>
            <a:r>
              <a:rPr sz="1800" b="1" i="0">
                <a:solidFill>
                  <a:srgbClr val="FFFFFF"/>
                </a:solidFill>
                <a:latin typeface="Times New Roman"/>
                <a:ea typeface="Times New Roman"/>
                <a:cs typeface="Times New Roman"/>
              </a:rPr>
              <a:t>1844</a:t>
            </a:r>
          </a:p>
        </p:txBody>
      </p:sp>
      <p:sp>
        <p:nvSpPr>
          <p:cNvPr id="20" name="Hình chữ nhật 19">
            <a:extLst>
              <a:ext uri="{FF2B5EF4-FFF2-40B4-BE49-F238E27FC236}">
                <a16:creationId xmlns:a16="http://schemas.microsoft.com/office/drawing/2014/main" id="{678D8CA3-1751-4C61-AD7D-E0C3384BD464}"/>
              </a:ext>
            </a:extLst>
          </p:cNvPr>
          <p:cNvSpPr>
            <a:spLocks noGrp="1"/>
          </p:cNvSpPr>
          <p:nvPr/>
        </p:nvSpPr>
        <p:spPr>
          <a:xfrm>
            <a:off x="2305050" y="5029200"/>
            <a:ext cx="8286750" cy="753618"/>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000" b="0" i="0">
                <a:solidFill>
                  <a:srgbClr val="1D2A35"/>
                </a:solidFill>
                <a:latin typeface="Times New Roman"/>
                <a:ea typeface="Times New Roman"/>
                <a:cs typeface="Times New Roman"/>
              </a:rPr>
              <a:t>Tại Paris, Mác chuyển dứt khoát sang chủ nghĩa duy vật và chủ nghĩa cộng sản.</a:t>
            </a:r>
          </a:p>
        </p:txBody>
      </p:sp>
    </p:spTree>
    <p:extLst>
      <p:ext uri="{BB962C8B-B14F-4D97-AF65-F5344CB8AC3E}">
        <p14:creationId xmlns:p14="http://schemas.microsoft.com/office/powerpoint/2010/main" val="2018944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8" name="Hình chữ nhật 17">
            <a:extLst>
              <a:ext uri="{FF2B5EF4-FFF2-40B4-BE49-F238E27FC236}">
                <a16:creationId xmlns:a16="http://schemas.microsoft.com/office/drawing/2014/main" id="{84A1C029-643F-4377-BB17-F2A3C09378EE}"/>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2.2. CÁC THỜI KỲ CHỦ YẾU</a:t>
            </a:r>
          </a:p>
        </p:txBody>
      </p:sp>
      <p:sp>
        <p:nvSpPr>
          <p:cNvPr id="2" name="Hình chữ nhật 1">
            <a:extLst>
              <a:ext uri="{FF2B5EF4-FFF2-40B4-BE49-F238E27FC236}">
                <a16:creationId xmlns:a16="http://schemas.microsoft.com/office/drawing/2014/main" id="{AE2DBFF7-95B9-43A1-A33E-3EB49A12E908}"/>
              </a:ext>
            </a:extLst>
          </p:cNvPr>
          <p:cNvSpPr>
            <a:spLocks noGrp="1"/>
          </p:cNvSpPr>
          <p:nvPr/>
        </p:nvSpPr>
        <p:spPr>
          <a:xfrm>
            <a:off x="685800" y="704844"/>
            <a:ext cx="10001250" cy="628655"/>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Giai đoạn đề xuất các nguyên lý nền tảng (1844 - 1848)</a:t>
            </a:r>
          </a:p>
        </p:txBody>
      </p:sp>
      <p:sp>
        <p:nvSpPr>
          <p:cNvPr id="3" name="Hình chữ nhật 2">
            <a:extLst>
              <a:ext uri="{FF2B5EF4-FFF2-40B4-BE49-F238E27FC236}">
                <a16:creationId xmlns:a16="http://schemas.microsoft.com/office/drawing/2014/main" id="{4298BBC6-015D-48D0-B29F-4E1BE3B31617}"/>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3A2E2FE3-A742-42A4-BD39-129EB135A43B}"/>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65-69</a:t>
            </a:r>
          </a:p>
        </p:txBody>
      </p:sp>
      <p:sp>
        <p:nvSpPr>
          <p:cNvPr id="5" name="Hình chữ nhật 4">
            <a:extLst>
              <a:ext uri="{FF2B5EF4-FFF2-40B4-BE49-F238E27FC236}">
                <a16:creationId xmlns:a16="http://schemas.microsoft.com/office/drawing/2014/main" id="{613E675B-A1FA-4903-8FCD-B0F57AF5248A}"/>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25</a:t>
            </a:r>
          </a:p>
        </p:txBody>
      </p:sp>
      <p:sp>
        <p:nvSpPr>
          <p:cNvPr id="6" name="Hình chữ nhật: Góc Tròn 5">
            <a:extLst>
              <a:ext uri="{FF2B5EF4-FFF2-40B4-BE49-F238E27FC236}">
                <a16:creationId xmlns:a16="http://schemas.microsoft.com/office/drawing/2014/main" id="{AB1C0418-BE4B-40B4-A985-2DF70B63656C}"/>
              </a:ext>
            </a:extLst>
          </p:cNvPr>
          <p:cNvSpPr>
            <a:spLocks noGrp="1"/>
          </p:cNvSpPr>
          <p:nvPr/>
        </p:nvSpPr>
        <p:spPr>
          <a:xfrm>
            <a:off x="685800" y="1943100"/>
            <a:ext cx="4762500" cy="1466850"/>
          </a:xfrm>
          <a:prstGeom prst="roundRect">
            <a:avLst>
              <a:gd name="adj" fmla="val 5195"/>
            </a:avLst>
          </a:prstGeom>
          <a:solidFill>
            <a:srgbClr val="F8EFD9"/>
          </a:solidFill>
          <a:ln w="0">
            <a:noFill/>
          </a:ln>
        </p:spPr>
        <p:txBody>
          <a:bodyPr/>
          <a:lstStyle/>
          <a:p>
            <a:endParaRPr/>
          </a:p>
        </p:txBody>
      </p:sp>
      <p:sp>
        <p:nvSpPr>
          <p:cNvPr id="7" name="Hình chữ nhật 6">
            <a:extLst>
              <a:ext uri="{FF2B5EF4-FFF2-40B4-BE49-F238E27FC236}">
                <a16:creationId xmlns:a16="http://schemas.microsoft.com/office/drawing/2014/main" id="{D744DDAD-D2C6-470C-A492-E2E458492A0A}"/>
              </a:ext>
            </a:extLst>
          </p:cNvPr>
          <p:cNvSpPr>
            <a:spLocks noGrp="1"/>
          </p:cNvSpPr>
          <p:nvPr/>
        </p:nvSpPr>
        <p:spPr>
          <a:xfrm>
            <a:off x="914400" y="2152650"/>
            <a:ext cx="4305300" cy="546354"/>
          </a:xfrm>
          <a:prstGeom prst="rect">
            <a:avLst/>
          </a:prstGeom>
          <a:noFill/>
          <a:ln w="0">
            <a:noFill/>
          </a:ln>
        </p:spPr>
        <p:txBody>
          <a:bodyPr anchor="t"/>
          <a:lstStyle/>
          <a:p>
            <a:pPr algn="l">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Bản thảo kinh tế - triết học (1844)</a:t>
            </a:r>
          </a:p>
        </p:txBody>
      </p:sp>
      <p:sp>
        <p:nvSpPr>
          <p:cNvPr id="8" name="Hình chữ nhật 7">
            <a:extLst>
              <a:ext uri="{FF2B5EF4-FFF2-40B4-BE49-F238E27FC236}">
                <a16:creationId xmlns:a16="http://schemas.microsoft.com/office/drawing/2014/main" id="{60E89831-F401-43E3-8410-EC982E0BE8AA}"/>
              </a:ext>
            </a:extLst>
          </p:cNvPr>
          <p:cNvSpPr>
            <a:spLocks noGrp="1"/>
          </p:cNvSpPr>
          <p:nvPr/>
        </p:nvSpPr>
        <p:spPr>
          <a:xfrm>
            <a:off x="914400" y="2724150"/>
            <a:ext cx="4305300" cy="694944"/>
          </a:xfrm>
          <a:prstGeom prst="rect">
            <a:avLst/>
          </a:prstGeom>
          <a:noFill/>
          <a:ln w="0">
            <a:noFill/>
          </a:ln>
        </p:spPr>
        <p:txBody>
          <a:bodyPr anchor="t"/>
          <a:lstStyle/>
          <a:p>
            <a:pPr algn="l">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Phân tích lao động bị tha hóa và sự giải phóng con người.</a:t>
            </a:r>
          </a:p>
        </p:txBody>
      </p:sp>
      <p:sp>
        <p:nvSpPr>
          <p:cNvPr id="9" name="Hình chữ nhật: Góc Tròn 8">
            <a:extLst>
              <a:ext uri="{FF2B5EF4-FFF2-40B4-BE49-F238E27FC236}">
                <a16:creationId xmlns:a16="http://schemas.microsoft.com/office/drawing/2014/main" id="{B9A13A6D-1EF8-41BF-AD9C-73580292625F}"/>
              </a:ext>
            </a:extLst>
          </p:cNvPr>
          <p:cNvSpPr>
            <a:spLocks noGrp="1"/>
          </p:cNvSpPr>
          <p:nvPr/>
        </p:nvSpPr>
        <p:spPr>
          <a:xfrm>
            <a:off x="6191250" y="1943100"/>
            <a:ext cx="4762500" cy="1466850"/>
          </a:xfrm>
          <a:prstGeom prst="roundRect">
            <a:avLst>
              <a:gd name="adj" fmla="val 5195"/>
            </a:avLst>
          </a:prstGeom>
          <a:solidFill>
            <a:srgbClr val="EAF1F4"/>
          </a:solidFill>
          <a:ln w="0">
            <a:noFill/>
          </a:ln>
        </p:spPr>
        <p:txBody>
          <a:bodyPr/>
          <a:lstStyle/>
          <a:p>
            <a:endParaRPr/>
          </a:p>
        </p:txBody>
      </p:sp>
      <p:sp>
        <p:nvSpPr>
          <p:cNvPr id="10" name="Hình chữ nhật 9">
            <a:extLst>
              <a:ext uri="{FF2B5EF4-FFF2-40B4-BE49-F238E27FC236}">
                <a16:creationId xmlns:a16="http://schemas.microsoft.com/office/drawing/2014/main" id="{B6C0A267-6FA2-4355-9105-EAF5E5867B15}"/>
              </a:ext>
            </a:extLst>
          </p:cNvPr>
          <p:cNvSpPr>
            <a:spLocks noGrp="1"/>
          </p:cNvSpPr>
          <p:nvPr/>
        </p:nvSpPr>
        <p:spPr>
          <a:xfrm>
            <a:off x="6419850" y="2152650"/>
            <a:ext cx="4305300" cy="546354"/>
          </a:xfrm>
          <a:prstGeom prst="rect">
            <a:avLst/>
          </a:prstGeom>
          <a:noFill/>
          <a:ln w="0">
            <a:noFill/>
          </a:ln>
        </p:spPr>
        <p:txBody>
          <a:bodyPr anchor="t"/>
          <a:lstStyle/>
          <a:p>
            <a:pPr algn="l">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Luận cương về Feuerbach (1845)</a:t>
            </a:r>
          </a:p>
        </p:txBody>
      </p:sp>
      <p:sp>
        <p:nvSpPr>
          <p:cNvPr id="11" name="Hình chữ nhật 10">
            <a:extLst>
              <a:ext uri="{FF2B5EF4-FFF2-40B4-BE49-F238E27FC236}">
                <a16:creationId xmlns:a16="http://schemas.microsoft.com/office/drawing/2014/main" id="{F2165D15-6ADD-4ADA-9E29-FA13FA76EABA}"/>
              </a:ext>
            </a:extLst>
          </p:cNvPr>
          <p:cNvSpPr>
            <a:spLocks noGrp="1"/>
          </p:cNvSpPr>
          <p:nvPr/>
        </p:nvSpPr>
        <p:spPr>
          <a:xfrm>
            <a:off x="6419850" y="2724150"/>
            <a:ext cx="4305300" cy="694944"/>
          </a:xfrm>
          <a:prstGeom prst="rect">
            <a:avLst/>
          </a:prstGeom>
          <a:noFill/>
          <a:ln w="0">
            <a:noFill/>
          </a:ln>
        </p:spPr>
        <p:txBody>
          <a:bodyPr anchor="t"/>
          <a:lstStyle/>
          <a:p>
            <a:pPr algn="l">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Nhấn mạnh vai trò quyết định của thực tiễn; bản chất con người là tổng hòa các quan hệ xã hội.</a:t>
            </a:r>
          </a:p>
        </p:txBody>
      </p:sp>
      <p:sp>
        <p:nvSpPr>
          <p:cNvPr id="12" name="Hình chữ nhật: Góc Tròn 11">
            <a:extLst>
              <a:ext uri="{FF2B5EF4-FFF2-40B4-BE49-F238E27FC236}">
                <a16:creationId xmlns:a16="http://schemas.microsoft.com/office/drawing/2014/main" id="{5CCE9D28-174D-4002-8F11-9294F030A28E}"/>
              </a:ext>
            </a:extLst>
          </p:cNvPr>
          <p:cNvSpPr>
            <a:spLocks noGrp="1"/>
          </p:cNvSpPr>
          <p:nvPr/>
        </p:nvSpPr>
        <p:spPr>
          <a:xfrm>
            <a:off x="685800" y="4019550"/>
            <a:ext cx="4762500" cy="1466850"/>
          </a:xfrm>
          <a:prstGeom prst="roundRect">
            <a:avLst>
              <a:gd name="adj" fmla="val 5195"/>
            </a:avLst>
          </a:prstGeom>
          <a:solidFill>
            <a:srgbClr val="F8EFD9"/>
          </a:solidFill>
          <a:ln w="0">
            <a:noFill/>
          </a:ln>
        </p:spPr>
        <p:txBody>
          <a:bodyPr/>
          <a:lstStyle/>
          <a:p>
            <a:endParaRPr/>
          </a:p>
        </p:txBody>
      </p:sp>
      <p:sp>
        <p:nvSpPr>
          <p:cNvPr id="13" name="Hình chữ nhật 12">
            <a:extLst>
              <a:ext uri="{FF2B5EF4-FFF2-40B4-BE49-F238E27FC236}">
                <a16:creationId xmlns:a16="http://schemas.microsoft.com/office/drawing/2014/main" id="{063BB63D-0222-4172-B028-C4EC468C3FDD}"/>
              </a:ext>
            </a:extLst>
          </p:cNvPr>
          <p:cNvSpPr>
            <a:spLocks noGrp="1"/>
          </p:cNvSpPr>
          <p:nvPr/>
        </p:nvSpPr>
        <p:spPr>
          <a:xfrm>
            <a:off x="914400" y="4229100"/>
            <a:ext cx="4305300" cy="546354"/>
          </a:xfrm>
          <a:prstGeom prst="rect">
            <a:avLst/>
          </a:prstGeom>
          <a:noFill/>
          <a:ln w="0">
            <a:noFill/>
          </a:ln>
        </p:spPr>
        <p:txBody>
          <a:bodyPr anchor="t"/>
          <a:lstStyle/>
          <a:p>
            <a:pPr algn="l">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Hệ tư tưởng Đức (1845 - 1846)</a:t>
            </a:r>
          </a:p>
        </p:txBody>
      </p:sp>
      <p:sp>
        <p:nvSpPr>
          <p:cNvPr id="14" name="Hình chữ nhật 13">
            <a:extLst>
              <a:ext uri="{FF2B5EF4-FFF2-40B4-BE49-F238E27FC236}">
                <a16:creationId xmlns:a16="http://schemas.microsoft.com/office/drawing/2014/main" id="{CBB29A43-1C2E-407E-8D79-934527B4EC76}"/>
              </a:ext>
            </a:extLst>
          </p:cNvPr>
          <p:cNvSpPr>
            <a:spLocks noGrp="1"/>
          </p:cNvSpPr>
          <p:nvPr/>
        </p:nvSpPr>
        <p:spPr>
          <a:xfrm>
            <a:off x="914400" y="4800600"/>
            <a:ext cx="4305300" cy="694944"/>
          </a:xfrm>
          <a:prstGeom prst="rect">
            <a:avLst/>
          </a:prstGeom>
          <a:noFill/>
          <a:ln w="0">
            <a:noFill/>
          </a:ln>
        </p:spPr>
        <p:txBody>
          <a:bodyPr anchor="t"/>
          <a:lstStyle/>
          <a:p>
            <a:pPr algn="l">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Trình bày quan điểm duy vật lịch sử một cách hệ thống.</a:t>
            </a:r>
          </a:p>
        </p:txBody>
      </p:sp>
      <p:sp>
        <p:nvSpPr>
          <p:cNvPr id="15" name="Hình chữ nhật: Góc Tròn 14">
            <a:extLst>
              <a:ext uri="{FF2B5EF4-FFF2-40B4-BE49-F238E27FC236}">
                <a16:creationId xmlns:a16="http://schemas.microsoft.com/office/drawing/2014/main" id="{D2568F33-1432-4E5D-A728-8ED379957AA5}"/>
              </a:ext>
            </a:extLst>
          </p:cNvPr>
          <p:cNvSpPr>
            <a:spLocks noGrp="1"/>
          </p:cNvSpPr>
          <p:nvPr/>
        </p:nvSpPr>
        <p:spPr>
          <a:xfrm>
            <a:off x="6191250" y="4019550"/>
            <a:ext cx="4762500" cy="1466850"/>
          </a:xfrm>
          <a:prstGeom prst="roundRect">
            <a:avLst>
              <a:gd name="adj" fmla="val 5195"/>
            </a:avLst>
          </a:prstGeom>
          <a:solidFill>
            <a:srgbClr val="EAF1F4"/>
          </a:solidFill>
          <a:ln w="0">
            <a:noFill/>
          </a:ln>
        </p:spPr>
        <p:txBody>
          <a:bodyPr/>
          <a:lstStyle/>
          <a:p>
            <a:endParaRPr/>
          </a:p>
        </p:txBody>
      </p:sp>
      <p:sp>
        <p:nvSpPr>
          <p:cNvPr id="16" name="Hình chữ nhật 15">
            <a:extLst>
              <a:ext uri="{FF2B5EF4-FFF2-40B4-BE49-F238E27FC236}">
                <a16:creationId xmlns:a16="http://schemas.microsoft.com/office/drawing/2014/main" id="{DD7AFE05-E31E-4A9A-A854-B6BD5CF5A9D1}"/>
              </a:ext>
            </a:extLst>
          </p:cNvPr>
          <p:cNvSpPr>
            <a:spLocks noGrp="1"/>
          </p:cNvSpPr>
          <p:nvPr/>
        </p:nvSpPr>
        <p:spPr>
          <a:xfrm>
            <a:off x="6419850" y="4229100"/>
            <a:ext cx="4305300" cy="546354"/>
          </a:xfrm>
          <a:prstGeom prst="rect">
            <a:avLst/>
          </a:prstGeom>
          <a:noFill/>
          <a:ln w="0">
            <a:noFill/>
          </a:ln>
        </p:spPr>
        <p:txBody>
          <a:bodyPr anchor="t"/>
          <a:lstStyle/>
          <a:p>
            <a:pPr algn="l">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Tuyên ngôn của Đảng Cộng sản (1848)</a:t>
            </a:r>
          </a:p>
        </p:txBody>
      </p:sp>
      <p:sp>
        <p:nvSpPr>
          <p:cNvPr id="17" name="Hình chữ nhật 16">
            <a:extLst>
              <a:ext uri="{FF2B5EF4-FFF2-40B4-BE49-F238E27FC236}">
                <a16:creationId xmlns:a16="http://schemas.microsoft.com/office/drawing/2014/main" id="{13377D33-7540-4C29-A48C-E060457E925D}"/>
              </a:ext>
            </a:extLst>
          </p:cNvPr>
          <p:cNvSpPr>
            <a:spLocks noGrp="1"/>
          </p:cNvSpPr>
          <p:nvPr/>
        </p:nvSpPr>
        <p:spPr>
          <a:xfrm>
            <a:off x="6419850" y="4800600"/>
            <a:ext cx="4305300" cy="694944"/>
          </a:xfrm>
          <a:prstGeom prst="rect">
            <a:avLst/>
          </a:prstGeom>
          <a:noFill/>
          <a:ln w="0">
            <a:noFill/>
          </a:ln>
        </p:spPr>
        <p:txBody>
          <a:bodyPr anchor="t"/>
          <a:lstStyle/>
          <a:p>
            <a:pPr algn="l">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Trình bày thế giới quan mới và sự thống nhất giữa triết học, kinh tế, chính trị - xã hội.</a:t>
            </a:r>
          </a:p>
        </p:txBody>
      </p:sp>
    </p:spTree>
    <p:extLst>
      <p:ext uri="{BB962C8B-B14F-4D97-AF65-F5344CB8AC3E}">
        <p14:creationId xmlns:p14="http://schemas.microsoft.com/office/powerpoint/2010/main" val="15679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8" name="Hình chữ nhật 7">
            <a:extLst>
              <a:ext uri="{FF2B5EF4-FFF2-40B4-BE49-F238E27FC236}">
                <a16:creationId xmlns:a16="http://schemas.microsoft.com/office/drawing/2014/main" id="{5975118E-867A-4385-898B-EBA284352B43}"/>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2.2. CÁC THỜI KỲ CHỦ YẾU</a:t>
            </a:r>
          </a:p>
        </p:txBody>
      </p:sp>
      <p:sp>
        <p:nvSpPr>
          <p:cNvPr id="2" name="Hình chữ nhật 1">
            <a:extLst>
              <a:ext uri="{FF2B5EF4-FFF2-40B4-BE49-F238E27FC236}">
                <a16:creationId xmlns:a16="http://schemas.microsoft.com/office/drawing/2014/main" id="{9CC19309-594E-414A-B446-7AFADC641A6E}"/>
              </a:ext>
            </a:extLst>
          </p:cNvPr>
          <p:cNvSpPr>
            <a:spLocks noGrp="1"/>
          </p:cNvSpPr>
          <p:nvPr/>
        </p:nvSpPr>
        <p:spPr>
          <a:xfrm>
            <a:off x="685800" y="723894"/>
            <a:ext cx="10001250" cy="609605"/>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Giai đoạn phát triển toàn diện (1848 - 1895)</a:t>
            </a:r>
          </a:p>
        </p:txBody>
      </p:sp>
      <p:sp>
        <p:nvSpPr>
          <p:cNvPr id="3" name="Hình chữ nhật 2">
            <a:extLst>
              <a:ext uri="{FF2B5EF4-FFF2-40B4-BE49-F238E27FC236}">
                <a16:creationId xmlns:a16="http://schemas.microsoft.com/office/drawing/2014/main" id="{D0C8A31D-55B9-46E6-BFEC-4993C86FD048}"/>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62574783-E80B-439D-ADB2-8CAF2FF4F4CE}"/>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69-71</a:t>
            </a:r>
          </a:p>
        </p:txBody>
      </p:sp>
      <p:sp>
        <p:nvSpPr>
          <p:cNvPr id="5" name="Hình chữ nhật 4">
            <a:extLst>
              <a:ext uri="{FF2B5EF4-FFF2-40B4-BE49-F238E27FC236}">
                <a16:creationId xmlns:a16="http://schemas.microsoft.com/office/drawing/2014/main" id="{13DF1B37-38EB-462C-9F18-C34BF26D6638}"/>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26</a:t>
            </a:r>
          </a:p>
        </p:txBody>
      </p:sp>
      <p:pic>
        <p:nvPicPr>
          <p:cNvPr id="15" name="Hình ảnh 14"/>
          <p:cNvPicPr>
            <a:picLocks noChangeAspect="1"/>
          </p:cNvPicPr>
          <p:nvPr/>
        </p:nvPicPr>
        <p:blipFill>
          <a:blip r:embed="rId3"/>
          <a:srcRect l="15378" r="15378"/>
          <a:stretch>
            <a:fillRect/>
          </a:stretch>
        </p:blipFill>
        <p:spPr>
          <a:xfrm>
            <a:off x="685800" y="1847850"/>
            <a:ext cx="4476750" cy="3638550"/>
          </a:xfrm>
          <a:prstGeom prst="roundRect">
            <a:avLst>
              <a:gd name="adj" fmla="val 4188"/>
            </a:avLst>
          </a:prstGeom>
        </p:spPr>
      </p:pic>
      <p:sp>
        <p:nvSpPr>
          <p:cNvPr id="7" name="Hình chữ nhật 6">
            <a:extLst>
              <a:ext uri="{FF2B5EF4-FFF2-40B4-BE49-F238E27FC236}">
                <a16:creationId xmlns:a16="http://schemas.microsoft.com/office/drawing/2014/main" id="{84291497-8CF2-46B4-8E7C-1BC17382E2E0}"/>
              </a:ext>
            </a:extLst>
          </p:cNvPr>
          <p:cNvSpPr>
            <a:spLocks noGrp="1"/>
          </p:cNvSpPr>
          <p:nvPr/>
        </p:nvSpPr>
        <p:spPr>
          <a:xfrm>
            <a:off x="5905500" y="1981200"/>
            <a:ext cx="5143500" cy="3371850"/>
          </a:xfrm>
          <a:prstGeom prst="rect">
            <a:avLst/>
          </a:prstGeom>
          <a:noFill/>
          <a:ln w="0">
            <a:noFill/>
          </a:ln>
        </p:spPr>
        <p:txBody>
          <a:bodyPr anchor="t"/>
          <a:lstStyle/>
          <a:p>
            <a:pPr algn="l">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  Mác và Ăngghen tiếp tục gắn lý luận với thực tiễn cách mạng của giai cấp công nhân.</a:t>
            </a:r>
          </a:p>
          <a:p>
            <a:pPr algn="l">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  Bộ Tư bản là công trình kinh tế chính trị lớn, đồng thời bổ sung và phát triển triết học Mác.</a:t>
            </a:r>
          </a:p>
          <a:p>
            <a:pPr algn="l">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  Mác phân tích kinh nghiệm Công xã Paris và mô hình xã hội tương lai trong Phê phán Cương lĩnh Gôta.</a:t>
            </a:r>
          </a:p>
          <a:p>
            <a:pPr algn="l">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  Ăngghen phát triển triết học Mác qua Biện chứng của tự nhiên, Chống Đuyrinh, Nguồn gốc của gia đình, của chế độ tư hữu và của nhà nước.</a:t>
            </a:r>
          </a:p>
          <a:p>
            <a:pPr algn="l">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  Sau khi Mác qua đời, Ăngghen tiếp tục hoàn chỉnh và bảo vệ học thuyết.</a:t>
            </a:r>
          </a:p>
        </p:txBody>
      </p:sp>
    </p:spTree>
    <p:extLst>
      <p:ext uri="{BB962C8B-B14F-4D97-AF65-F5344CB8AC3E}">
        <p14:creationId xmlns:p14="http://schemas.microsoft.com/office/powerpoint/2010/main" val="1964232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7" name="Hình chữ nhật 16">
            <a:extLst>
              <a:ext uri="{FF2B5EF4-FFF2-40B4-BE49-F238E27FC236}">
                <a16:creationId xmlns:a16="http://schemas.microsoft.com/office/drawing/2014/main" id="{D2E22397-8B26-4E54-80CC-97B3E11B96AF}"/>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2.3. Ý NGHĨA CUỘC CÁCH MẠNG</a:t>
            </a:r>
          </a:p>
        </p:txBody>
      </p:sp>
      <p:sp>
        <p:nvSpPr>
          <p:cNvPr id="2" name="Hình chữ nhật 1">
            <a:extLst>
              <a:ext uri="{FF2B5EF4-FFF2-40B4-BE49-F238E27FC236}">
                <a16:creationId xmlns:a16="http://schemas.microsoft.com/office/drawing/2014/main" id="{E73D4CA4-3FC4-4766-8D51-72ED7691CF54}"/>
              </a:ext>
            </a:extLst>
          </p:cNvPr>
          <p:cNvSpPr>
            <a:spLocks noGrp="1"/>
          </p:cNvSpPr>
          <p:nvPr/>
        </p:nvSpPr>
        <p:spPr>
          <a:xfrm>
            <a:off x="685800" y="737118"/>
            <a:ext cx="10001250" cy="596382"/>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Thực chất cuộc cách mạng trong triết học</a:t>
            </a:r>
          </a:p>
        </p:txBody>
      </p:sp>
      <p:sp>
        <p:nvSpPr>
          <p:cNvPr id="3" name="Hình chữ nhật 2">
            <a:extLst>
              <a:ext uri="{FF2B5EF4-FFF2-40B4-BE49-F238E27FC236}">
                <a16:creationId xmlns:a16="http://schemas.microsoft.com/office/drawing/2014/main" id="{541DCCD2-4DF2-4645-AB2E-BE6064A480F3}"/>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2A2288FC-EA4E-4D0C-94DA-E9B7C3746035}"/>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71-76</a:t>
            </a:r>
          </a:p>
        </p:txBody>
      </p:sp>
      <p:sp>
        <p:nvSpPr>
          <p:cNvPr id="5" name="Hình chữ nhật 4">
            <a:extLst>
              <a:ext uri="{FF2B5EF4-FFF2-40B4-BE49-F238E27FC236}">
                <a16:creationId xmlns:a16="http://schemas.microsoft.com/office/drawing/2014/main" id="{B56E4A6D-15BF-4714-B82F-99792AF66F02}"/>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27</a:t>
            </a:r>
          </a:p>
        </p:txBody>
      </p:sp>
      <p:sp>
        <p:nvSpPr>
          <p:cNvPr id="6" name="Hình chữ nhật: Góc Tròn 5">
            <a:extLst>
              <a:ext uri="{FF2B5EF4-FFF2-40B4-BE49-F238E27FC236}">
                <a16:creationId xmlns:a16="http://schemas.microsoft.com/office/drawing/2014/main" id="{F9ABD35C-97FB-4201-B101-B0B435128112}"/>
              </a:ext>
            </a:extLst>
          </p:cNvPr>
          <p:cNvSpPr>
            <a:spLocks noGrp="1"/>
          </p:cNvSpPr>
          <p:nvPr/>
        </p:nvSpPr>
        <p:spPr>
          <a:xfrm>
            <a:off x="685800" y="1924050"/>
            <a:ext cx="10363200" cy="1143000"/>
          </a:xfrm>
          <a:prstGeom prst="roundRect">
            <a:avLst>
              <a:gd name="adj" fmla="val 8000"/>
            </a:avLst>
          </a:prstGeom>
          <a:solidFill>
            <a:srgbClr val="142B43"/>
          </a:solidFill>
          <a:ln w="0">
            <a:solidFill>
              <a:srgbClr val="142B43"/>
            </a:solidFill>
          </a:ln>
        </p:spPr>
        <p:txBody>
          <a:bodyPr/>
          <a:lstStyle/>
          <a:p>
            <a:endParaRPr/>
          </a:p>
        </p:txBody>
      </p:sp>
      <p:sp>
        <p:nvSpPr>
          <p:cNvPr id="7" name="Hình chữ nhật 6">
            <a:extLst>
              <a:ext uri="{FF2B5EF4-FFF2-40B4-BE49-F238E27FC236}">
                <a16:creationId xmlns:a16="http://schemas.microsoft.com/office/drawing/2014/main" id="{7635F7B1-0F11-46F4-862B-1B211C7318CE}"/>
              </a:ext>
            </a:extLst>
          </p:cNvPr>
          <p:cNvSpPr>
            <a:spLocks noGrp="1"/>
          </p:cNvSpPr>
          <p:nvPr/>
        </p:nvSpPr>
        <p:spPr>
          <a:xfrm>
            <a:off x="1066800" y="2057400"/>
            <a:ext cx="9601200" cy="914400"/>
          </a:xfrm>
          <a:prstGeom prst="rect">
            <a:avLst/>
          </a:prstGeom>
          <a:noFill/>
          <a:ln w="0">
            <a:noFill/>
          </a:ln>
        </p:spPr>
        <p:txBody>
          <a:bodyPr lIns="114300" tIns="57150" rIns="114300" bIns="57150" anchor="ctr">
            <a:normAutofit fontScale="97836"/>
          </a:bodyPr>
          <a:lstStyle/>
          <a:p>
            <a:pPr algn="ctr">
              <a:buNone/>
              <a:defRPr sz="1950" b="1" i="0">
                <a:solidFill>
                  <a:srgbClr val="FFFFFF"/>
                </a:solidFill>
                <a:latin typeface="Times New Roman"/>
                <a:ea typeface="Times New Roman"/>
                <a:cs typeface="Times New Roman"/>
              </a:defRPr>
            </a:pPr>
            <a:r>
              <a:rPr sz="1950" b="1" i="0">
                <a:solidFill>
                  <a:srgbClr val="FFFFFF"/>
                </a:solidFill>
                <a:latin typeface="Times New Roman"/>
                <a:ea typeface="Times New Roman"/>
                <a:cs typeface="Times New Roman"/>
              </a:rPr>
              <a:t>C. Mác và Ph. Ăngghen đã sáng tạo ra chủ nghĩa duy vật biện chứng, biến triết học thành thế giới quan và phương pháp luận khoa học của giai cấp công nhân.</a:t>
            </a:r>
          </a:p>
        </p:txBody>
      </p:sp>
      <p:sp>
        <p:nvSpPr>
          <p:cNvPr id="8" name="Hình chữ nhật: Góc Tròn 7">
            <a:extLst>
              <a:ext uri="{FF2B5EF4-FFF2-40B4-BE49-F238E27FC236}">
                <a16:creationId xmlns:a16="http://schemas.microsoft.com/office/drawing/2014/main" id="{C29E668C-DBF3-4FEE-90A2-07E5F104A799}"/>
              </a:ext>
            </a:extLst>
          </p:cNvPr>
          <p:cNvSpPr>
            <a:spLocks noGrp="1"/>
          </p:cNvSpPr>
          <p:nvPr/>
        </p:nvSpPr>
        <p:spPr>
          <a:xfrm>
            <a:off x="685800" y="3600450"/>
            <a:ext cx="2857500" cy="1619250"/>
          </a:xfrm>
          <a:prstGeom prst="roundRect">
            <a:avLst>
              <a:gd name="adj" fmla="val 4706"/>
            </a:avLst>
          </a:prstGeom>
          <a:solidFill>
            <a:srgbClr val="F8EFD9"/>
          </a:solidFill>
          <a:ln w="0">
            <a:noFill/>
          </a:ln>
        </p:spPr>
        <p:txBody>
          <a:bodyPr/>
          <a:lstStyle/>
          <a:p>
            <a:endParaRPr/>
          </a:p>
        </p:txBody>
      </p:sp>
      <p:sp>
        <p:nvSpPr>
          <p:cNvPr id="9" name="Hình chữ nhật 8">
            <a:extLst>
              <a:ext uri="{FF2B5EF4-FFF2-40B4-BE49-F238E27FC236}">
                <a16:creationId xmlns:a16="http://schemas.microsoft.com/office/drawing/2014/main" id="{FF3D16E2-6F0D-4343-9CE9-E97515591AB6}"/>
              </a:ext>
            </a:extLst>
          </p:cNvPr>
          <p:cNvSpPr>
            <a:spLocks noGrp="1"/>
          </p:cNvSpPr>
          <p:nvPr/>
        </p:nvSpPr>
        <p:spPr>
          <a:xfrm>
            <a:off x="685801" y="3670554"/>
            <a:ext cx="2766526" cy="694944"/>
          </a:xfrm>
          <a:prstGeom prst="rect">
            <a:avLst/>
          </a:prstGeom>
          <a:noFill/>
          <a:ln w="0">
            <a:noFill/>
          </a:ln>
        </p:spPr>
        <p:txBody>
          <a:bodyPr anchor="t"/>
          <a:lstStyle/>
          <a:p>
            <a:pPr algn="ctr">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Khắc phục duy vật cũ</a:t>
            </a:r>
          </a:p>
        </p:txBody>
      </p:sp>
      <p:sp>
        <p:nvSpPr>
          <p:cNvPr id="10" name="Hình chữ nhật 9">
            <a:extLst>
              <a:ext uri="{FF2B5EF4-FFF2-40B4-BE49-F238E27FC236}">
                <a16:creationId xmlns:a16="http://schemas.microsoft.com/office/drawing/2014/main" id="{2FA4D847-D287-42FB-B9E6-A25D4E6585D4}"/>
              </a:ext>
            </a:extLst>
          </p:cNvPr>
          <p:cNvSpPr>
            <a:spLocks noGrp="1"/>
          </p:cNvSpPr>
          <p:nvPr/>
        </p:nvSpPr>
        <p:spPr>
          <a:xfrm>
            <a:off x="952500" y="4191000"/>
            <a:ext cx="2324100" cy="980694"/>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Vượt qua tính trực quan, máy móc và siêu hình.</a:t>
            </a:r>
          </a:p>
        </p:txBody>
      </p:sp>
      <p:sp>
        <p:nvSpPr>
          <p:cNvPr id="11" name="Hình chữ nhật: Góc Tròn 10">
            <a:extLst>
              <a:ext uri="{FF2B5EF4-FFF2-40B4-BE49-F238E27FC236}">
                <a16:creationId xmlns:a16="http://schemas.microsoft.com/office/drawing/2014/main" id="{FB41CDBA-4A46-4DC1-86B0-A1FA3D3AFCC9}"/>
              </a:ext>
            </a:extLst>
          </p:cNvPr>
          <p:cNvSpPr>
            <a:spLocks noGrp="1"/>
          </p:cNvSpPr>
          <p:nvPr/>
        </p:nvSpPr>
        <p:spPr>
          <a:xfrm>
            <a:off x="4114800" y="3600450"/>
            <a:ext cx="2857500" cy="1619250"/>
          </a:xfrm>
          <a:prstGeom prst="roundRect">
            <a:avLst>
              <a:gd name="adj" fmla="val 4706"/>
            </a:avLst>
          </a:prstGeom>
          <a:solidFill>
            <a:srgbClr val="EAF1F4"/>
          </a:solidFill>
          <a:ln w="0">
            <a:noFill/>
          </a:ln>
        </p:spPr>
        <p:txBody>
          <a:bodyPr/>
          <a:lstStyle/>
          <a:p>
            <a:endParaRPr/>
          </a:p>
        </p:txBody>
      </p:sp>
      <p:sp>
        <p:nvSpPr>
          <p:cNvPr id="12" name="Hình chữ nhật 11">
            <a:extLst>
              <a:ext uri="{FF2B5EF4-FFF2-40B4-BE49-F238E27FC236}">
                <a16:creationId xmlns:a16="http://schemas.microsoft.com/office/drawing/2014/main" id="{317BF159-EE13-4BF1-B2F6-32248D113DB1}"/>
              </a:ext>
            </a:extLst>
          </p:cNvPr>
          <p:cNvSpPr>
            <a:spLocks noGrp="1"/>
          </p:cNvSpPr>
          <p:nvPr/>
        </p:nvSpPr>
        <p:spPr>
          <a:xfrm>
            <a:off x="4343400" y="3670554"/>
            <a:ext cx="2400300" cy="742950"/>
          </a:xfrm>
          <a:prstGeom prst="rect">
            <a:avLst/>
          </a:prstGeom>
          <a:noFill/>
          <a:ln w="0">
            <a:noFill/>
          </a:ln>
        </p:spPr>
        <p:txBody>
          <a:bodyPr anchor="t"/>
          <a:lstStyle/>
          <a:p>
            <a:pPr algn="ctr">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Khắc phục duy tâm</a:t>
            </a:r>
          </a:p>
        </p:txBody>
      </p:sp>
      <p:sp>
        <p:nvSpPr>
          <p:cNvPr id="13" name="Hình chữ nhật 12">
            <a:extLst>
              <a:ext uri="{FF2B5EF4-FFF2-40B4-BE49-F238E27FC236}">
                <a16:creationId xmlns:a16="http://schemas.microsoft.com/office/drawing/2014/main" id="{4C52DA0A-3A5D-4933-B137-0FA5F08FADEC}"/>
              </a:ext>
            </a:extLst>
          </p:cNvPr>
          <p:cNvSpPr>
            <a:spLocks noGrp="1"/>
          </p:cNvSpPr>
          <p:nvPr/>
        </p:nvSpPr>
        <p:spPr>
          <a:xfrm>
            <a:off x="4381500" y="4239006"/>
            <a:ext cx="2324100" cy="932688"/>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Giải phóng phép biện chứng khỏi lớp vỏ duy tâm, thần bí.</a:t>
            </a:r>
          </a:p>
        </p:txBody>
      </p:sp>
      <p:sp>
        <p:nvSpPr>
          <p:cNvPr id="14" name="Hình chữ nhật: Góc Tròn 13">
            <a:extLst>
              <a:ext uri="{FF2B5EF4-FFF2-40B4-BE49-F238E27FC236}">
                <a16:creationId xmlns:a16="http://schemas.microsoft.com/office/drawing/2014/main" id="{6E29F865-F502-4728-B501-2D69257A73A2}"/>
              </a:ext>
            </a:extLst>
          </p:cNvPr>
          <p:cNvSpPr>
            <a:spLocks noGrp="1"/>
          </p:cNvSpPr>
          <p:nvPr/>
        </p:nvSpPr>
        <p:spPr>
          <a:xfrm>
            <a:off x="7543800" y="3600450"/>
            <a:ext cx="2857500" cy="1619250"/>
          </a:xfrm>
          <a:prstGeom prst="roundRect">
            <a:avLst>
              <a:gd name="adj" fmla="val 4706"/>
            </a:avLst>
          </a:prstGeom>
          <a:solidFill>
            <a:srgbClr val="F6E6E1"/>
          </a:solidFill>
          <a:ln w="0">
            <a:noFill/>
          </a:ln>
        </p:spPr>
        <p:txBody>
          <a:bodyPr/>
          <a:lstStyle/>
          <a:p>
            <a:endParaRPr/>
          </a:p>
        </p:txBody>
      </p:sp>
      <p:sp>
        <p:nvSpPr>
          <p:cNvPr id="15" name="Hình chữ nhật 14">
            <a:extLst>
              <a:ext uri="{FF2B5EF4-FFF2-40B4-BE49-F238E27FC236}">
                <a16:creationId xmlns:a16="http://schemas.microsoft.com/office/drawing/2014/main" id="{91FD7DDC-03B5-4C4C-8F23-C157E31FB754}"/>
              </a:ext>
            </a:extLst>
          </p:cNvPr>
          <p:cNvSpPr>
            <a:spLocks noGrp="1"/>
          </p:cNvSpPr>
          <p:nvPr/>
        </p:nvSpPr>
        <p:spPr>
          <a:xfrm>
            <a:off x="7543800" y="3600450"/>
            <a:ext cx="2857500" cy="813054"/>
          </a:xfrm>
          <a:prstGeom prst="rect">
            <a:avLst/>
          </a:prstGeom>
          <a:noFill/>
          <a:ln w="0">
            <a:noFill/>
          </a:ln>
        </p:spPr>
        <p:txBody>
          <a:bodyPr anchor="t"/>
          <a:lstStyle/>
          <a:p>
            <a:pPr algn="ctr">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Thống nhất lý luận - thực tiễn</a:t>
            </a:r>
          </a:p>
        </p:txBody>
      </p:sp>
      <p:sp>
        <p:nvSpPr>
          <p:cNvPr id="16" name="Hình chữ nhật 15">
            <a:extLst>
              <a:ext uri="{FF2B5EF4-FFF2-40B4-BE49-F238E27FC236}">
                <a16:creationId xmlns:a16="http://schemas.microsoft.com/office/drawing/2014/main" id="{18F864D5-12D3-4364-BC0C-27244F491BFA}"/>
              </a:ext>
            </a:extLst>
          </p:cNvPr>
          <p:cNvSpPr>
            <a:spLocks noGrp="1"/>
          </p:cNvSpPr>
          <p:nvPr/>
        </p:nvSpPr>
        <p:spPr>
          <a:xfrm>
            <a:off x="7810500" y="4273420"/>
            <a:ext cx="2590800" cy="898274"/>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Gắn giải thích thế giới với cải tạo thế giới bằng thực tiễn cách mạng.</a:t>
            </a:r>
          </a:p>
        </p:txBody>
      </p:sp>
    </p:spTree>
    <p:extLst>
      <p:ext uri="{BB962C8B-B14F-4D97-AF65-F5344CB8AC3E}">
        <p14:creationId xmlns:p14="http://schemas.microsoft.com/office/powerpoint/2010/main" val="53745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7" name="Hình chữ nhật 16">
            <a:extLst>
              <a:ext uri="{FF2B5EF4-FFF2-40B4-BE49-F238E27FC236}">
                <a16:creationId xmlns:a16="http://schemas.microsoft.com/office/drawing/2014/main" id="{147DA91D-9523-4BC8-A702-7398BD7DFF34}"/>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2.3. Ý NGHĨA CUỘC CÁCH MẠNG</a:t>
            </a:r>
          </a:p>
        </p:txBody>
      </p:sp>
      <p:sp>
        <p:nvSpPr>
          <p:cNvPr id="2" name="Hình chữ nhật 1">
            <a:extLst>
              <a:ext uri="{FF2B5EF4-FFF2-40B4-BE49-F238E27FC236}">
                <a16:creationId xmlns:a16="http://schemas.microsoft.com/office/drawing/2014/main" id="{C3047260-102B-4997-8D9A-F3BC8971533D}"/>
              </a:ext>
            </a:extLst>
          </p:cNvPr>
          <p:cNvSpPr>
            <a:spLocks noGrp="1"/>
          </p:cNvSpPr>
          <p:nvPr/>
        </p:nvSpPr>
        <p:spPr>
          <a:xfrm>
            <a:off x="685800" y="749046"/>
            <a:ext cx="10001250" cy="584454"/>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Từ duy vật biện chứng đến duy vật lịch sử</a:t>
            </a:r>
          </a:p>
        </p:txBody>
      </p:sp>
      <p:sp>
        <p:nvSpPr>
          <p:cNvPr id="3" name="Hình chữ nhật 2">
            <a:extLst>
              <a:ext uri="{FF2B5EF4-FFF2-40B4-BE49-F238E27FC236}">
                <a16:creationId xmlns:a16="http://schemas.microsoft.com/office/drawing/2014/main" id="{BC0D798A-29D8-41E4-A504-342213356B7B}"/>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B4BE6D7C-8DF3-4E97-AC7D-AC0D57A77DD9}"/>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72-74</a:t>
            </a:r>
          </a:p>
        </p:txBody>
      </p:sp>
      <p:sp>
        <p:nvSpPr>
          <p:cNvPr id="5" name="Hình chữ nhật 4">
            <a:extLst>
              <a:ext uri="{FF2B5EF4-FFF2-40B4-BE49-F238E27FC236}">
                <a16:creationId xmlns:a16="http://schemas.microsoft.com/office/drawing/2014/main" id="{FA10BC29-1136-4B94-B1E0-510E4DAA0529}"/>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28</a:t>
            </a:r>
          </a:p>
        </p:txBody>
      </p:sp>
      <p:sp>
        <p:nvSpPr>
          <p:cNvPr id="6" name="Hình chữ nhật 5">
            <a:extLst>
              <a:ext uri="{FF2B5EF4-FFF2-40B4-BE49-F238E27FC236}">
                <a16:creationId xmlns:a16="http://schemas.microsoft.com/office/drawing/2014/main" id="{3DB0BDDB-3CF1-4CD7-A059-DAF6CDE6F866}"/>
              </a:ext>
            </a:extLst>
          </p:cNvPr>
          <p:cNvSpPr>
            <a:spLocks noGrp="1"/>
          </p:cNvSpPr>
          <p:nvPr/>
        </p:nvSpPr>
        <p:spPr>
          <a:xfrm>
            <a:off x="685800" y="1638300"/>
            <a:ext cx="10893490" cy="660654"/>
          </a:xfrm>
          <a:prstGeom prst="rect">
            <a:avLst/>
          </a:prstGeom>
          <a:noFill/>
          <a:ln w="0">
            <a:noFill/>
          </a:ln>
        </p:spPr>
        <p:txBody>
          <a:bodyPr anchor="t">
            <a:noAutofit/>
          </a:bodyPr>
          <a:lstStyle/>
          <a:p>
            <a:pPr algn="ctr">
              <a:buNone/>
              <a:defRPr sz="195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Mác và Ăngghen vận dụng quan điểm duy vật biện chứng vào nghiên cứu lịch sử xã hội.</a:t>
            </a:r>
          </a:p>
        </p:txBody>
      </p:sp>
      <p:sp>
        <p:nvSpPr>
          <p:cNvPr id="7" name="Hình chữ nhật: Góc Tròn 6">
            <a:extLst>
              <a:ext uri="{FF2B5EF4-FFF2-40B4-BE49-F238E27FC236}">
                <a16:creationId xmlns:a16="http://schemas.microsoft.com/office/drawing/2014/main" id="{8BD40BBE-FB68-4CE9-976A-572699EF9BDB}"/>
              </a:ext>
            </a:extLst>
          </p:cNvPr>
          <p:cNvSpPr>
            <a:spLocks noGrp="1"/>
          </p:cNvSpPr>
          <p:nvPr/>
        </p:nvSpPr>
        <p:spPr>
          <a:xfrm>
            <a:off x="685800" y="2647950"/>
            <a:ext cx="2857500" cy="1828800"/>
          </a:xfrm>
          <a:prstGeom prst="roundRect">
            <a:avLst>
              <a:gd name="adj" fmla="val 4167"/>
            </a:avLst>
          </a:prstGeom>
          <a:solidFill>
            <a:srgbClr val="EAF1F4"/>
          </a:solidFill>
          <a:ln w="0">
            <a:solidFill>
              <a:srgbClr val="EAF1F4"/>
            </a:solidFill>
          </a:ln>
        </p:spPr>
        <p:txBody>
          <a:bodyPr/>
          <a:lstStyle/>
          <a:p>
            <a:endParaRPr/>
          </a:p>
        </p:txBody>
      </p:sp>
      <p:sp>
        <p:nvSpPr>
          <p:cNvPr id="8" name="Hình chữ nhật 7">
            <a:extLst>
              <a:ext uri="{FF2B5EF4-FFF2-40B4-BE49-F238E27FC236}">
                <a16:creationId xmlns:a16="http://schemas.microsoft.com/office/drawing/2014/main" id="{C62CA0D5-09C8-4252-B42A-ADA1E0E33311}"/>
              </a:ext>
            </a:extLst>
          </p:cNvPr>
          <p:cNvSpPr>
            <a:spLocks noGrp="1"/>
          </p:cNvSpPr>
          <p:nvPr/>
        </p:nvSpPr>
        <p:spPr>
          <a:xfrm>
            <a:off x="914400" y="2724539"/>
            <a:ext cx="2528596" cy="660265"/>
          </a:xfrm>
          <a:prstGeom prst="rect">
            <a:avLst/>
          </a:prstGeom>
          <a:noFill/>
          <a:ln w="0">
            <a:noFill/>
          </a:ln>
        </p:spPr>
        <p:txBody>
          <a:bodyPr anchor="t">
            <a:noAutofit/>
          </a:bodyPr>
          <a:lstStyle/>
          <a:p>
            <a:pPr algn="ctr">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Con người hiện thực</a:t>
            </a:r>
          </a:p>
        </p:txBody>
      </p:sp>
      <p:sp>
        <p:nvSpPr>
          <p:cNvPr id="9" name="Hình chữ nhật 8">
            <a:extLst>
              <a:ext uri="{FF2B5EF4-FFF2-40B4-BE49-F238E27FC236}">
                <a16:creationId xmlns:a16="http://schemas.microsoft.com/office/drawing/2014/main" id="{58635A30-9553-48B7-BBF1-C6757111CA59}"/>
              </a:ext>
            </a:extLst>
          </p:cNvPr>
          <p:cNvSpPr>
            <a:spLocks noGrp="1"/>
          </p:cNvSpPr>
          <p:nvPr/>
        </p:nvSpPr>
        <p:spPr>
          <a:xfrm>
            <a:off x="971550" y="3384804"/>
            <a:ext cx="2286000" cy="931164"/>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Xuất phát từ hoạt động sống và thực tiễn của con người.</a:t>
            </a:r>
          </a:p>
        </p:txBody>
      </p:sp>
      <p:sp>
        <p:nvSpPr>
          <p:cNvPr id="10" name="Hình chữ nhật: Góc Tròn 9">
            <a:extLst>
              <a:ext uri="{FF2B5EF4-FFF2-40B4-BE49-F238E27FC236}">
                <a16:creationId xmlns:a16="http://schemas.microsoft.com/office/drawing/2014/main" id="{DCCAFE47-C043-431E-B397-424B164FCEE6}"/>
              </a:ext>
            </a:extLst>
          </p:cNvPr>
          <p:cNvSpPr>
            <a:spLocks noGrp="1"/>
          </p:cNvSpPr>
          <p:nvPr/>
        </p:nvSpPr>
        <p:spPr>
          <a:xfrm>
            <a:off x="4667250" y="2647950"/>
            <a:ext cx="2857500" cy="1828800"/>
          </a:xfrm>
          <a:prstGeom prst="roundRect">
            <a:avLst>
              <a:gd name="adj" fmla="val 4167"/>
            </a:avLst>
          </a:prstGeom>
          <a:solidFill>
            <a:srgbClr val="F8EFD9"/>
          </a:solidFill>
          <a:ln w="0">
            <a:solidFill>
              <a:srgbClr val="F8EFD9"/>
            </a:solidFill>
          </a:ln>
        </p:spPr>
        <p:txBody>
          <a:bodyPr/>
          <a:lstStyle/>
          <a:p>
            <a:endParaRPr/>
          </a:p>
        </p:txBody>
      </p:sp>
      <p:sp>
        <p:nvSpPr>
          <p:cNvPr id="11" name="Hình chữ nhật 10">
            <a:extLst>
              <a:ext uri="{FF2B5EF4-FFF2-40B4-BE49-F238E27FC236}">
                <a16:creationId xmlns:a16="http://schemas.microsoft.com/office/drawing/2014/main" id="{AD97268B-9219-454C-8800-1396F6127BB3}"/>
              </a:ext>
            </a:extLst>
          </p:cNvPr>
          <p:cNvSpPr>
            <a:spLocks noGrp="1"/>
          </p:cNvSpPr>
          <p:nvPr/>
        </p:nvSpPr>
        <p:spPr>
          <a:xfrm>
            <a:off x="4895850" y="2724539"/>
            <a:ext cx="2400300" cy="660265"/>
          </a:xfrm>
          <a:prstGeom prst="rect">
            <a:avLst/>
          </a:prstGeom>
          <a:noFill/>
          <a:ln w="0">
            <a:noFill/>
          </a:ln>
        </p:spPr>
        <p:txBody>
          <a:bodyPr anchor="t">
            <a:noAutofit/>
          </a:bodyPr>
          <a:lstStyle/>
          <a:p>
            <a:pPr algn="ctr">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Sản xuất vật chất</a:t>
            </a:r>
          </a:p>
        </p:txBody>
      </p:sp>
      <p:sp>
        <p:nvSpPr>
          <p:cNvPr id="12" name="Hình chữ nhật 11">
            <a:extLst>
              <a:ext uri="{FF2B5EF4-FFF2-40B4-BE49-F238E27FC236}">
                <a16:creationId xmlns:a16="http://schemas.microsoft.com/office/drawing/2014/main" id="{69C42610-4D7C-41F5-AF87-2D8D67EA5F30}"/>
              </a:ext>
            </a:extLst>
          </p:cNvPr>
          <p:cNvSpPr>
            <a:spLocks noGrp="1"/>
          </p:cNvSpPr>
          <p:nvPr/>
        </p:nvSpPr>
        <p:spPr>
          <a:xfrm>
            <a:off x="4953000" y="3384804"/>
            <a:ext cx="2286000" cy="931164"/>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Là hành vi lịch sử đầu tiên và cơ sở của đời sống xã hội.</a:t>
            </a:r>
          </a:p>
        </p:txBody>
      </p:sp>
      <p:sp>
        <p:nvSpPr>
          <p:cNvPr id="13" name="Hình chữ nhật: Góc Tròn 12">
            <a:extLst>
              <a:ext uri="{FF2B5EF4-FFF2-40B4-BE49-F238E27FC236}">
                <a16:creationId xmlns:a16="http://schemas.microsoft.com/office/drawing/2014/main" id="{AE7B7848-40D8-4CAC-990A-56B13FD71811}"/>
              </a:ext>
            </a:extLst>
          </p:cNvPr>
          <p:cNvSpPr>
            <a:spLocks noGrp="1"/>
          </p:cNvSpPr>
          <p:nvPr/>
        </p:nvSpPr>
        <p:spPr>
          <a:xfrm>
            <a:off x="8648700" y="2647950"/>
            <a:ext cx="2400300" cy="1828800"/>
          </a:xfrm>
          <a:prstGeom prst="roundRect">
            <a:avLst>
              <a:gd name="adj" fmla="val 4167"/>
            </a:avLst>
          </a:prstGeom>
          <a:solidFill>
            <a:srgbClr val="F6E6E1"/>
          </a:solidFill>
          <a:ln w="0">
            <a:solidFill>
              <a:srgbClr val="F6E6E1"/>
            </a:solidFill>
          </a:ln>
        </p:spPr>
        <p:txBody>
          <a:bodyPr/>
          <a:lstStyle/>
          <a:p>
            <a:endParaRPr/>
          </a:p>
        </p:txBody>
      </p:sp>
      <p:sp>
        <p:nvSpPr>
          <p:cNvPr id="14" name="Hình chữ nhật 13">
            <a:extLst>
              <a:ext uri="{FF2B5EF4-FFF2-40B4-BE49-F238E27FC236}">
                <a16:creationId xmlns:a16="http://schemas.microsoft.com/office/drawing/2014/main" id="{C5DD1E76-5A65-4C2D-AE50-227858346CF4}"/>
              </a:ext>
            </a:extLst>
          </p:cNvPr>
          <p:cNvSpPr>
            <a:spLocks noGrp="1"/>
          </p:cNvSpPr>
          <p:nvPr/>
        </p:nvSpPr>
        <p:spPr>
          <a:xfrm>
            <a:off x="8858250" y="2724539"/>
            <a:ext cx="1981200" cy="660265"/>
          </a:xfrm>
          <a:prstGeom prst="rect">
            <a:avLst/>
          </a:prstGeom>
          <a:noFill/>
          <a:ln w="0">
            <a:noFill/>
          </a:ln>
        </p:spPr>
        <p:txBody>
          <a:bodyPr anchor="t">
            <a:noAutofit/>
          </a:bodyPr>
          <a:lstStyle/>
          <a:p>
            <a:pPr algn="ctr">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Duy vật lịch sử</a:t>
            </a:r>
          </a:p>
        </p:txBody>
      </p:sp>
      <p:sp>
        <p:nvSpPr>
          <p:cNvPr id="15" name="Hình chữ nhật 14">
            <a:extLst>
              <a:ext uri="{FF2B5EF4-FFF2-40B4-BE49-F238E27FC236}">
                <a16:creationId xmlns:a16="http://schemas.microsoft.com/office/drawing/2014/main" id="{B711E2CF-3517-4D57-BBC3-83828637EBC2}"/>
              </a:ext>
            </a:extLst>
          </p:cNvPr>
          <p:cNvSpPr>
            <a:spLocks noGrp="1"/>
          </p:cNvSpPr>
          <p:nvPr/>
        </p:nvSpPr>
        <p:spPr>
          <a:xfrm>
            <a:off x="8648700" y="3384804"/>
            <a:ext cx="2400300" cy="931164"/>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Hệ thống quan điểm khoa học về sự vận động của xã hội.</a:t>
            </a:r>
          </a:p>
        </p:txBody>
      </p:sp>
      <p:sp>
        <p:nvSpPr>
          <p:cNvPr id="16" name="Hình chữ nhật 15">
            <a:extLst>
              <a:ext uri="{FF2B5EF4-FFF2-40B4-BE49-F238E27FC236}">
                <a16:creationId xmlns:a16="http://schemas.microsoft.com/office/drawing/2014/main" id="{D7E0110A-200F-44C0-B360-9466047F52C2}"/>
              </a:ext>
            </a:extLst>
          </p:cNvPr>
          <p:cNvSpPr>
            <a:spLocks noGrp="1"/>
          </p:cNvSpPr>
          <p:nvPr/>
        </p:nvSpPr>
        <p:spPr>
          <a:xfrm>
            <a:off x="1143000" y="4926711"/>
            <a:ext cx="9525000" cy="515493"/>
          </a:xfrm>
          <a:prstGeom prst="rect">
            <a:avLst/>
          </a:prstGeom>
          <a:noFill/>
          <a:ln w="0">
            <a:noFill/>
          </a:ln>
        </p:spPr>
        <p:txBody>
          <a:bodyPr anchor="t">
            <a:noAutofit/>
          </a:bodyPr>
          <a:lstStyle/>
          <a:p>
            <a:pPr algn="ctr">
              <a:buNone/>
              <a:defRPr sz="1725" b="1" i="0">
                <a:solidFill>
                  <a:srgbClr val="C65B4B"/>
                </a:solidFill>
                <a:latin typeface="Times New Roman"/>
                <a:ea typeface="Times New Roman"/>
                <a:cs typeface="Times New Roman"/>
              </a:defRPr>
            </a:pPr>
            <a:r>
              <a:rPr sz="1950" b="1" i="0" dirty="0" err="1">
                <a:solidFill>
                  <a:srgbClr val="C65B4B"/>
                </a:solidFill>
                <a:latin typeface="Times New Roman"/>
                <a:ea typeface="Times New Roman"/>
                <a:cs typeface="Times New Roman"/>
              </a:rPr>
              <a:t>Đây</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là</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nội</a:t>
            </a:r>
            <a:r>
              <a:rPr sz="1950" b="1" i="0" dirty="0">
                <a:solidFill>
                  <a:srgbClr val="C65B4B"/>
                </a:solidFill>
                <a:latin typeface="Times New Roman"/>
                <a:ea typeface="Times New Roman"/>
                <a:cs typeface="Times New Roman"/>
              </a:rPr>
              <a:t> dung </a:t>
            </a:r>
            <a:r>
              <a:rPr sz="1950" b="1" i="0" dirty="0" err="1">
                <a:solidFill>
                  <a:srgbClr val="C65B4B"/>
                </a:solidFill>
                <a:latin typeface="Times New Roman"/>
                <a:ea typeface="Times New Roman"/>
                <a:cs typeface="Times New Roman"/>
              </a:rPr>
              <a:t>chủ</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yếu</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của</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bước</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ngoặt</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cách</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mạng</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trong</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triết</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học</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về</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xã</a:t>
            </a:r>
            <a:r>
              <a:rPr sz="1950" b="1" i="0" dirty="0">
                <a:solidFill>
                  <a:srgbClr val="C65B4B"/>
                </a:solidFill>
                <a:latin typeface="Times New Roman"/>
                <a:ea typeface="Times New Roman"/>
                <a:cs typeface="Times New Roman"/>
              </a:rPr>
              <a:t> </a:t>
            </a:r>
            <a:r>
              <a:rPr sz="1950" b="1" i="0" dirty="0" err="1">
                <a:solidFill>
                  <a:srgbClr val="C65B4B"/>
                </a:solidFill>
                <a:latin typeface="Times New Roman"/>
                <a:ea typeface="Times New Roman"/>
                <a:cs typeface="Times New Roman"/>
              </a:rPr>
              <a:t>hội</a:t>
            </a:r>
            <a:r>
              <a:rPr sz="1950" b="1" i="0" dirty="0">
                <a:solidFill>
                  <a:srgbClr val="C65B4B"/>
                </a:solidFill>
                <a:latin typeface="Times New Roman"/>
                <a:ea typeface="Times New Roman"/>
                <a:cs typeface="Times New Roman"/>
              </a:rPr>
              <a:t>.</a:t>
            </a:r>
          </a:p>
        </p:txBody>
      </p:sp>
      <p:sp>
        <p:nvSpPr>
          <p:cNvPr id="18" name="Ví dụ minh họa">
            <a:extLst>
              <a:ext uri="{FF2B5EF4-FFF2-40B4-BE49-F238E27FC236}">
                <a16:creationId xmlns:a16="http://schemas.microsoft.com/office/drawing/2014/main" id="{E94BC874-341C-4966-9C6D-2D1C38630F7A}"/>
              </a:ext>
            </a:extLst>
          </p:cNvPr>
          <p:cNvSpPr>
            <a:spLocks noGrp="1"/>
          </p:cNvSpPr>
          <p:nvPr/>
        </p:nvSpPr>
        <p:spPr>
          <a:xfrm>
            <a:off x="685800" y="5602986"/>
            <a:ext cx="10363200" cy="693039"/>
          </a:xfrm>
          <a:prstGeom prst="roundRect">
            <a:avLst>
              <a:gd name="adj" fmla="val 26087"/>
            </a:avLst>
          </a:prstGeom>
          <a:solidFill>
            <a:srgbClr val="FFF4D8"/>
          </a:solidFill>
          <a:ln w="0">
            <a:noFill/>
          </a:ln>
        </p:spPr>
        <p:txBody>
          <a:bodyPr lIns="190500" tIns="76200" rIns="190500" bIns="76200" anchor="ctr">
            <a:noAutofit/>
          </a:bodyPr>
          <a:lstStyle/>
          <a:p>
            <a:pPr algn="l">
              <a:defRPr sz="1350" b="0">
                <a:solidFill>
                  <a:srgbClr val="A94D3E"/>
                </a:solidFill>
                <a:latin typeface="Times New Roman"/>
                <a:ea typeface="Times New Roman"/>
                <a:cs typeface="Times New Roman"/>
              </a:defRPr>
            </a:pPr>
            <a:r>
              <a:rPr sz="2000" b="0" dirty="0" err="1">
                <a:solidFill>
                  <a:srgbClr val="A94D3E"/>
                </a:solidFill>
                <a:latin typeface="Times New Roman"/>
                <a:ea typeface="Times New Roman"/>
                <a:cs typeface="Times New Roman"/>
              </a:rPr>
              <a:t>Ví</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dụ</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Khi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công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nghệ</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sản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xuất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thay</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đổi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cách</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tổ</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chức</a:t>
            </a:r>
            <a:r>
              <a:rPr sz="2000" b="0" dirty="0">
                <a:solidFill>
                  <a:srgbClr val="A94D3E"/>
                </a:solidFill>
                <a:latin typeface="Times New Roman"/>
                <a:ea typeface="Times New Roman"/>
                <a:cs typeface="Times New Roman"/>
              </a:rPr>
              <a:t> lao </a:t>
            </a:r>
            <a:r>
              <a:rPr sz="2000" b="0" dirty="0" err="1">
                <a:solidFill>
                  <a:srgbClr val="A94D3E"/>
                </a:solidFill>
                <a:latin typeface="Times New Roman"/>
                <a:ea typeface="Times New Roman"/>
                <a:cs typeface="Times New Roman"/>
              </a:rPr>
              <a:t>động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và</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các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quan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hệ</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xã</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hội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cũng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có</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thể</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thay</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đổi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theo.</a:t>
            </a:r>
            <a:endParaRPr sz="2000" b="0" dirty="0">
              <a:solidFill>
                <a:srgbClr val="A94D3E"/>
              </a:solidFill>
              <a:latin typeface="Times New Roman"/>
              <a:ea typeface="Times New Roman"/>
              <a:cs typeface="Times New Roman"/>
            </a:endParaRPr>
          </a:p>
        </p:txBody>
      </p:sp>
    </p:spTree>
    <p:extLst>
      <p:ext uri="{BB962C8B-B14F-4D97-AF65-F5344CB8AC3E}">
        <p14:creationId xmlns:p14="http://schemas.microsoft.com/office/powerpoint/2010/main" val="1070174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8" name="Hình chữ nhật 7">
            <a:extLst>
              <a:ext uri="{FF2B5EF4-FFF2-40B4-BE49-F238E27FC236}">
                <a16:creationId xmlns:a16="http://schemas.microsoft.com/office/drawing/2014/main" id="{E0FFAEBA-9C69-4422-89F0-C4A84789E645}"/>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2.4. GIAI ĐOẠN LÊNIN</a:t>
            </a:r>
          </a:p>
        </p:txBody>
      </p:sp>
      <p:sp>
        <p:nvSpPr>
          <p:cNvPr id="2" name="Hình chữ nhật 1">
            <a:extLst>
              <a:ext uri="{FF2B5EF4-FFF2-40B4-BE49-F238E27FC236}">
                <a16:creationId xmlns:a16="http://schemas.microsoft.com/office/drawing/2014/main" id="{F30FF176-147D-4510-B5BF-59B220C1C4F4}"/>
              </a:ext>
            </a:extLst>
          </p:cNvPr>
          <p:cNvSpPr>
            <a:spLocks noGrp="1"/>
          </p:cNvSpPr>
          <p:nvPr/>
        </p:nvSpPr>
        <p:spPr>
          <a:xfrm>
            <a:off x="685800" y="723892"/>
            <a:ext cx="10001250" cy="609607"/>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Hoàn cảnh lịch sử V.I. Lênin phát triển triết học Mác</a:t>
            </a:r>
          </a:p>
        </p:txBody>
      </p:sp>
      <p:sp>
        <p:nvSpPr>
          <p:cNvPr id="3" name="Hình chữ nhật 2">
            <a:extLst>
              <a:ext uri="{FF2B5EF4-FFF2-40B4-BE49-F238E27FC236}">
                <a16:creationId xmlns:a16="http://schemas.microsoft.com/office/drawing/2014/main" id="{3CBA9484-A385-4A54-BBEA-6FACD446BF9F}"/>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8D268F72-5858-4759-AA00-B47B66DCB68E}"/>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79-81</a:t>
            </a:r>
          </a:p>
        </p:txBody>
      </p:sp>
      <p:sp>
        <p:nvSpPr>
          <p:cNvPr id="5" name="Hình chữ nhật 4">
            <a:extLst>
              <a:ext uri="{FF2B5EF4-FFF2-40B4-BE49-F238E27FC236}">
                <a16:creationId xmlns:a16="http://schemas.microsoft.com/office/drawing/2014/main" id="{85932864-6489-4CF4-AACF-490C3C4B9FB5}"/>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29</a:t>
            </a:r>
          </a:p>
        </p:txBody>
      </p:sp>
      <p:pic>
        <p:nvPicPr>
          <p:cNvPr id="15" name="Hình ảnh 14"/>
          <p:cNvPicPr>
            <a:picLocks noChangeAspect="1"/>
          </p:cNvPicPr>
          <p:nvPr/>
        </p:nvPicPr>
        <p:blipFill>
          <a:blip r:embed="rId3"/>
          <a:srcRect l="16088" r="16088"/>
          <a:stretch>
            <a:fillRect/>
          </a:stretch>
        </p:blipFill>
        <p:spPr>
          <a:xfrm>
            <a:off x="317241" y="1623721"/>
            <a:ext cx="5066521" cy="4365949"/>
          </a:xfrm>
          <a:prstGeom prst="roundRect">
            <a:avLst>
              <a:gd name="adj" fmla="val 4103"/>
            </a:avLst>
          </a:prstGeom>
        </p:spPr>
      </p:pic>
      <p:sp>
        <p:nvSpPr>
          <p:cNvPr id="7" name="Hình chữ nhật 6">
            <a:extLst>
              <a:ext uri="{FF2B5EF4-FFF2-40B4-BE49-F238E27FC236}">
                <a16:creationId xmlns:a16="http://schemas.microsoft.com/office/drawing/2014/main" id="{4837075F-4A81-4DA2-9379-AF1CE6B52209}"/>
              </a:ext>
            </a:extLst>
          </p:cNvPr>
          <p:cNvSpPr>
            <a:spLocks noGrp="1"/>
          </p:cNvSpPr>
          <p:nvPr/>
        </p:nvSpPr>
        <p:spPr>
          <a:xfrm>
            <a:off x="5905500" y="2000250"/>
            <a:ext cx="5143500" cy="3333750"/>
          </a:xfrm>
          <a:prstGeom prst="rect">
            <a:avLst/>
          </a:prstGeom>
          <a:noFill/>
          <a:ln w="0">
            <a:noFill/>
          </a:ln>
        </p:spPr>
        <p:txBody>
          <a:bodyPr anchor="t"/>
          <a:lstStyle/>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Chủ nghĩa tư bản chuyển sang giai đoạn chủ nghĩa đế quốc.</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Trung tâm cách mạng thế giới chuyển vào nước Nga; phong trào giải phóng dân tộc phát triển.</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Những phát minh mới trong vật lý học làm đảo lộn quan niệm của vật lý học cổ điển.</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Các trào lưu duy tâm, xét lại và cơ hội tiến công vào chủ nghĩa duy vật biện chứng.</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Triết học Mác cần được bảo vệ, bổ sung và phát triển phù hợp với thời đại mới.</a:t>
            </a:r>
          </a:p>
        </p:txBody>
      </p:sp>
    </p:spTree>
    <p:extLst>
      <p:ext uri="{BB962C8B-B14F-4D97-AF65-F5344CB8AC3E}">
        <p14:creationId xmlns:p14="http://schemas.microsoft.com/office/powerpoint/2010/main" val="1468082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8" name="Hình chữ nhật 17">
            <a:extLst>
              <a:ext uri="{FF2B5EF4-FFF2-40B4-BE49-F238E27FC236}">
                <a16:creationId xmlns:a16="http://schemas.microsoft.com/office/drawing/2014/main" id="{92E75696-4DDC-49CF-8391-105C078E165F}"/>
              </a:ext>
            </a:extLst>
          </p:cNvPr>
          <p:cNvSpPr>
            <a:spLocks noGrp="1"/>
          </p:cNvSpPr>
          <p:nvPr/>
        </p:nvSpPr>
        <p:spPr>
          <a:xfrm>
            <a:off x="685800" y="361950"/>
            <a:ext cx="6096000" cy="314638"/>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2.4. GIAI ĐOẠN LÊNIN</a:t>
            </a:r>
          </a:p>
        </p:txBody>
      </p:sp>
      <p:sp>
        <p:nvSpPr>
          <p:cNvPr id="2" name="Hình chữ nhật 1">
            <a:extLst>
              <a:ext uri="{FF2B5EF4-FFF2-40B4-BE49-F238E27FC236}">
                <a16:creationId xmlns:a16="http://schemas.microsoft.com/office/drawing/2014/main" id="{1A910F97-87B2-47C6-B71A-7327539FD5B6}"/>
              </a:ext>
            </a:extLst>
          </p:cNvPr>
          <p:cNvSpPr>
            <a:spLocks noGrp="1"/>
          </p:cNvSpPr>
          <p:nvPr/>
        </p:nvSpPr>
        <p:spPr>
          <a:xfrm>
            <a:off x="685800" y="724213"/>
            <a:ext cx="10001250" cy="609286"/>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Đóng góp của V.I. Lênin (1893 - 1917)</a:t>
            </a:r>
          </a:p>
        </p:txBody>
      </p:sp>
      <p:sp>
        <p:nvSpPr>
          <p:cNvPr id="3" name="Hình chữ nhật 2">
            <a:extLst>
              <a:ext uri="{FF2B5EF4-FFF2-40B4-BE49-F238E27FC236}">
                <a16:creationId xmlns:a16="http://schemas.microsoft.com/office/drawing/2014/main" id="{A7449938-99BB-4F4D-AD05-05278C5F25B9}"/>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350A439B-2601-4FEE-9A35-0F778643EEB3}"/>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81-86</a:t>
            </a:r>
          </a:p>
        </p:txBody>
      </p:sp>
      <p:sp>
        <p:nvSpPr>
          <p:cNvPr id="5" name="Hình chữ nhật 4">
            <a:extLst>
              <a:ext uri="{FF2B5EF4-FFF2-40B4-BE49-F238E27FC236}">
                <a16:creationId xmlns:a16="http://schemas.microsoft.com/office/drawing/2014/main" id="{256EF5A6-BFCD-46BE-A62B-8046E76ED257}"/>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30</a:t>
            </a:r>
          </a:p>
        </p:txBody>
      </p:sp>
      <p:sp>
        <p:nvSpPr>
          <p:cNvPr id="6" name="Hình chữ nhật: Góc Tròn 5">
            <a:extLst>
              <a:ext uri="{FF2B5EF4-FFF2-40B4-BE49-F238E27FC236}">
                <a16:creationId xmlns:a16="http://schemas.microsoft.com/office/drawing/2014/main" id="{C1AB5E9E-60C0-441D-BA03-AA2019C67695}"/>
              </a:ext>
            </a:extLst>
          </p:cNvPr>
          <p:cNvSpPr>
            <a:spLocks noGrp="1"/>
          </p:cNvSpPr>
          <p:nvPr/>
        </p:nvSpPr>
        <p:spPr>
          <a:xfrm>
            <a:off x="685800" y="1924050"/>
            <a:ext cx="4762500" cy="1562100"/>
          </a:xfrm>
          <a:prstGeom prst="roundRect">
            <a:avLst>
              <a:gd name="adj" fmla="val 4878"/>
            </a:avLst>
          </a:prstGeom>
          <a:solidFill>
            <a:srgbClr val="F8EFD9"/>
          </a:solidFill>
          <a:ln w="0">
            <a:noFill/>
          </a:ln>
        </p:spPr>
        <p:txBody>
          <a:bodyPr/>
          <a:lstStyle/>
          <a:p>
            <a:endParaRPr/>
          </a:p>
        </p:txBody>
      </p:sp>
      <p:sp>
        <p:nvSpPr>
          <p:cNvPr id="7" name="Hình chữ nhật 6">
            <a:extLst>
              <a:ext uri="{FF2B5EF4-FFF2-40B4-BE49-F238E27FC236}">
                <a16:creationId xmlns:a16="http://schemas.microsoft.com/office/drawing/2014/main" id="{C30366A0-DA34-400A-8076-3FD4246937F9}"/>
              </a:ext>
            </a:extLst>
          </p:cNvPr>
          <p:cNvSpPr>
            <a:spLocks noGrp="1"/>
          </p:cNvSpPr>
          <p:nvPr/>
        </p:nvSpPr>
        <p:spPr>
          <a:xfrm>
            <a:off x="914400" y="2133600"/>
            <a:ext cx="4305300" cy="489204"/>
          </a:xfrm>
          <a:prstGeom prst="rect">
            <a:avLst/>
          </a:prstGeom>
          <a:noFill/>
          <a:ln w="0">
            <a:noFill/>
          </a:ln>
        </p:spPr>
        <p:txBody>
          <a:bodyPr anchor="t"/>
          <a:lstStyle/>
          <a:p>
            <a:pPr algn="l">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Bảo vệ chủ nghĩa duy vật</a:t>
            </a:r>
          </a:p>
        </p:txBody>
      </p:sp>
      <p:sp>
        <p:nvSpPr>
          <p:cNvPr id="8" name="Hình chữ nhật 7">
            <a:extLst>
              <a:ext uri="{FF2B5EF4-FFF2-40B4-BE49-F238E27FC236}">
                <a16:creationId xmlns:a16="http://schemas.microsoft.com/office/drawing/2014/main" id="{72E5DB68-FE2F-4A58-885D-20DC26B2DEBE}"/>
              </a:ext>
            </a:extLst>
          </p:cNvPr>
          <p:cNvSpPr>
            <a:spLocks noGrp="1"/>
          </p:cNvSpPr>
          <p:nvPr/>
        </p:nvSpPr>
        <p:spPr>
          <a:xfrm>
            <a:off x="914400" y="2628900"/>
            <a:ext cx="4305300" cy="776478"/>
          </a:xfrm>
          <a:prstGeom prst="rect">
            <a:avLst/>
          </a:prstGeom>
          <a:noFill/>
          <a:ln w="0">
            <a:noFill/>
          </a:ln>
        </p:spPr>
        <p:txBody>
          <a:bodyPr anchor="t"/>
          <a:lstStyle/>
          <a:p>
            <a:pPr algn="l">
              <a:buNone/>
              <a:defRPr sz="1350"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Chủ nghĩa duy vật và chủ nghĩa kinh nghiệm phê phán (1908) giải quyết triệt để vấn đề cơ bản của triết học và phát triển lý luận nhận thức.</a:t>
            </a:r>
          </a:p>
        </p:txBody>
      </p:sp>
      <p:sp>
        <p:nvSpPr>
          <p:cNvPr id="9" name="Hình chữ nhật: Góc Tròn 8">
            <a:extLst>
              <a:ext uri="{FF2B5EF4-FFF2-40B4-BE49-F238E27FC236}">
                <a16:creationId xmlns:a16="http://schemas.microsoft.com/office/drawing/2014/main" id="{1D29D963-98A1-42B3-AED6-10F642A2B2D1}"/>
              </a:ext>
            </a:extLst>
          </p:cNvPr>
          <p:cNvSpPr>
            <a:spLocks noGrp="1"/>
          </p:cNvSpPr>
          <p:nvPr/>
        </p:nvSpPr>
        <p:spPr>
          <a:xfrm>
            <a:off x="6191250" y="1924050"/>
            <a:ext cx="4762500" cy="1562100"/>
          </a:xfrm>
          <a:prstGeom prst="roundRect">
            <a:avLst>
              <a:gd name="adj" fmla="val 4878"/>
            </a:avLst>
          </a:prstGeom>
          <a:solidFill>
            <a:srgbClr val="EAF1F4"/>
          </a:solidFill>
          <a:ln w="0">
            <a:noFill/>
          </a:ln>
        </p:spPr>
        <p:txBody>
          <a:bodyPr/>
          <a:lstStyle/>
          <a:p>
            <a:endParaRPr/>
          </a:p>
        </p:txBody>
      </p:sp>
      <p:sp>
        <p:nvSpPr>
          <p:cNvPr id="10" name="Hình chữ nhật 9">
            <a:extLst>
              <a:ext uri="{FF2B5EF4-FFF2-40B4-BE49-F238E27FC236}">
                <a16:creationId xmlns:a16="http://schemas.microsoft.com/office/drawing/2014/main" id="{8DC5D531-9CBF-42F0-8AE6-AAFC57CB089A}"/>
              </a:ext>
            </a:extLst>
          </p:cNvPr>
          <p:cNvSpPr>
            <a:spLocks noGrp="1"/>
          </p:cNvSpPr>
          <p:nvPr/>
        </p:nvSpPr>
        <p:spPr>
          <a:xfrm>
            <a:off x="6419850" y="2133600"/>
            <a:ext cx="4305300" cy="489204"/>
          </a:xfrm>
          <a:prstGeom prst="rect">
            <a:avLst/>
          </a:prstGeom>
          <a:noFill/>
          <a:ln w="0">
            <a:noFill/>
          </a:ln>
        </p:spPr>
        <p:txBody>
          <a:bodyPr anchor="t"/>
          <a:lstStyle/>
          <a:p>
            <a:pPr algn="l">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Phát triển phép biện chứng</a:t>
            </a:r>
          </a:p>
        </p:txBody>
      </p:sp>
      <p:sp>
        <p:nvSpPr>
          <p:cNvPr id="11" name="Hình chữ nhật 10">
            <a:extLst>
              <a:ext uri="{FF2B5EF4-FFF2-40B4-BE49-F238E27FC236}">
                <a16:creationId xmlns:a16="http://schemas.microsoft.com/office/drawing/2014/main" id="{2A689408-923D-4505-A358-588BF4B6F754}"/>
              </a:ext>
            </a:extLst>
          </p:cNvPr>
          <p:cNvSpPr>
            <a:spLocks noGrp="1"/>
          </p:cNvSpPr>
          <p:nvPr/>
        </p:nvSpPr>
        <p:spPr>
          <a:xfrm>
            <a:off x="6419850" y="2628900"/>
            <a:ext cx="4305300" cy="776478"/>
          </a:xfrm>
          <a:prstGeom prst="rect">
            <a:avLst/>
          </a:prstGeom>
          <a:noFill/>
          <a:ln w="0">
            <a:noFill/>
          </a:ln>
        </p:spPr>
        <p:txBody>
          <a:bodyPr anchor="t"/>
          <a:lstStyle/>
          <a:p>
            <a:pPr algn="l">
              <a:buNone/>
              <a:defRPr sz="1350"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Bút ký triết học (1914 - 1916) phân tích quy luật, phạm trù và nguyên tắc của phép biện chứng duy vật.</a:t>
            </a:r>
          </a:p>
        </p:txBody>
      </p:sp>
      <p:sp>
        <p:nvSpPr>
          <p:cNvPr id="12" name="Hình chữ nhật: Góc Tròn 11">
            <a:extLst>
              <a:ext uri="{FF2B5EF4-FFF2-40B4-BE49-F238E27FC236}">
                <a16:creationId xmlns:a16="http://schemas.microsoft.com/office/drawing/2014/main" id="{F13D5965-D273-4AD3-A211-F95396857F5C}"/>
              </a:ext>
            </a:extLst>
          </p:cNvPr>
          <p:cNvSpPr>
            <a:spLocks noGrp="1"/>
          </p:cNvSpPr>
          <p:nvPr/>
        </p:nvSpPr>
        <p:spPr>
          <a:xfrm>
            <a:off x="685800" y="4095750"/>
            <a:ext cx="4762500" cy="1562100"/>
          </a:xfrm>
          <a:prstGeom prst="roundRect">
            <a:avLst>
              <a:gd name="adj" fmla="val 4878"/>
            </a:avLst>
          </a:prstGeom>
          <a:solidFill>
            <a:srgbClr val="F8EFD9"/>
          </a:solidFill>
          <a:ln w="0">
            <a:noFill/>
          </a:ln>
        </p:spPr>
        <p:txBody>
          <a:bodyPr/>
          <a:lstStyle/>
          <a:p>
            <a:endParaRPr/>
          </a:p>
        </p:txBody>
      </p:sp>
      <p:sp>
        <p:nvSpPr>
          <p:cNvPr id="13" name="Hình chữ nhật 12">
            <a:extLst>
              <a:ext uri="{FF2B5EF4-FFF2-40B4-BE49-F238E27FC236}">
                <a16:creationId xmlns:a16="http://schemas.microsoft.com/office/drawing/2014/main" id="{0639B823-E48C-4FDF-B2D9-D22C131695DA}"/>
              </a:ext>
            </a:extLst>
          </p:cNvPr>
          <p:cNvSpPr>
            <a:spLocks noGrp="1"/>
          </p:cNvSpPr>
          <p:nvPr/>
        </p:nvSpPr>
        <p:spPr>
          <a:xfrm>
            <a:off x="914400" y="4305300"/>
            <a:ext cx="4305300" cy="489204"/>
          </a:xfrm>
          <a:prstGeom prst="rect">
            <a:avLst/>
          </a:prstGeom>
          <a:noFill/>
          <a:ln w="0">
            <a:noFill/>
          </a:ln>
        </p:spPr>
        <p:txBody>
          <a:bodyPr anchor="t"/>
          <a:lstStyle/>
          <a:p>
            <a:pPr algn="l">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Phân tích chủ nghĩa đế quốc</a:t>
            </a:r>
          </a:p>
        </p:txBody>
      </p:sp>
      <p:sp>
        <p:nvSpPr>
          <p:cNvPr id="14" name="Hình chữ nhật 13">
            <a:extLst>
              <a:ext uri="{FF2B5EF4-FFF2-40B4-BE49-F238E27FC236}">
                <a16:creationId xmlns:a16="http://schemas.microsoft.com/office/drawing/2014/main" id="{BDFD27AC-7193-4022-8104-20E383AAD514}"/>
              </a:ext>
            </a:extLst>
          </p:cNvPr>
          <p:cNvSpPr>
            <a:spLocks noGrp="1"/>
          </p:cNvSpPr>
          <p:nvPr/>
        </p:nvSpPr>
        <p:spPr>
          <a:xfrm>
            <a:off x="914400" y="4800600"/>
            <a:ext cx="4305300" cy="776478"/>
          </a:xfrm>
          <a:prstGeom prst="rect">
            <a:avLst/>
          </a:prstGeom>
          <a:noFill/>
          <a:ln w="0">
            <a:noFill/>
          </a:ln>
        </p:spPr>
        <p:txBody>
          <a:bodyPr anchor="t"/>
          <a:lstStyle/>
          <a:p>
            <a:pPr algn="l">
              <a:buNone/>
              <a:defRPr sz="1350"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Làm rõ giai đoạn tột cùng của chủ nghĩa tư bản và khả năng cách mạng vô sản.</a:t>
            </a:r>
          </a:p>
        </p:txBody>
      </p:sp>
      <p:sp>
        <p:nvSpPr>
          <p:cNvPr id="15" name="Hình chữ nhật: Góc Tròn 14">
            <a:extLst>
              <a:ext uri="{FF2B5EF4-FFF2-40B4-BE49-F238E27FC236}">
                <a16:creationId xmlns:a16="http://schemas.microsoft.com/office/drawing/2014/main" id="{89F43A64-F20E-44BD-ABDC-3027BC4B1D40}"/>
              </a:ext>
            </a:extLst>
          </p:cNvPr>
          <p:cNvSpPr>
            <a:spLocks noGrp="1"/>
          </p:cNvSpPr>
          <p:nvPr/>
        </p:nvSpPr>
        <p:spPr>
          <a:xfrm>
            <a:off x="6191250" y="4095750"/>
            <a:ext cx="4762500" cy="1562100"/>
          </a:xfrm>
          <a:prstGeom prst="roundRect">
            <a:avLst>
              <a:gd name="adj" fmla="val 4878"/>
            </a:avLst>
          </a:prstGeom>
          <a:solidFill>
            <a:srgbClr val="EAF1F4"/>
          </a:solidFill>
          <a:ln w="0">
            <a:noFill/>
          </a:ln>
        </p:spPr>
        <p:txBody>
          <a:bodyPr/>
          <a:lstStyle/>
          <a:p>
            <a:endParaRPr/>
          </a:p>
        </p:txBody>
      </p:sp>
      <p:sp>
        <p:nvSpPr>
          <p:cNvPr id="16" name="Hình chữ nhật 15">
            <a:extLst>
              <a:ext uri="{FF2B5EF4-FFF2-40B4-BE49-F238E27FC236}">
                <a16:creationId xmlns:a16="http://schemas.microsoft.com/office/drawing/2014/main" id="{1498D24A-051E-4CE2-8C38-8B2E7B3EBA3F}"/>
              </a:ext>
            </a:extLst>
          </p:cNvPr>
          <p:cNvSpPr>
            <a:spLocks noGrp="1"/>
          </p:cNvSpPr>
          <p:nvPr/>
        </p:nvSpPr>
        <p:spPr>
          <a:xfrm>
            <a:off x="6419850" y="4305300"/>
            <a:ext cx="4305300" cy="489204"/>
          </a:xfrm>
          <a:prstGeom prst="rect">
            <a:avLst/>
          </a:prstGeom>
          <a:noFill/>
          <a:ln w="0">
            <a:noFill/>
          </a:ln>
        </p:spPr>
        <p:txBody>
          <a:bodyPr anchor="t"/>
          <a:lstStyle/>
          <a:p>
            <a:pPr algn="l">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Phát triển lý luận cách mạng</a:t>
            </a:r>
          </a:p>
        </p:txBody>
      </p:sp>
      <p:sp>
        <p:nvSpPr>
          <p:cNvPr id="17" name="Hình chữ nhật 16">
            <a:extLst>
              <a:ext uri="{FF2B5EF4-FFF2-40B4-BE49-F238E27FC236}">
                <a16:creationId xmlns:a16="http://schemas.microsoft.com/office/drawing/2014/main" id="{3CBE8665-6EC2-423E-BA7E-09DE399D0E40}"/>
              </a:ext>
            </a:extLst>
          </p:cNvPr>
          <p:cNvSpPr>
            <a:spLocks noGrp="1"/>
          </p:cNvSpPr>
          <p:nvPr/>
        </p:nvSpPr>
        <p:spPr>
          <a:xfrm>
            <a:off x="6419850" y="4800600"/>
            <a:ext cx="4305300" cy="776478"/>
          </a:xfrm>
          <a:prstGeom prst="rect">
            <a:avLst/>
          </a:prstGeom>
          <a:noFill/>
          <a:ln w="0">
            <a:noFill/>
          </a:ln>
        </p:spPr>
        <p:txBody>
          <a:bodyPr anchor="t"/>
          <a:lstStyle/>
          <a:p>
            <a:pPr algn="l">
              <a:buNone/>
              <a:defRPr sz="1350"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Bổ sung lý luận về nhà nước, cách mạng, đảng và vai trò của quần chúng nhân dân.</a:t>
            </a:r>
          </a:p>
        </p:txBody>
      </p:sp>
    </p:spTree>
    <p:extLst>
      <p:ext uri="{BB962C8B-B14F-4D97-AF65-F5344CB8AC3E}">
        <p14:creationId xmlns:p14="http://schemas.microsoft.com/office/powerpoint/2010/main" val="1749018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2" name="Hình chữ nhật 11">
            <a:extLst>
              <a:ext uri="{FF2B5EF4-FFF2-40B4-BE49-F238E27FC236}">
                <a16:creationId xmlns:a16="http://schemas.microsoft.com/office/drawing/2014/main" id="{A9846393-D71D-4EF2-99FD-0B9D13F55603}"/>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2.4. GIAI ĐOẠN LÊNIN</a:t>
            </a:r>
          </a:p>
        </p:txBody>
      </p:sp>
      <p:sp>
        <p:nvSpPr>
          <p:cNvPr id="2" name="Hình chữ nhật 1">
            <a:extLst>
              <a:ext uri="{FF2B5EF4-FFF2-40B4-BE49-F238E27FC236}">
                <a16:creationId xmlns:a16="http://schemas.microsoft.com/office/drawing/2014/main" id="{B32BC86F-A47D-48E8-AA6A-C4C572C4094E}"/>
              </a:ext>
            </a:extLst>
          </p:cNvPr>
          <p:cNvSpPr>
            <a:spLocks noGrp="1"/>
          </p:cNvSpPr>
          <p:nvPr/>
        </p:nvSpPr>
        <p:spPr>
          <a:xfrm>
            <a:off x="685800" y="792978"/>
            <a:ext cx="10001250" cy="540521"/>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Giai đoạn 1917 - 1924 và từ 1924 đến nay</a:t>
            </a:r>
          </a:p>
        </p:txBody>
      </p:sp>
      <p:sp>
        <p:nvSpPr>
          <p:cNvPr id="3" name="Hình chữ nhật 2">
            <a:extLst>
              <a:ext uri="{FF2B5EF4-FFF2-40B4-BE49-F238E27FC236}">
                <a16:creationId xmlns:a16="http://schemas.microsoft.com/office/drawing/2014/main" id="{B6965C58-B514-45E6-9F30-95B1355DD57D}"/>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E060A309-3297-452F-8CAE-13488B26F8A7}"/>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87-94</a:t>
            </a:r>
          </a:p>
        </p:txBody>
      </p:sp>
      <p:sp>
        <p:nvSpPr>
          <p:cNvPr id="5" name="Hình chữ nhật 4">
            <a:extLst>
              <a:ext uri="{FF2B5EF4-FFF2-40B4-BE49-F238E27FC236}">
                <a16:creationId xmlns:a16="http://schemas.microsoft.com/office/drawing/2014/main" id="{F0F396C8-686D-4091-840F-1DD3BC6285DD}"/>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31</a:t>
            </a:r>
          </a:p>
        </p:txBody>
      </p:sp>
      <p:sp>
        <p:nvSpPr>
          <p:cNvPr id="6" name="Hình chữ nhật: Góc Tròn 5">
            <a:extLst>
              <a:ext uri="{FF2B5EF4-FFF2-40B4-BE49-F238E27FC236}">
                <a16:creationId xmlns:a16="http://schemas.microsoft.com/office/drawing/2014/main" id="{29264AD4-84C9-4269-BF77-E92FF9A3973E}"/>
              </a:ext>
            </a:extLst>
          </p:cNvPr>
          <p:cNvSpPr>
            <a:spLocks noGrp="1"/>
          </p:cNvSpPr>
          <p:nvPr/>
        </p:nvSpPr>
        <p:spPr>
          <a:xfrm>
            <a:off x="685800" y="1943100"/>
            <a:ext cx="4762500" cy="3143250"/>
          </a:xfrm>
          <a:prstGeom prst="roundRect">
            <a:avLst>
              <a:gd name="adj" fmla="val 2424"/>
            </a:avLst>
          </a:prstGeom>
          <a:solidFill>
            <a:srgbClr val="F6E6E1"/>
          </a:solidFill>
          <a:ln w="0">
            <a:solidFill>
              <a:srgbClr val="F6E6E1"/>
            </a:solidFill>
          </a:ln>
        </p:spPr>
        <p:txBody>
          <a:bodyPr/>
          <a:lstStyle/>
          <a:p>
            <a:endParaRPr/>
          </a:p>
        </p:txBody>
      </p:sp>
      <p:sp>
        <p:nvSpPr>
          <p:cNvPr id="7" name="Hình chữ nhật 6">
            <a:extLst>
              <a:ext uri="{FF2B5EF4-FFF2-40B4-BE49-F238E27FC236}">
                <a16:creationId xmlns:a16="http://schemas.microsoft.com/office/drawing/2014/main" id="{9E0D87B8-A5B2-4619-8BFC-7C6AE243E0AE}"/>
              </a:ext>
            </a:extLst>
          </p:cNvPr>
          <p:cNvSpPr>
            <a:spLocks noGrp="1"/>
          </p:cNvSpPr>
          <p:nvPr/>
        </p:nvSpPr>
        <p:spPr>
          <a:xfrm>
            <a:off x="1066800" y="2266950"/>
            <a:ext cx="4000500" cy="489204"/>
          </a:xfrm>
          <a:prstGeom prst="rect">
            <a:avLst/>
          </a:prstGeom>
          <a:noFill/>
          <a:ln w="0">
            <a:noFill/>
          </a:ln>
        </p:spPr>
        <p:txBody>
          <a:bodyPr anchor="t">
            <a:noAutofit/>
          </a:bodyPr>
          <a:lstStyle/>
          <a:p>
            <a:pPr algn="ctr">
              <a:buNone/>
              <a:defRPr sz="2175" b="1" i="0">
                <a:solidFill>
                  <a:srgbClr val="142B43"/>
                </a:solidFill>
                <a:latin typeface="Times New Roman"/>
                <a:ea typeface="Times New Roman"/>
                <a:cs typeface="Times New Roman"/>
              </a:defRPr>
            </a:pPr>
            <a:r>
              <a:rPr sz="2600" b="1" i="0">
                <a:solidFill>
                  <a:srgbClr val="142B43"/>
                </a:solidFill>
                <a:latin typeface="Times New Roman"/>
                <a:ea typeface="Times New Roman"/>
                <a:cs typeface="Times New Roman"/>
              </a:rPr>
              <a:t>1917 - 1924</a:t>
            </a:r>
          </a:p>
        </p:txBody>
      </p:sp>
      <p:sp>
        <p:nvSpPr>
          <p:cNvPr id="8" name="Hình chữ nhật 7">
            <a:extLst>
              <a:ext uri="{FF2B5EF4-FFF2-40B4-BE49-F238E27FC236}">
                <a16:creationId xmlns:a16="http://schemas.microsoft.com/office/drawing/2014/main" id="{42D0B49F-EF6F-482C-9D2C-99AFB498DCD0}"/>
              </a:ext>
            </a:extLst>
          </p:cNvPr>
          <p:cNvSpPr>
            <a:spLocks noGrp="1"/>
          </p:cNvSpPr>
          <p:nvPr/>
        </p:nvSpPr>
        <p:spPr>
          <a:xfrm>
            <a:off x="1066800" y="2920482"/>
            <a:ext cx="4000500" cy="1556268"/>
          </a:xfrm>
          <a:prstGeom prst="rect">
            <a:avLst/>
          </a:prstGeom>
          <a:noFill/>
          <a:ln w="0">
            <a:noFill/>
          </a:ln>
        </p:spPr>
        <p:txBody>
          <a:bodyPr anchor="t"/>
          <a:lstStyle/>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Tổng kết kinh nghiệm Cách mạng Tháng Mười.</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Bổ sung lý luận về xây dựng chủ nghĩa xã hội.</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Phân tích nhà nước, chuyên chính vô sản, đảng và quần chúng.</a:t>
            </a:r>
          </a:p>
        </p:txBody>
      </p:sp>
      <p:sp>
        <p:nvSpPr>
          <p:cNvPr id="9" name="Hình chữ nhật: Góc Tròn 8">
            <a:extLst>
              <a:ext uri="{FF2B5EF4-FFF2-40B4-BE49-F238E27FC236}">
                <a16:creationId xmlns:a16="http://schemas.microsoft.com/office/drawing/2014/main" id="{70DF4C08-188C-43C0-9FA3-299324B2DFB8}"/>
              </a:ext>
            </a:extLst>
          </p:cNvPr>
          <p:cNvSpPr>
            <a:spLocks noGrp="1"/>
          </p:cNvSpPr>
          <p:nvPr/>
        </p:nvSpPr>
        <p:spPr>
          <a:xfrm>
            <a:off x="6553200" y="1943100"/>
            <a:ext cx="4495800" cy="3143250"/>
          </a:xfrm>
          <a:prstGeom prst="roundRect">
            <a:avLst>
              <a:gd name="adj" fmla="val 2424"/>
            </a:avLst>
          </a:prstGeom>
          <a:solidFill>
            <a:srgbClr val="EAF1F4"/>
          </a:solidFill>
          <a:ln w="0">
            <a:solidFill>
              <a:srgbClr val="EAF1F4"/>
            </a:solidFill>
          </a:ln>
        </p:spPr>
        <p:txBody>
          <a:bodyPr/>
          <a:lstStyle/>
          <a:p>
            <a:endParaRPr/>
          </a:p>
        </p:txBody>
      </p:sp>
      <p:sp>
        <p:nvSpPr>
          <p:cNvPr id="10" name="Hình chữ nhật 9">
            <a:extLst>
              <a:ext uri="{FF2B5EF4-FFF2-40B4-BE49-F238E27FC236}">
                <a16:creationId xmlns:a16="http://schemas.microsoft.com/office/drawing/2014/main" id="{9BC2D985-A60D-497C-9432-BC53A1F770B2}"/>
              </a:ext>
            </a:extLst>
          </p:cNvPr>
          <p:cNvSpPr>
            <a:spLocks noGrp="1"/>
          </p:cNvSpPr>
          <p:nvPr/>
        </p:nvSpPr>
        <p:spPr>
          <a:xfrm>
            <a:off x="6934200" y="2266950"/>
            <a:ext cx="3733800" cy="489204"/>
          </a:xfrm>
          <a:prstGeom prst="rect">
            <a:avLst/>
          </a:prstGeom>
          <a:noFill/>
          <a:ln w="0">
            <a:noFill/>
          </a:ln>
        </p:spPr>
        <p:txBody>
          <a:bodyPr anchor="t">
            <a:noAutofit/>
          </a:bodyPr>
          <a:lstStyle/>
          <a:p>
            <a:pPr algn="ctr">
              <a:buNone/>
              <a:defRPr sz="2175" b="1" i="0">
                <a:solidFill>
                  <a:srgbClr val="142B43"/>
                </a:solidFill>
                <a:latin typeface="Times New Roman"/>
                <a:ea typeface="Times New Roman"/>
                <a:cs typeface="Times New Roman"/>
              </a:defRPr>
            </a:pPr>
            <a:r>
              <a:rPr sz="2600" b="1" i="0">
                <a:solidFill>
                  <a:srgbClr val="142B43"/>
                </a:solidFill>
                <a:latin typeface="Times New Roman"/>
                <a:ea typeface="Times New Roman"/>
                <a:cs typeface="Times New Roman"/>
              </a:rPr>
              <a:t>Từ 1924 đến nay</a:t>
            </a:r>
          </a:p>
        </p:txBody>
      </p:sp>
      <p:sp>
        <p:nvSpPr>
          <p:cNvPr id="11" name="Hình chữ nhật 10">
            <a:extLst>
              <a:ext uri="{FF2B5EF4-FFF2-40B4-BE49-F238E27FC236}">
                <a16:creationId xmlns:a16="http://schemas.microsoft.com/office/drawing/2014/main" id="{06E18982-159F-4E0D-8320-E56FEEE4E593}"/>
              </a:ext>
            </a:extLst>
          </p:cNvPr>
          <p:cNvSpPr>
            <a:spLocks noGrp="1"/>
          </p:cNvSpPr>
          <p:nvPr/>
        </p:nvSpPr>
        <p:spPr>
          <a:xfrm>
            <a:off x="6934200" y="2781299"/>
            <a:ext cx="3733800" cy="1695451"/>
          </a:xfrm>
          <a:prstGeom prst="rect">
            <a:avLst/>
          </a:prstGeom>
          <a:noFill/>
          <a:ln w="0">
            <a:noFill/>
          </a:ln>
        </p:spPr>
        <p:txBody>
          <a:bodyPr anchor="t"/>
          <a:lstStyle/>
          <a:p>
            <a:pPr algn="l">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  Các đảng cộng sản tiếp tục bổ sung và phát triển triết học Mác - Lênin.</a:t>
            </a:r>
          </a:p>
          <a:p>
            <a:pPr algn="l">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  Lý luận gắn với nhiệm vụ xây dựng xã hội mới và đấu tranh tư tưởng.</a:t>
            </a:r>
          </a:p>
          <a:p>
            <a:pPr algn="l">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  Khoa học, kỹ thuật và biến đổi xã hội đặt ra những vấn đề lý luận mới.</a:t>
            </a:r>
          </a:p>
        </p:txBody>
      </p:sp>
    </p:spTree>
    <p:extLst>
      <p:ext uri="{BB962C8B-B14F-4D97-AF65-F5344CB8AC3E}">
        <p14:creationId xmlns:p14="http://schemas.microsoft.com/office/powerpoint/2010/main" val="250821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8" name="Hình chữ nhật 7">
            <a:extLst>
              <a:ext uri="{FF2B5EF4-FFF2-40B4-BE49-F238E27FC236}">
                <a16:creationId xmlns:a16="http://schemas.microsoft.com/office/drawing/2014/main" id="{F80969BE-7547-4CF1-A406-974A5B6EC1EC}"/>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2.4. GIAI ĐOẠN LÊNIN</a:t>
            </a:r>
          </a:p>
        </p:txBody>
      </p:sp>
      <p:sp>
        <p:nvSpPr>
          <p:cNvPr id="2" name="Hình chữ nhật 1">
            <a:extLst>
              <a:ext uri="{FF2B5EF4-FFF2-40B4-BE49-F238E27FC236}">
                <a16:creationId xmlns:a16="http://schemas.microsoft.com/office/drawing/2014/main" id="{E98C67B4-025A-4274-B6F9-9A7A3B463110}"/>
              </a:ext>
            </a:extLst>
          </p:cNvPr>
          <p:cNvSpPr>
            <a:spLocks noGrp="1"/>
          </p:cNvSpPr>
          <p:nvPr/>
        </p:nvSpPr>
        <p:spPr>
          <a:xfrm>
            <a:off x="685800" y="742944"/>
            <a:ext cx="10001250" cy="590555"/>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Sự vận dụng và phát triển ở Việt Nam</a:t>
            </a:r>
          </a:p>
        </p:txBody>
      </p:sp>
      <p:sp>
        <p:nvSpPr>
          <p:cNvPr id="3" name="Hình chữ nhật 2">
            <a:extLst>
              <a:ext uri="{FF2B5EF4-FFF2-40B4-BE49-F238E27FC236}">
                <a16:creationId xmlns:a16="http://schemas.microsoft.com/office/drawing/2014/main" id="{5FEC3F32-7341-4088-BA3D-1359BEEB545F}"/>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A2859609-15A2-47CF-B30C-8B57EDBDBBFF}"/>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92-94</a:t>
            </a:r>
          </a:p>
        </p:txBody>
      </p:sp>
      <p:sp>
        <p:nvSpPr>
          <p:cNvPr id="5" name="Hình chữ nhật 4">
            <a:extLst>
              <a:ext uri="{FF2B5EF4-FFF2-40B4-BE49-F238E27FC236}">
                <a16:creationId xmlns:a16="http://schemas.microsoft.com/office/drawing/2014/main" id="{BC9E9949-60BA-49F4-83B2-EE916A9D915B}"/>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32</a:t>
            </a:r>
          </a:p>
        </p:txBody>
      </p:sp>
      <p:pic>
        <p:nvPicPr>
          <p:cNvPr id="15" name="Hình ảnh 14"/>
          <p:cNvPicPr>
            <a:picLocks noChangeAspect="1"/>
          </p:cNvPicPr>
          <p:nvPr/>
        </p:nvPicPr>
        <p:blipFill>
          <a:blip r:embed="rId3"/>
          <a:srcRect l="17584" r="17584"/>
          <a:stretch>
            <a:fillRect/>
          </a:stretch>
        </p:blipFill>
        <p:spPr>
          <a:xfrm>
            <a:off x="6572250" y="1752600"/>
            <a:ext cx="4476750" cy="3886200"/>
          </a:xfrm>
          <a:prstGeom prst="roundRect">
            <a:avLst>
              <a:gd name="adj" fmla="val 3922"/>
            </a:avLst>
          </a:prstGeom>
        </p:spPr>
      </p:pic>
      <p:sp>
        <p:nvSpPr>
          <p:cNvPr id="7" name="Hình chữ nhật 6">
            <a:extLst>
              <a:ext uri="{FF2B5EF4-FFF2-40B4-BE49-F238E27FC236}">
                <a16:creationId xmlns:a16="http://schemas.microsoft.com/office/drawing/2014/main" id="{30693EE9-762B-4516-8503-F35DF274A799}"/>
              </a:ext>
            </a:extLst>
          </p:cNvPr>
          <p:cNvSpPr>
            <a:spLocks noGrp="1"/>
          </p:cNvSpPr>
          <p:nvPr/>
        </p:nvSpPr>
        <p:spPr>
          <a:xfrm>
            <a:off x="685800" y="1762125"/>
            <a:ext cx="5334000" cy="3419475"/>
          </a:xfrm>
          <a:prstGeom prst="rect">
            <a:avLst/>
          </a:prstGeom>
          <a:noFill/>
          <a:ln w="0">
            <a:noFill/>
          </a:ln>
        </p:spPr>
        <p:txBody>
          <a:bodyPr anchor="t"/>
          <a:lstStyle/>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Chủ tịch Hồ Chí Minh và Đảng Cộng sản Việt Nam vận dụng sáng tạo chủ nghĩa Mác - Lênin vào điều kiện cụ thể của Việt Nam.</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Tư duy biện chứng được thể hiện trong việc xác định đường lối cách mạng, nắm bắt thời cơ và tập hợp lực lượng.</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Trong xây dựng chủ nghĩa xã hội, lý luận tiếp tục được phát triển qua thực tiễn đổi mới, kinh tế thị trường định hướng xã hội chủ nghĩa và hội nhập quốc tế.</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Bổ sung, phát triển lý luận phải dựa trên tổng kết thực tiễn và thống nhất giữa lý luận với thực tiễn.</a:t>
            </a:r>
          </a:p>
        </p:txBody>
      </p:sp>
    </p:spTree>
    <p:extLst>
      <p:ext uri="{BB962C8B-B14F-4D97-AF65-F5344CB8AC3E}">
        <p14:creationId xmlns:p14="http://schemas.microsoft.com/office/powerpoint/2010/main" val="1184933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3" name="Hình chữ nhật 12">
            <a:extLst>
              <a:ext uri="{FF2B5EF4-FFF2-40B4-BE49-F238E27FC236}">
                <a16:creationId xmlns:a16="http://schemas.microsoft.com/office/drawing/2014/main" id="{B174756F-EE75-4919-83D2-2776CAD27A91}"/>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2.5. ĐỐI TƯỢNG VÀ CHỨC NĂNG</a:t>
            </a:r>
          </a:p>
        </p:txBody>
      </p:sp>
      <p:sp>
        <p:nvSpPr>
          <p:cNvPr id="2" name="Hình chữ nhật 1">
            <a:extLst>
              <a:ext uri="{FF2B5EF4-FFF2-40B4-BE49-F238E27FC236}">
                <a16:creationId xmlns:a16="http://schemas.microsoft.com/office/drawing/2014/main" id="{792146BC-1415-4EEA-9CEA-48C8F5BE8E8A}"/>
              </a:ext>
            </a:extLst>
          </p:cNvPr>
          <p:cNvSpPr>
            <a:spLocks noGrp="1"/>
          </p:cNvSpPr>
          <p:nvPr/>
        </p:nvSpPr>
        <p:spPr>
          <a:xfrm>
            <a:off x="685800" y="825245"/>
            <a:ext cx="10001250" cy="508254"/>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Triết học và các khoa học cụ thể</a:t>
            </a:r>
          </a:p>
        </p:txBody>
      </p:sp>
      <p:sp>
        <p:nvSpPr>
          <p:cNvPr id="3" name="Hình chữ nhật 2">
            <a:extLst>
              <a:ext uri="{FF2B5EF4-FFF2-40B4-BE49-F238E27FC236}">
                <a16:creationId xmlns:a16="http://schemas.microsoft.com/office/drawing/2014/main" id="{7D7F1C49-F29E-448D-8CBE-253CFC079BE7}"/>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72788F2C-8DA7-4C21-8A81-1612DB077488}"/>
              </a:ext>
            </a:extLst>
          </p:cNvPr>
          <p:cNvSpPr>
            <a:spLocks noGrp="1"/>
          </p:cNvSpPr>
          <p:nvPr/>
        </p:nvSpPr>
        <p:spPr>
          <a:xfrm>
            <a:off x="685800" y="6619875"/>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97-99</a:t>
            </a:r>
          </a:p>
        </p:txBody>
      </p:sp>
      <p:sp>
        <p:nvSpPr>
          <p:cNvPr id="5" name="Hình chữ nhật 4">
            <a:extLst>
              <a:ext uri="{FF2B5EF4-FFF2-40B4-BE49-F238E27FC236}">
                <a16:creationId xmlns:a16="http://schemas.microsoft.com/office/drawing/2014/main" id="{A75755FD-F231-42C1-8B60-01A6D1695E06}"/>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33</a:t>
            </a:r>
          </a:p>
        </p:txBody>
      </p:sp>
      <p:sp>
        <p:nvSpPr>
          <p:cNvPr id="6" name="Hình chữ nhật: Góc Tròn 5">
            <a:extLst>
              <a:ext uri="{FF2B5EF4-FFF2-40B4-BE49-F238E27FC236}">
                <a16:creationId xmlns:a16="http://schemas.microsoft.com/office/drawing/2014/main" id="{5FB06A82-EEE5-4560-BCE0-E782DA863FBA}"/>
              </a:ext>
            </a:extLst>
          </p:cNvPr>
          <p:cNvSpPr>
            <a:spLocks noGrp="1"/>
          </p:cNvSpPr>
          <p:nvPr/>
        </p:nvSpPr>
        <p:spPr>
          <a:xfrm>
            <a:off x="685800" y="1943100"/>
            <a:ext cx="4762500" cy="2952750"/>
          </a:xfrm>
          <a:prstGeom prst="roundRect">
            <a:avLst>
              <a:gd name="adj" fmla="val 2581"/>
            </a:avLst>
          </a:prstGeom>
          <a:solidFill>
            <a:srgbClr val="EAF1F4"/>
          </a:solidFill>
          <a:ln w="0">
            <a:solidFill>
              <a:srgbClr val="EAF1F4"/>
            </a:solidFill>
          </a:ln>
        </p:spPr>
        <p:txBody>
          <a:bodyPr/>
          <a:lstStyle/>
          <a:p>
            <a:endParaRPr/>
          </a:p>
        </p:txBody>
      </p:sp>
      <p:sp>
        <p:nvSpPr>
          <p:cNvPr id="7" name="Hình chữ nhật 6">
            <a:extLst>
              <a:ext uri="{FF2B5EF4-FFF2-40B4-BE49-F238E27FC236}">
                <a16:creationId xmlns:a16="http://schemas.microsoft.com/office/drawing/2014/main" id="{946CB113-0D6E-418C-B88F-8C4BD2236786}"/>
              </a:ext>
            </a:extLst>
          </p:cNvPr>
          <p:cNvSpPr>
            <a:spLocks noGrp="1"/>
          </p:cNvSpPr>
          <p:nvPr/>
        </p:nvSpPr>
        <p:spPr>
          <a:xfrm>
            <a:off x="1066800" y="2305050"/>
            <a:ext cx="4000500" cy="508254"/>
          </a:xfrm>
          <a:prstGeom prst="rect">
            <a:avLst/>
          </a:prstGeom>
          <a:noFill/>
          <a:ln w="0">
            <a:noFill/>
          </a:ln>
        </p:spPr>
        <p:txBody>
          <a:bodyPr anchor="t">
            <a:noAutofit/>
          </a:bodyPr>
          <a:lstStyle/>
          <a:p>
            <a:pPr algn="ctr">
              <a:buNone/>
              <a:defRPr sz="2100" b="1" i="0">
                <a:solidFill>
                  <a:srgbClr val="142B43"/>
                </a:solidFill>
                <a:latin typeface="Times New Roman"/>
                <a:ea typeface="Times New Roman"/>
                <a:cs typeface="Times New Roman"/>
              </a:defRPr>
            </a:pPr>
            <a:r>
              <a:rPr sz="3200" b="1" i="0">
                <a:solidFill>
                  <a:srgbClr val="142B43"/>
                </a:solidFill>
                <a:latin typeface="Times New Roman"/>
                <a:ea typeface="Times New Roman"/>
                <a:cs typeface="Times New Roman"/>
              </a:rPr>
              <a:t>Khoa học cụ thể</a:t>
            </a:r>
          </a:p>
        </p:txBody>
      </p:sp>
      <p:sp>
        <p:nvSpPr>
          <p:cNvPr id="8" name="Hình chữ nhật 7">
            <a:extLst>
              <a:ext uri="{FF2B5EF4-FFF2-40B4-BE49-F238E27FC236}">
                <a16:creationId xmlns:a16="http://schemas.microsoft.com/office/drawing/2014/main" id="{819F03AD-57C8-44ED-AA25-78CEA6B8E57C}"/>
              </a:ext>
            </a:extLst>
          </p:cNvPr>
          <p:cNvSpPr>
            <a:spLocks noGrp="1"/>
          </p:cNvSpPr>
          <p:nvPr/>
        </p:nvSpPr>
        <p:spPr>
          <a:xfrm>
            <a:off x="839755" y="3257550"/>
            <a:ext cx="4303745" cy="914400"/>
          </a:xfrm>
          <a:prstGeom prst="rect">
            <a:avLst/>
          </a:prstGeom>
          <a:noFill/>
          <a:ln w="0">
            <a:noFill/>
          </a:ln>
        </p:spPr>
        <p:txBody>
          <a:bodyPr anchor="t"/>
          <a:lstStyle/>
          <a:p>
            <a:pPr algn="ctr">
              <a:buNone/>
              <a:defRPr sz="1725"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Nghiên cứu những quy luật trong từng lĩnh vực riêng biệt của tự nhiên, xã hội hoặc tư duy.</a:t>
            </a:r>
          </a:p>
        </p:txBody>
      </p:sp>
      <p:sp>
        <p:nvSpPr>
          <p:cNvPr id="9" name="Hình chữ nhật: Góc Tròn 8">
            <a:extLst>
              <a:ext uri="{FF2B5EF4-FFF2-40B4-BE49-F238E27FC236}">
                <a16:creationId xmlns:a16="http://schemas.microsoft.com/office/drawing/2014/main" id="{FA6D7B28-0658-4EF0-BBED-D4411F7AA166}"/>
              </a:ext>
            </a:extLst>
          </p:cNvPr>
          <p:cNvSpPr>
            <a:spLocks noGrp="1"/>
          </p:cNvSpPr>
          <p:nvPr/>
        </p:nvSpPr>
        <p:spPr>
          <a:xfrm>
            <a:off x="6553200" y="1943100"/>
            <a:ext cx="4495800" cy="2952750"/>
          </a:xfrm>
          <a:prstGeom prst="roundRect">
            <a:avLst>
              <a:gd name="adj" fmla="val 2581"/>
            </a:avLst>
          </a:prstGeom>
          <a:solidFill>
            <a:srgbClr val="F8EFD9"/>
          </a:solidFill>
          <a:ln w="0">
            <a:solidFill>
              <a:srgbClr val="F8EFD9"/>
            </a:solidFill>
          </a:ln>
        </p:spPr>
        <p:txBody>
          <a:bodyPr/>
          <a:lstStyle/>
          <a:p>
            <a:endParaRPr/>
          </a:p>
        </p:txBody>
      </p:sp>
      <p:sp>
        <p:nvSpPr>
          <p:cNvPr id="10" name="Hình chữ nhật 9">
            <a:extLst>
              <a:ext uri="{FF2B5EF4-FFF2-40B4-BE49-F238E27FC236}">
                <a16:creationId xmlns:a16="http://schemas.microsoft.com/office/drawing/2014/main" id="{B9901CCB-70AA-4D8C-8348-B36FF7A65E50}"/>
              </a:ext>
            </a:extLst>
          </p:cNvPr>
          <p:cNvSpPr>
            <a:spLocks noGrp="1"/>
          </p:cNvSpPr>
          <p:nvPr/>
        </p:nvSpPr>
        <p:spPr>
          <a:xfrm>
            <a:off x="6934200" y="2305050"/>
            <a:ext cx="3733800" cy="508254"/>
          </a:xfrm>
          <a:prstGeom prst="rect">
            <a:avLst/>
          </a:prstGeom>
          <a:noFill/>
          <a:ln w="0">
            <a:noFill/>
          </a:ln>
        </p:spPr>
        <p:txBody>
          <a:bodyPr anchor="t">
            <a:noAutofit/>
          </a:bodyPr>
          <a:lstStyle/>
          <a:p>
            <a:pPr algn="ctr">
              <a:buNone/>
              <a:defRPr sz="2100" b="1" i="0">
                <a:solidFill>
                  <a:srgbClr val="142B43"/>
                </a:solidFill>
                <a:latin typeface="Times New Roman"/>
                <a:ea typeface="Times New Roman"/>
                <a:cs typeface="Times New Roman"/>
              </a:defRPr>
            </a:pPr>
            <a:r>
              <a:rPr sz="3200" b="1" i="0">
                <a:solidFill>
                  <a:srgbClr val="142B43"/>
                </a:solidFill>
                <a:latin typeface="Times New Roman"/>
                <a:ea typeface="Times New Roman"/>
                <a:cs typeface="Times New Roman"/>
              </a:rPr>
              <a:t>Triết học</a:t>
            </a:r>
          </a:p>
        </p:txBody>
      </p:sp>
      <p:sp>
        <p:nvSpPr>
          <p:cNvPr id="11" name="Hình chữ nhật 10">
            <a:extLst>
              <a:ext uri="{FF2B5EF4-FFF2-40B4-BE49-F238E27FC236}">
                <a16:creationId xmlns:a16="http://schemas.microsoft.com/office/drawing/2014/main" id="{26CF9383-A85C-4499-BB99-80AFE591D1B9}"/>
              </a:ext>
            </a:extLst>
          </p:cNvPr>
          <p:cNvSpPr>
            <a:spLocks noGrp="1"/>
          </p:cNvSpPr>
          <p:nvPr/>
        </p:nvSpPr>
        <p:spPr>
          <a:xfrm>
            <a:off x="6553200" y="3257550"/>
            <a:ext cx="4495800" cy="990600"/>
          </a:xfrm>
          <a:prstGeom prst="rect">
            <a:avLst/>
          </a:prstGeom>
          <a:noFill/>
          <a:ln w="0">
            <a:noFill/>
          </a:ln>
        </p:spPr>
        <p:txBody>
          <a:bodyPr anchor="t"/>
          <a:lstStyle/>
          <a:p>
            <a:pPr algn="ctr">
              <a:buNone/>
              <a:defRPr sz="165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Khái quát những quy luật chung nhất của cả tự nhiên, xã hội và tư duy; cung cấp cơ sở thế giới quan, phương pháp luận.</a:t>
            </a:r>
          </a:p>
        </p:txBody>
      </p:sp>
      <p:sp>
        <p:nvSpPr>
          <p:cNvPr id="12" name="Hình chữ nhật 11">
            <a:extLst>
              <a:ext uri="{FF2B5EF4-FFF2-40B4-BE49-F238E27FC236}">
                <a16:creationId xmlns:a16="http://schemas.microsoft.com/office/drawing/2014/main" id="{4855FE6B-DD1B-4F66-8ED9-10FA014AFE08}"/>
              </a:ext>
            </a:extLst>
          </p:cNvPr>
          <p:cNvSpPr>
            <a:spLocks noGrp="1"/>
          </p:cNvSpPr>
          <p:nvPr/>
        </p:nvSpPr>
        <p:spPr>
          <a:xfrm>
            <a:off x="1143000" y="5349621"/>
            <a:ext cx="9525000" cy="683133"/>
          </a:xfrm>
          <a:prstGeom prst="rect">
            <a:avLst/>
          </a:prstGeom>
          <a:noFill/>
          <a:ln w="0">
            <a:noFill/>
          </a:ln>
        </p:spPr>
        <p:txBody>
          <a:bodyPr anchor="t"/>
          <a:lstStyle/>
          <a:p>
            <a:pPr algn="ctr">
              <a:buNone/>
              <a:defRPr sz="1650"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Quan hệ giữa hai loại tri thức là quan hệ giữa cái chung và cái riêng. Hai bên bổ sung và thúc đẩy nhau phát triển.</a:t>
            </a:r>
          </a:p>
        </p:txBody>
      </p:sp>
    </p:spTree>
    <p:extLst>
      <p:ext uri="{BB962C8B-B14F-4D97-AF65-F5344CB8AC3E}">
        <p14:creationId xmlns:p14="http://schemas.microsoft.com/office/powerpoint/2010/main" val="20908196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3" name="Hình chữ nhật 12">
            <a:extLst>
              <a:ext uri="{FF2B5EF4-FFF2-40B4-BE49-F238E27FC236}">
                <a16:creationId xmlns:a16="http://schemas.microsoft.com/office/drawing/2014/main" id="{A386911C-1AEA-4C06-B000-EB01FF9A2AEA}"/>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2.5. ĐỐI TƯỢNG VÀ CHỨC NĂNG</a:t>
            </a:r>
          </a:p>
        </p:txBody>
      </p:sp>
      <p:sp>
        <p:nvSpPr>
          <p:cNvPr id="2" name="Hình chữ nhật 1">
            <a:extLst>
              <a:ext uri="{FF2B5EF4-FFF2-40B4-BE49-F238E27FC236}">
                <a16:creationId xmlns:a16="http://schemas.microsoft.com/office/drawing/2014/main" id="{F926EDFD-421D-49A8-9404-BEE8E245B367}"/>
              </a:ext>
            </a:extLst>
          </p:cNvPr>
          <p:cNvSpPr>
            <a:spLocks noGrp="1"/>
          </p:cNvSpPr>
          <p:nvPr/>
        </p:nvSpPr>
        <p:spPr>
          <a:xfrm>
            <a:off x="685800" y="876300"/>
            <a:ext cx="10001250" cy="45720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Khái niệm triết học Mác - Lênin</a:t>
            </a:r>
          </a:p>
        </p:txBody>
      </p:sp>
      <p:sp>
        <p:nvSpPr>
          <p:cNvPr id="3" name="Hình chữ nhật 2">
            <a:extLst>
              <a:ext uri="{FF2B5EF4-FFF2-40B4-BE49-F238E27FC236}">
                <a16:creationId xmlns:a16="http://schemas.microsoft.com/office/drawing/2014/main" id="{A2120065-FE57-41AA-8FDB-69784A0ADFBE}"/>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361EDCC4-BABF-4BDA-BF80-7C711C59BE14}"/>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95-98</a:t>
            </a:r>
          </a:p>
        </p:txBody>
      </p:sp>
      <p:sp>
        <p:nvSpPr>
          <p:cNvPr id="5" name="Hình chữ nhật 4">
            <a:extLst>
              <a:ext uri="{FF2B5EF4-FFF2-40B4-BE49-F238E27FC236}">
                <a16:creationId xmlns:a16="http://schemas.microsoft.com/office/drawing/2014/main" id="{154946AA-78A6-44D3-86FA-C6FD93281BE1}"/>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34</a:t>
            </a:r>
          </a:p>
        </p:txBody>
      </p:sp>
      <p:sp>
        <p:nvSpPr>
          <p:cNvPr id="6" name="Hình chữ nhật: Góc Tròn 5">
            <a:extLst>
              <a:ext uri="{FF2B5EF4-FFF2-40B4-BE49-F238E27FC236}">
                <a16:creationId xmlns:a16="http://schemas.microsoft.com/office/drawing/2014/main" id="{37090E67-2C57-4D97-9677-508AFFDEB7D0}"/>
              </a:ext>
            </a:extLst>
          </p:cNvPr>
          <p:cNvSpPr>
            <a:spLocks noGrp="1"/>
          </p:cNvSpPr>
          <p:nvPr/>
        </p:nvSpPr>
        <p:spPr>
          <a:xfrm>
            <a:off x="685799" y="1711700"/>
            <a:ext cx="10363200" cy="1409700"/>
          </a:xfrm>
          <a:prstGeom prst="roundRect">
            <a:avLst>
              <a:gd name="adj" fmla="val 5405"/>
            </a:avLst>
          </a:prstGeom>
          <a:solidFill>
            <a:srgbClr val="142B43"/>
          </a:solidFill>
          <a:ln w="0">
            <a:solidFill>
              <a:srgbClr val="142B43"/>
            </a:solidFill>
          </a:ln>
        </p:spPr>
        <p:txBody>
          <a:bodyPr/>
          <a:lstStyle/>
          <a:p>
            <a:endParaRPr/>
          </a:p>
        </p:txBody>
      </p:sp>
      <p:sp>
        <p:nvSpPr>
          <p:cNvPr id="7" name="Hình chữ nhật 6">
            <a:extLst>
              <a:ext uri="{FF2B5EF4-FFF2-40B4-BE49-F238E27FC236}">
                <a16:creationId xmlns:a16="http://schemas.microsoft.com/office/drawing/2014/main" id="{FE519973-881C-4FD7-844A-D0C45433C4A3}"/>
              </a:ext>
            </a:extLst>
          </p:cNvPr>
          <p:cNvSpPr>
            <a:spLocks noGrp="1"/>
          </p:cNvSpPr>
          <p:nvPr/>
        </p:nvSpPr>
        <p:spPr>
          <a:xfrm>
            <a:off x="1028700" y="1799786"/>
            <a:ext cx="9677400" cy="1229164"/>
          </a:xfrm>
          <a:prstGeom prst="rect">
            <a:avLst/>
          </a:prstGeom>
          <a:noFill/>
          <a:ln w="0">
            <a:noFill/>
          </a:ln>
        </p:spPr>
        <p:txBody>
          <a:bodyPr anchor="t"/>
          <a:lstStyle/>
          <a:p>
            <a:pPr algn="ctr">
              <a:buNone/>
              <a:defRPr sz="1950" b="1" i="0">
                <a:solidFill>
                  <a:srgbClr val="FFFFFF"/>
                </a:solidFill>
                <a:latin typeface="Times New Roman"/>
                <a:ea typeface="Times New Roman"/>
                <a:cs typeface="Times New Roman"/>
              </a:defRPr>
            </a:pPr>
            <a:r>
              <a:rPr sz="2300" b="1" i="0">
                <a:solidFill>
                  <a:srgbClr val="FFFFFF"/>
                </a:solidFill>
                <a:latin typeface="Times New Roman"/>
                <a:ea typeface="Times New Roman"/>
                <a:cs typeface="Times New Roman"/>
              </a:rPr>
              <a:t>Triết học Mác - Lênin là hệ thống quan điểm duy vật biện chứng về tự nhiên, xã hội và tư duy; là thế giới quan và phương pháp luận khoa học, cách mạng trong nhận thức và cải tạo thế giới.</a:t>
            </a:r>
          </a:p>
        </p:txBody>
      </p:sp>
      <p:sp>
        <p:nvSpPr>
          <p:cNvPr id="8" name="Hình chữ nhật 7">
            <a:extLst>
              <a:ext uri="{FF2B5EF4-FFF2-40B4-BE49-F238E27FC236}">
                <a16:creationId xmlns:a16="http://schemas.microsoft.com/office/drawing/2014/main" id="{BFC1B08B-BDF2-4266-BCAA-2AD618C68265}"/>
              </a:ext>
            </a:extLst>
          </p:cNvPr>
          <p:cNvSpPr>
            <a:spLocks noGrp="1"/>
          </p:cNvSpPr>
          <p:nvPr/>
        </p:nvSpPr>
        <p:spPr>
          <a:xfrm>
            <a:off x="685799" y="3663183"/>
            <a:ext cx="4119465" cy="836427"/>
          </a:xfrm>
          <a:prstGeom prst="rect">
            <a:avLst/>
          </a:prstGeom>
          <a:noFill/>
          <a:ln w="0">
            <a:noFill/>
          </a:ln>
        </p:spPr>
        <p:txBody>
          <a:bodyPr anchor="t">
            <a:noAutofit/>
          </a:bodyPr>
          <a:lstStyle/>
          <a:p>
            <a:pPr algn="l">
              <a:buNone/>
              <a:defRPr sz="1875" b="1" i="0">
                <a:solidFill>
                  <a:srgbClr val="142B43"/>
                </a:solidFill>
                <a:latin typeface="Times New Roman"/>
                <a:ea typeface="Times New Roman"/>
                <a:cs typeface="Times New Roman"/>
              </a:defRPr>
            </a:pPr>
            <a:r>
              <a:rPr sz="2800" b="1" i="0">
                <a:solidFill>
                  <a:srgbClr val="142B43"/>
                </a:solidFill>
                <a:latin typeface="Times New Roman"/>
                <a:ea typeface="Times New Roman"/>
                <a:cs typeface="Times New Roman"/>
              </a:rPr>
              <a:t>Hai sự thống nhất hữu cơ</a:t>
            </a:r>
          </a:p>
        </p:txBody>
      </p:sp>
      <p:sp>
        <p:nvSpPr>
          <p:cNvPr id="9" name="Hình chữ nhật 8">
            <a:extLst>
              <a:ext uri="{FF2B5EF4-FFF2-40B4-BE49-F238E27FC236}">
                <a16:creationId xmlns:a16="http://schemas.microsoft.com/office/drawing/2014/main" id="{8F93777D-8EAF-4698-9E71-616A4220619D}"/>
              </a:ext>
            </a:extLst>
          </p:cNvPr>
          <p:cNvSpPr>
            <a:spLocks noGrp="1"/>
          </p:cNvSpPr>
          <p:nvPr/>
        </p:nvSpPr>
        <p:spPr>
          <a:xfrm>
            <a:off x="685800" y="4283143"/>
            <a:ext cx="5108510" cy="1463100"/>
          </a:xfrm>
          <a:prstGeom prst="rect">
            <a:avLst/>
          </a:prstGeom>
          <a:noFill/>
          <a:ln w="0">
            <a:noFill/>
          </a:ln>
        </p:spPr>
        <p:txBody>
          <a:bodyPr anchor="t"/>
          <a:lstStyle/>
          <a:p>
            <a:pPr algn="l">
              <a:buNone/>
              <a:defRPr sz="165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  Chủ nghĩa duy vật và phép biện chứng.</a:t>
            </a:r>
          </a:p>
          <a:p>
            <a:pPr algn="l">
              <a:buNone/>
              <a:defRPr sz="165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  Chủ nghĩa duy vật biện chứng và chủ nghĩa duy vật lịch sử.</a:t>
            </a:r>
          </a:p>
          <a:p>
            <a:pPr algn="l">
              <a:buNone/>
              <a:defRPr sz="1650"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  Tính khoa học và tính cách mạng.</a:t>
            </a:r>
          </a:p>
        </p:txBody>
      </p:sp>
      <p:sp>
        <p:nvSpPr>
          <p:cNvPr id="10" name="Hình chữ nhật: Góc Tròn 9">
            <a:extLst>
              <a:ext uri="{FF2B5EF4-FFF2-40B4-BE49-F238E27FC236}">
                <a16:creationId xmlns:a16="http://schemas.microsoft.com/office/drawing/2014/main" id="{9C26C7C3-0D1A-4764-8D52-4FE3DAD82CD4}"/>
              </a:ext>
            </a:extLst>
          </p:cNvPr>
          <p:cNvSpPr>
            <a:spLocks noGrp="1"/>
          </p:cNvSpPr>
          <p:nvPr/>
        </p:nvSpPr>
        <p:spPr>
          <a:xfrm>
            <a:off x="6667500" y="3816857"/>
            <a:ext cx="4381500" cy="2471389"/>
          </a:xfrm>
          <a:prstGeom prst="roundRect">
            <a:avLst>
              <a:gd name="adj" fmla="val 90"/>
            </a:avLst>
          </a:prstGeom>
          <a:solidFill>
            <a:srgbClr val="F8EFD9"/>
          </a:solidFill>
          <a:ln w="0">
            <a:solidFill>
              <a:srgbClr val="F8EFD9"/>
            </a:solidFill>
          </a:ln>
        </p:spPr>
        <p:txBody>
          <a:bodyPr/>
          <a:lstStyle/>
          <a:p>
            <a:endParaRPr/>
          </a:p>
        </p:txBody>
      </p:sp>
      <p:sp>
        <p:nvSpPr>
          <p:cNvPr id="11" name="Hình chữ nhật 10">
            <a:extLst>
              <a:ext uri="{FF2B5EF4-FFF2-40B4-BE49-F238E27FC236}">
                <a16:creationId xmlns:a16="http://schemas.microsoft.com/office/drawing/2014/main" id="{5E1F12C2-FCF0-4812-932F-44E62B8C8C03}"/>
              </a:ext>
            </a:extLst>
          </p:cNvPr>
          <p:cNvSpPr>
            <a:spLocks noGrp="1"/>
          </p:cNvSpPr>
          <p:nvPr/>
        </p:nvSpPr>
        <p:spPr>
          <a:xfrm>
            <a:off x="6991350" y="3663183"/>
            <a:ext cx="3733800" cy="1055121"/>
          </a:xfrm>
          <a:prstGeom prst="rect">
            <a:avLst/>
          </a:prstGeom>
          <a:noFill/>
          <a:ln w="0">
            <a:noFill/>
          </a:ln>
        </p:spPr>
        <p:txBody>
          <a:bodyPr anchor="t">
            <a:noAutofit/>
          </a:bodyPr>
          <a:lstStyle/>
          <a:p>
            <a:pPr algn="ctr">
              <a:buNone/>
              <a:defRPr sz="1950" b="1" i="0">
                <a:solidFill>
                  <a:srgbClr val="142B43"/>
                </a:solidFill>
                <a:latin typeface="Times New Roman"/>
                <a:ea typeface="Times New Roman"/>
                <a:cs typeface="Times New Roman"/>
              </a:defRPr>
            </a:pPr>
            <a:r>
              <a:rPr sz="2800" b="1" i="0">
                <a:solidFill>
                  <a:srgbClr val="142B43"/>
                </a:solidFill>
                <a:latin typeface="Times New Roman"/>
                <a:ea typeface="Times New Roman"/>
                <a:cs typeface="Times New Roman"/>
              </a:rPr>
              <a:t>Một học thuyết mở</a:t>
            </a:r>
          </a:p>
        </p:txBody>
      </p:sp>
      <p:sp>
        <p:nvSpPr>
          <p:cNvPr id="12" name="Hình chữ nhật 11">
            <a:extLst>
              <a:ext uri="{FF2B5EF4-FFF2-40B4-BE49-F238E27FC236}">
                <a16:creationId xmlns:a16="http://schemas.microsoft.com/office/drawing/2014/main" id="{7E82DF2A-7C97-4D2E-A14F-556F36DCC933}"/>
              </a:ext>
            </a:extLst>
          </p:cNvPr>
          <p:cNvSpPr>
            <a:spLocks noGrp="1"/>
          </p:cNvSpPr>
          <p:nvPr/>
        </p:nvSpPr>
        <p:spPr>
          <a:xfrm>
            <a:off x="7086600" y="4283143"/>
            <a:ext cx="3733800" cy="1698557"/>
          </a:xfrm>
          <a:prstGeom prst="rect">
            <a:avLst/>
          </a:prstGeom>
          <a:noFill/>
          <a:ln w="0">
            <a:noFill/>
          </a:ln>
        </p:spPr>
        <p:txBody>
          <a:bodyPr anchor="t"/>
          <a:lstStyle/>
          <a:p>
            <a:pPr algn="ctr">
              <a:buNone/>
              <a:defRPr sz="1575" b="0" i="0">
                <a:solidFill>
                  <a:srgbClr val="1D2A35"/>
                </a:solidFill>
                <a:latin typeface="Times New Roman"/>
                <a:ea typeface="Times New Roman"/>
                <a:cs typeface="Times New Roman"/>
              </a:defRPr>
            </a:pPr>
            <a:r>
              <a:rPr sz="2400" b="0" i="0">
                <a:solidFill>
                  <a:srgbClr val="1D2A35"/>
                </a:solidFill>
                <a:latin typeface="Times New Roman"/>
                <a:ea typeface="Times New Roman"/>
                <a:cs typeface="Times New Roman"/>
              </a:rPr>
              <a:t>Được bổ sung và phát triển trên cơ sở thành tựu khoa học và tổng kết thực tiễn.</a:t>
            </a:r>
          </a:p>
        </p:txBody>
      </p:sp>
    </p:spTree>
    <p:extLst>
      <p:ext uri="{BB962C8B-B14F-4D97-AF65-F5344CB8AC3E}">
        <p14:creationId xmlns:p14="http://schemas.microsoft.com/office/powerpoint/2010/main" val="572872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7" name="Hình chữ nhật 16">
            <a:extLst>
              <a:ext uri="{FF2B5EF4-FFF2-40B4-BE49-F238E27FC236}">
                <a16:creationId xmlns:a16="http://schemas.microsoft.com/office/drawing/2014/main" id="{FF7D2906-456F-4799-96F7-6840A8971936}"/>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2.5. ĐỐI TƯỢNG VÀ CHỨC NĂNG</a:t>
            </a:r>
          </a:p>
        </p:txBody>
      </p:sp>
      <p:sp>
        <p:nvSpPr>
          <p:cNvPr id="2" name="Hình chữ nhật 1">
            <a:extLst>
              <a:ext uri="{FF2B5EF4-FFF2-40B4-BE49-F238E27FC236}">
                <a16:creationId xmlns:a16="http://schemas.microsoft.com/office/drawing/2014/main" id="{4F15CB1A-0AE4-4A9B-9FA2-990A7DB4A4B7}"/>
              </a:ext>
            </a:extLst>
          </p:cNvPr>
          <p:cNvSpPr>
            <a:spLocks noGrp="1"/>
          </p:cNvSpPr>
          <p:nvPr/>
        </p:nvSpPr>
        <p:spPr>
          <a:xfrm>
            <a:off x="685800" y="857250"/>
            <a:ext cx="10001250" cy="47625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Đối tượng của triết học Mác - Lênin</a:t>
            </a:r>
          </a:p>
        </p:txBody>
      </p:sp>
      <p:sp>
        <p:nvSpPr>
          <p:cNvPr id="3" name="Hình chữ nhật 2">
            <a:extLst>
              <a:ext uri="{FF2B5EF4-FFF2-40B4-BE49-F238E27FC236}">
                <a16:creationId xmlns:a16="http://schemas.microsoft.com/office/drawing/2014/main" id="{B28FDE01-6D44-4006-9BD6-9C5A9D8A73CA}"/>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340AE9C0-E188-4E3D-A45F-619646EFB57B}"/>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96-99</a:t>
            </a:r>
          </a:p>
        </p:txBody>
      </p:sp>
      <p:sp>
        <p:nvSpPr>
          <p:cNvPr id="5" name="Hình chữ nhật 4">
            <a:extLst>
              <a:ext uri="{FF2B5EF4-FFF2-40B4-BE49-F238E27FC236}">
                <a16:creationId xmlns:a16="http://schemas.microsoft.com/office/drawing/2014/main" id="{0853944F-C4E6-4579-8A87-C9491079972E}"/>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35</a:t>
            </a:r>
          </a:p>
        </p:txBody>
      </p:sp>
      <p:sp>
        <p:nvSpPr>
          <p:cNvPr id="6" name="Hình chữ nhật: Góc Tròn 5">
            <a:extLst>
              <a:ext uri="{FF2B5EF4-FFF2-40B4-BE49-F238E27FC236}">
                <a16:creationId xmlns:a16="http://schemas.microsoft.com/office/drawing/2014/main" id="{BA72BB60-D28B-4EEA-B93B-20C57FE4A37F}"/>
              </a:ext>
            </a:extLst>
          </p:cNvPr>
          <p:cNvSpPr>
            <a:spLocks noGrp="1"/>
          </p:cNvSpPr>
          <p:nvPr/>
        </p:nvSpPr>
        <p:spPr>
          <a:xfrm>
            <a:off x="685800" y="1905000"/>
            <a:ext cx="10363200" cy="1104900"/>
          </a:xfrm>
          <a:prstGeom prst="roundRect">
            <a:avLst>
              <a:gd name="adj" fmla="val 6897"/>
            </a:avLst>
          </a:prstGeom>
          <a:solidFill>
            <a:srgbClr val="EAF1F4"/>
          </a:solidFill>
          <a:ln w="0">
            <a:solidFill>
              <a:srgbClr val="EAF1F4"/>
            </a:solidFill>
          </a:ln>
        </p:spPr>
        <p:txBody>
          <a:bodyPr/>
          <a:lstStyle/>
          <a:p>
            <a:endParaRPr/>
          </a:p>
        </p:txBody>
      </p:sp>
      <p:sp>
        <p:nvSpPr>
          <p:cNvPr id="7" name="Hình chữ nhật 6">
            <a:extLst>
              <a:ext uri="{FF2B5EF4-FFF2-40B4-BE49-F238E27FC236}">
                <a16:creationId xmlns:a16="http://schemas.microsoft.com/office/drawing/2014/main" id="{636983A5-E038-484D-B4A4-8AE2A25C1734}"/>
              </a:ext>
            </a:extLst>
          </p:cNvPr>
          <p:cNvSpPr>
            <a:spLocks noGrp="1"/>
          </p:cNvSpPr>
          <p:nvPr/>
        </p:nvSpPr>
        <p:spPr>
          <a:xfrm>
            <a:off x="1047750" y="1962150"/>
            <a:ext cx="9620250" cy="871728"/>
          </a:xfrm>
          <a:prstGeom prst="rect">
            <a:avLst/>
          </a:prstGeom>
          <a:noFill/>
          <a:ln w="0">
            <a:noFill/>
          </a:ln>
        </p:spPr>
        <p:txBody>
          <a:bodyPr anchor="t"/>
          <a:lstStyle/>
          <a:p>
            <a:pPr algn="ctr">
              <a:buNone/>
              <a:defRPr sz="187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Giải quyết mối quan hệ giữa vật chất và ý thức trên lập trường duy vật biện chứng; nghiên cứu những quy luật vận động, phát triển chung nhất của tự nhiên, xã hội và tư duy.</a:t>
            </a:r>
          </a:p>
        </p:txBody>
      </p:sp>
      <p:sp>
        <p:nvSpPr>
          <p:cNvPr id="8" name="Hình chữ nhật: Góc Tròn 7">
            <a:extLst>
              <a:ext uri="{FF2B5EF4-FFF2-40B4-BE49-F238E27FC236}">
                <a16:creationId xmlns:a16="http://schemas.microsoft.com/office/drawing/2014/main" id="{BEC6833F-6DD7-4FBD-83D8-2C3072A3935C}"/>
              </a:ext>
            </a:extLst>
          </p:cNvPr>
          <p:cNvSpPr>
            <a:spLocks noGrp="1"/>
          </p:cNvSpPr>
          <p:nvPr/>
        </p:nvSpPr>
        <p:spPr>
          <a:xfrm>
            <a:off x="685800" y="3638550"/>
            <a:ext cx="2857500" cy="1714500"/>
          </a:xfrm>
          <a:prstGeom prst="roundRect">
            <a:avLst>
              <a:gd name="adj" fmla="val 4444"/>
            </a:avLst>
          </a:prstGeom>
          <a:solidFill>
            <a:srgbClr val="F6E6E1"/>
          </a:solidFill>
          <a:ln w="0">
            <a:noFill/>
          </a:ln>
        </p:spPr>
        <p:txBody>
          <a:bodyPr/>
          <a:lstStyle/>
          <a:p>
            <a:endParaRPr/>
          </a:p>
        </p:txBody>
      </p:sp>
      <p:sp>
        <p:nvSpPr>
          <p:cNvPr id="9" name="Hình chữ nhật 8">
            <a:extLst>
              <a:ext uri="{FF2B5EF4-FFF2-40B4-BE49-F238E27FC236}">
                <a16:creationId xmlns:a16="http://schemas.microsoft.com/office/drawing/2014/main" id="{B024B291-6323-4BE4-B749-F44CEEF90076}"/>
              </a:ext>
            </a:extLst>
          </p:cNvPr>
          <p:cNvSpPr>
            <a:spLocks noGrp="1"/>
          </p:cNvSpPr>
          <p:nvPr/>
        </p:nvSpPr>
        <p:spPr>
          <a:xfrm>
            <a:off x="914400" y="3691423"/>
            <a:ext cx="2400300" cy="703031"/>
          </a:xfrm>
          <a:prstGeom prst="rect">
            <a:avLst/>
          </a:prstGeom>
          <a:noFill/>
          <a:ln w="0">
            <a:noFill/>
          </a:ln>
        </p:spPr>
        <p:txBody>
          <a:bodyPr anchor="t">
            <a:noAutofit/>
          </a:bodyPr>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Triết học</a:t>
            </a:r>
          </a:p>
        </p:txBody>
      </p:sp>
      <p:sp>
        <p:nvSpPr>
          <p:cNvPr id="10" name="Hình chữ nhật 9">
            <a:extLst>
              <a:ext uri="{FF2B5EF4-FFF2-40B4-BE49-F238E27FC236}">
                <a16:creationId xmlns:a16="http://schemas.microsoft.com/office/drawing/2014/main" id="{F2E5C5C4-B28F-453C-9ED5-5A30A443C20E}"/>
              </a:ext>
            </a:extLst>
          </p:cNvPr>
          <p:cNvSpPr>
            <a:spLocks noGrp="1"/>
          </p:cNvSpPr>
          <p:nvPr/>
        </p:nvSpPr>
        <p:spPr>
          <a:xfrm>
            <a:off x="685799" y="4328922"/>
            <a:ext cx="2857500" cy="886206"/>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Quy luật chung nhất của cả tự nhiên, xã hội và tư duy.</a:t>
            </a:r>
          </a:p>
        </p:txBody>
      </p:sp>
      <p:sp>
        <p:nvSpPr>
          <p:cNvPr id="11" name="Hình chữ nhật: Góc Tròn 10">
            <a:extLst>
              <a:ext uri="{FF2B5EF4-FFF2-40B4-BE49-F238E27FC236}">
                <a16:creationId xmlns:a16="http://schemas.microsoft.com/office/drawing/2014/main" id="{461C3B5C-A968-4312-9A6B-5389CB3F6A26}"/>
              </a:ext>
            </a:extLst>
          </p:cNvPr>
          <p:cNvSpPr>
            <a:spLocks noGrp="1"/>
          </p:cNvSpPr>
          <p:nvPr/>
        </p:nvSpPr>
        <p:spPr>
          <a:xfrm>
            <a:off x="4114800" y="3638550"/>
            <a:ext cx="2857500" cy="1714500"/>
          </a:xfrm>
          <a:prstGeom prst="roundRect">
            <a:avLst>
              <a:gd name="adj" fmla="val 4444"/>
            </a:avLst>
          </a:prstGeom>
          <a:solidFill>
            <a:srgbClr val="F8EFD9"/>
          </a:solidFill>
          <a:ln w="0">
            <a:noFill/>
          </a:ln>
        </p:spPr>
        <p:txBody>
          <a:bodyPr/>
          <a:lstStyle/>
          <a:p>
            <a:endParaRPr/>
          </a:p>
        </p:txBody>
      </p:sp>
      <p:sp>
        <p:nvSpPr>
          <p:cNvPr id="12" name="Hình chữ nhật 11">
            <a:extLst>
              <a:ext uri="{FF2B5EF4-FFF2-40B4-BE49-F238E27FC236}">
                <a16:creationId xmlns:a16="http://schemas.microsoft.com/office/drawing/2014/main" id="{4BE592A6-4B81-4742-B7F1-16F73102DAEB}"/>
              </a:ext>
            </a:extLst>
          </p:cNvPr>
          <p:cNvSpPr>
            <a:spLocks noGrp="1"/>
          </p:cNvSpPr>
          <p:nvPr/>
        </p:nvSpPr>
        <p:spPr>
          <a:xfrm>
            <a:off x="4343400" y="3691423"/>
            <a:ext cx="2400300" cy="703031"/>
          </a:xfrm>
          <a:prstGeom prst="rect">
            <a:avLst/>
          </a:prstGeom>
          <a:noFill/>
          <a:ln w="0">
            <a:noFill/>
          </a:ln>
        </p:spPr>
        <p:txBody>
          <a:bodyPr anchor="t">
            <a:noAutofit/>
          </a:bodyPr>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Khoa học cụ thể</a:t>
            </a:r>
          </a:p>
        </p:txBody>
      </p:sp>
      <p:sp>
        <p:nvSpPr>
          <p:cNvPr id="13" name="Hình chữ nhật 12">
            <a:extLst>
              <a:ext uri="{FF2B5EF4-FFF2-40B4-BE49-F238E27FC236}">
                <a16:creationId xmlns:a16="http://schemas.microsoft.com/office/drawing/2014/main" id="{86D7369A-2970-45E7-AD14-DA5081FD1DBF}"/>
              </a:ext>
            </a:extLst>
          </p:cNvPr>
          <p:cNvSpPr>
            <a:spLocks noGrp="1"/>
          </p:cNvSpPr>
          <p:nvPr/>
        </p:nvSpPr>
        <p:spPr>
          <a:xfrm>
            <a:off x="4114801" y="4328922"/>
            <a:ext cx="2740866" cy="886206"/>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Quy luật trong từng lĩnh vực riêng biệt của tự nhiên, xã hội hoặc tư duy.</a:t>
            </a:r>
          </a:p>
        </p:txBody>
      </p:sp>
      <p:sp>
        <p:nvSpPr>
          <p:cNvPr id="14" name="Hình chữ nhật: Góc Tròn 13">
            <a:extLst>
              <a:ext uri="{FF2B5EF4-FFF2-40B4-BE49-F238E27FC236}">
                <a16:creationId xmlns:a16="http://schemas.microsoft.com/office/drawing/2014/main" id="{9E016AA5-017E-435D-9644-D2C96D5989A7}"/>
              </a:ext>
            </a:extLst>
          </p:cNvPr>
          <p:cNvSpPr>
            <a:spLocks noGrp="1"/>
          </p:cNvSpPr>
          <p:nvPr/>
        </p:nvSpPr>
        <p:spPr>
          <a:xfrm>
            <a:off x="7543800" y="3638550"/>
            <a:ext cx="2857500" cy="1714500"/>
          </a:xfrm>
          <a:prstGeom prst="roundRect">
            <a:avLst>
              <a:gd name="adj" fmla="val 4444"/>
            </a:avLst>
          </a:prstGeom>
          <a:solidFill>
            <a:srgbClr val="EAF1F4"/>
          </a:solidFill>
          <a:ln w="0">
            <a:noFill/>
          </a:ln>
        </p:spPr>
        <p:txBody>
          <a:bodyPr/>
          <a:lstStyle/>
          <a:p>
            <a:endParaRPr/>
          </a:p>
        </p:txBody>
      </p:sp>
      <p:sp>
        <p:nvSpPr>
          <p:cNvPr id="15" name="Hình chữ nhật 14">
            <a:extLst>
              <a:ext uri="{FF2B5EF4-FFF2-40B4-BE49-F238E27FC236}">
                <a16:creationId xmlns:a16="http://schemas.microsoft.com/office/drawing/2014/main" id="{9FFF5FF2-9179-4B57-A37D-4E8E229D1CDC}"/>
              </a:ext>
            </a:extLst>
          </p:cNvPr>
          <p:cNvSpPr>
            <a:spLocks noGrp="1"/>
          </p:cNvSpPr>
          <p:nvPr/>
        </p:nvSpPr>
        <p:spPr>
          <a:xfrm>
            <a:off x="7772400" y="3691423"/>
            <a:ext cx="2400300" cy="703031"/>
          </a:xfrm>
          <a:prstGeom prst="rect">
            <a:avLst/>
          </a:prstGeom>
          <a:noFill/>
          <a:ln w="0">
            <a:noFill/>
          </a:ln>
        </p:spPr>
        <p:txBody>
          <a:bodyPr anchor="t">
            <a:noAutofit/>
          </a:bodyPr>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Mối quan hệ</a:t>
            </a:r>
          </a:p>
        </p:txBody>
      </p:sp>
      <p:sp>
        <p:nvSpPr>
          <p:cNvPr id="16" name="Hình chữ nhật 15">
            <a:extLst>
              <a:ext uri="{FF2B5EF4-FFF2-40B4-BE49-F238E27FC236}">
                <a16:creationId xmlns:a16="http://schemas.microsoft.com/office/drawing/2014/main" id="{7F8D54DD-E2DF-43F5-B22B-942CE917AAFC}"/>
              </a:ext>
            </a:extLst>
          </p:cNvPr>
          <p:cNvSpPr>
            <a:spLocks noGrp="1"/>
          </p:cNvSpPr>
          <p:nvPr/>
        </p:nvSpPr>
        <p:spPr>
          <a:xfrm>
            <a:off x="7660433" y="4191001"/>
            <a:ext cx="2668555" cy="1024128"/>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Quan hệ giữa cái chung và cái riêng; triết học khái quát kết quả của khoa học cụ thể.</a:t>
            </a:r>
          </a:p>
        </p:txBody>
      </p:sp>
      <p:sp>
        <p:nvSpPr>
          <p:cNvPr id="18" name="Ví dụ minh họa">
            <a:extLst>
              <a:ext uri="{FF2B5EF4-FFF2-40B4-BE49-F238E27FC236}">
                <a16:creationId xmlns:a16="http://schemas.microsoft.com/office/drawing/2014/main" id="{909EB06B-431D-4848-938E-E1218480516E}"/>
              </a:ext>
            </a:extLst>
          </p:cNvPr>
          <p:cNvSpPr>
            <a:spLocks noGrp="1"/>
          </p:cNvSpPr>
          <p:nvPr/>
        </p:nvSpPr>
        <p:spPr>
          <a:xfrm>
            <a:off x="685800" y="5524500"/>
            <a:ext cx="10363200" cy="590550"/>
          </a:xfrm>
          <a:prstGeom prst="roundRect">
            <a:avLst>
              <a:gd name="adj" fmla="val 19355"/>
            </a:avLst>
          </a:prstGeom>
          <a:solidFill>
            <a:srgbClr val="FFF4D8"/>
          </a:solidFill>
          <a:ln w="0">
            <a:noFill/>
          </a:ln>
        </p:spPr>
        <p:txBody>
          <a:bodyPr lIns="190500" tIns="76200" rIns="190500" bIns="76200" anchor="ctr">
            <a:noAutofit/>
          </a:bodyPr>
          <a:lstStyle/>
          <a:p>
            <a:pPr algn="l">
              <a:defRPr sz="1350" b="0">
                <a:solidFill>
                  <a:srgbClr val="A94D3E"/>
                </a:solidFill>
                <a:latin typeface="Times New Roman"/>
                <a:ea typeface="Times New Roman"/>
                <a:cs typeface="Times New Roman"/>
              </a:defRPr>
            </a:pPr>
            <a:r>
              <a:rPr sz="2000" b="0" dirty="0" err="1">
                <a:solidFill>
                  <a:srgbClr val="A94D3E"/>
                </a:solidFill>
                <a:latin typeface="Times New Roman"/>
                <a:ea typeface="Times New Roman"/>
                <a:cs typeface="Times New Roman"/>
              </a:rPr>
              <a:t>Ví</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dụ</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Sinh</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học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nghiên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cứu</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quy</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luật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của</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tế</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bào</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triết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học</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khái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quát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hơn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về</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mối</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liên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hệ</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vận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động</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và</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phát</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triển</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của</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tự</a:t>
            </a:r>
            <a:r>
              <a:rPr sz="2000" b="0" dirty="0">
                <a:solidFill>
                  <a:srgbClr val="A94D3E"/>
                </a:solidFill>
                <a:latin typeface="Times New Roman"/>
                <a:ea typeface="Times New Roman"/>
                <a:cs typeface="Times New Roman"/>
              </a:rPr>
              <a:t> </a:t>
            </a:r>
            <a:r>
              <a:rPr sz="2000" b="0" dirty="0" err="1">
                <a:solidFill>
                  <a:srgbClr val="A94D3E"/>
                </a:solidFill>
                <a:latin typeface="Times New Roman"/>
                <a:ea typeface="Times New Roman"/>
                <a:cs typeface="Times New Roman"/>
              </a:rPr>
              <a:t>nhiên</a:t>
            </a:r>
            <a:r>
              <a:rPr sz="2000" b="0" dirty="0">
                <a:solidFill>
                  <a:srgbClr val="A94D3E"/>
                </a:solidFill>
                <a:latin typeface="Times New Roman"/>
                <a:ea typeface="Times New Roman"/>
                <a:cs typeface="Times New Roman"/>
              </a:rPr>
              <a:t>.</a:t>
            </a:r>
          </a:p>
        </p:txBody>
      </p:sp>
    </p:spTree>
    <p:extLst>
      <p:ext uri="{BB962C8B-B14F-4D97-AF65-F5344CB8AC3E}">
        <p14:creationId xmlns:p14="http://schemas.microsoft.com/office/powerpoint/2010/main" val="385132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7" name="Hình chữ nhật 16">
            <a:extLst>
              <a:ext uri="{FF2B5EF4-FFF2-40B4-BE49-F238E27FC236}">
                <a16:creationId xmlns:a16="http://schemas.microsoft.com/office/drawing/2014/main" id="{143CCE89-17D8-4C59-90EA-1407D76B739C}"/>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2.5. ĐỐI TƯỢNG VÀ CHỨC NĂNG</a:t>
            </a:r>
          </a:p>
        </p:txBody>
      </p:sp>
      <p:sp>
        <p:nvSpPr>
          <p:cNvPr id="2" name="Hình chữ nhật 1">
            <a:extLst>
              <a:ext uri="{FF2B5EF4-FFF2-40B4-BE49-F238E27FC236}">
                <a16:creationId xmlns:a16="http://schemas.microsoft.com/office/drawing/2014/main" id="{58BAE602-92E3-46F7-BABA-DE110576510C}"/>
              </a:ext>
            </a:extLst>
          </p:cNvPr>
          <p:cNvSpPr>
            <a:spLocks noGrp="1"/>
          </p:cNvSpPr>
          <p:nvPr/>
        </p:nvSpPr>
        <p:spPr>
          <a:xfrm>
            <a:off x="685800" y="806196"/>
            <a:ext cx="10001250" cy="527304"/>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Thế giới quan duy vật biện chứng</a:t>
            </a:r>
          </a:p>
        </p:txBody>
      </p:sp>
      <p:sp>
        <p:nvSpPr>
          <p:cNvPr id="3" name="Hình chữ nhật 2">
            <a:extLst>
              <a:ext uri="{FF2B5EF4-FFF2-40B4-BE49-F238E27FC236}">
                <a16:creationId xmlns:a16="http://schemas.microsoft.com/office/drawing/2014/main" id="{98537F97-A7FF-40DB-8511-17F48D66AAE1}"/>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8C163786-2F8D-4162-8B25-E61FDD643B00}"/>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99-100</a:t>
            </a:r>
          </a:p>
        </p:txBody>
      </p:sp>
      <p:sp>
        <p:nvSpPr>
          <p:cNvPr id="5" name="Hình chữ nhật 4">
            <a:extLst>
              <a:ext uri="{FF2B5EF4-FFF2-40B4-BE49-F238E27FC236}">
                <a16:creationId xmlns:a16="http://schemas.microsoft.com/office/drawing/2014/main" id="{26E440B7-D011-42FB-AEEB-E2C3DE6CC013}"/>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36</a:t>
            </a:r>
          </a:p>
        </p:txBody>
      </p:sp>
      <p:sp>
        <p:nvSpPr>
          <p:cNvPr id="6" name="Hình chữ nhật 5">
            <a:extLst>
              <a:ext uri="{FF2B5EF4-FFF2-40B4-BE49-F238E27FC236}">
                <a16:creationId xmlns:a16="http://schemas.microsoft.com/office/drawing/2014/main" id="{988AAF73-1B28-4A09-99FB-54E0CB42EE2C}"/>
              </a:ext>
            </a:extLst>
          </p:cNvPr>
          <p:cNvSpPr>
            <a:spLocks noGrp="1"/>
          </p:cNvSpPr>
          <p:nvPr/>
        </p:nvSpPr>
        <p:spPr>
          <a:xfrm>
            <a:off x="685800" y="1790700"/>
            <a:ext cx="10287000" cy="508254"/>
          </a:xfrm>
          <a:prstGeom prst="rect">
            <a:avLst/>
          </a:prstGeom>
          <a:noFill/>
          <a:ln w="0">
            <a:noFill/>
          </a:ln>
        </p:spPr>
        <p:txBody>
          <a:bodyPr anchor="t">
            <a:noAutofit/>
          </a:bodyPr>
          <a:lstStyle/>
          <a:p>
            <a:pPr algn="ctr">
              <a:buNone/>
              <a:defRPr sz="2025"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Nhìn thế giới trong mối liên hệ, vận động và phát triển</a:t>
            </a:r>
          </a:p>
        </p:txBody>
      </p:sp>
      <p:sp>
        <p:nvSpPr>
          <p:cNvPr id="7" name="Hình chữ nhật: Góc Tròn 6">
            <a:extLst>
              <a:ext uri="{FF2B5EF4-FFF2-40B4-BE49-F238E27FC236}">
                <a16:creationId xmlns:a16="http://schemas.microsoft.com/office/drawing/2014/main" id="{7AC786AD-97EB-470F-BEDF-2DF1595CFA75}"/>
              </a:ext>
            </a:extLst>
          </p:cNvPr>
          <p:cNvSpPr>
            <a:spLocks noGrp="1"/>
          </p:cNvSpPr>
          <p:nvPr/>
        </p:nvSpPr>
        <p:spPr>
          <a:xfrm>
            <a:off x="685800" y="2647950"/>
            <a:ext cx="2857500" cy="2305050"/>
          </a:xfrm>
          <a:prstGeom prst="roundRect">
            <a:avLst>
              <a:gd name="adj" fmla="val 3306"/>
            </a:avLst>
          </a:prstGeom>
          <a:solidFill>
            <a:srgbClr val="EAF1F4"/>
          </a:solidFill>
          <a:ln w="0">
            <a:noFill/>
          </a:ln>
        </p:spPr>
        <p:txBody>
          <a:bodyPr/>
          <a:lstStyle/>
          <a:p>
            <a:endParaRPr/>
          </a:p>
        </p:txBody>
      </p:sp>
      <p:sp>
        <p:nvSpPr>
          <p:cNvPr id="8" name="Hình chữ nhật 7">
            <a:extLst>
              <a:ext uri="{FF2B5EF4-FFF2-40B4-BE49-F238E27FC236}">
                <a16:creationId xmlns:a16="http://schemas.microsoft.com/office/drawing/2014/main" id="{E6339ABE-9604-4CEB-BE8E-78036A6F577E}"/>
              </a:ext>
            </a:extLst>
          </p:cNvPr>
          <p:cNvSpPr>
            <a:spLocks noGrp="1"/>
          </p:cNvSpPr>
          <p:nvPr/>
        </p:nvSpPr>
        <p:spPr>
          <a:xfrm>
            <a:off x="914400" y="2781300"/>
            <a:ext cx="2400300" cy="890778"/>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Nhận thức đúng hiện thực</a:t>
            </a:r>
          </a:p>
        </p:txBody>
      </p:sp>
      <p:sp>
        <p:nvSpPr>
          <p:cNvPr id="9" name="Hình chữ nhật 8">
            <a:extLst>
              <a:ext uri="{FF2B5EF4-FFF2-40B4-BE49-F238E27FC236}">
                <a16:creationId xmlns:a16="http://schemas.microsoft.com/office/drawing/2014/main" id="{3750A05F-EC37-484D-91A2-C0D8311471FB}"/>
              </a:ext>
            </a:extLst>
          </p:cNvPr>
          <p:cNvSpPr>
            <a:spLocks noGrp="1"/>
          </p:cNvSpPr>
          <p:nvPr/>
        </p:nvSpPr>
        <p:spPr>
          <a:xfrm>
            <a:off x="952500" y="3738753"/>
            <a:ext cx="2324100" cy="1019175"/>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Có cơ sở khoa học để đi sâu vào bản chất của tự nhiên, xã hội và đời sống.</a:t>
            </a:r>
          </a:p>
        </p:txBody>
      </p:sp>
      <p:sp>
        <p:nvSpPr>
          <p:cNvPr id="10" name="Hình chữ nhật: Góc Tròn 9">
            <a:extLst>
              <a:ext uri="{FF2B5EF4-FFF2-40B4-BE49-F238E27FC236}">
                <a16:creationId xmlns:a16="http://schemas.microsoft.com/office/drawing/2014/main" id="{DBD27205-5588-4030-A372-633997BDBEBA}"/>
              </a:ext>
            </a:extLst>
          </p:cNvPr>
          <p:cNvSpPr>
            <a:spLocks noGrp="1"/>
          </p:cNvSpPr>
          <p:nvPr/>
        </p:nvSpPr>
        <p:spPr>
          <a:xfrm>
            <a:off x="4114800" y="2647950"/>
            <a:ext cx="2857500" cy="2305050"/>
          </a:xfrm>
          <a:prstGeom prst="roundRect">
            <a:avLst>
              <a:gd name="adj" fmla="val 3306"/>
            </a:avLst>
          </a:prstGeom>
          <a:solidFill>
            <a:srgbClr val="F8EFD9"/>
          </a:solidFill>
          <a:ln w="0">
            <a:noFill/>
          </a:ln>
        </p:spPr>
        <p:txBody>
          <a:bodyPr/>
          <a:lstStyle/>
          <a:p>
            <a:endParaRPr/>
          </a:p>
        </p:txBody>
      </p:sp>
      <p:sp>
        <p:nvSpPr>
          <p:cNvPr id="11" name="Hình chữ nhật 10">
            <a:extLst>
              <a:ext uri="{FF2B5EF4-FFF2-40B4-BE49-F238E27FC236}">
                <a16:creationId xmlns:a16="http://schemas.microsoft.com/office/drawing/2014/main" id="{6EB27291-E992-4818-A12E-9768F147E66B}"/>
              </a:ext>
            </a:extLst>
          </p:cNvPr>
          <p:cNvSpPr>
            <a:spLocks noGrp="1"/>
          </p:cNvSpPr>
          <p:nvPr/>
        </p:nvSpPr>
        <p:spPr>
          <a:xfrm>
            <a:off x="4343400" y="2756154"/>
            <a:ext cx="2400300" cy="915924"/>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Định hướng hành động</a:t>
            </a:r>
          </a:p>
        </p:txBody>
      </p:sp>
      <p:sp>
        <p:nvSpPr>
          <p:cNvPr id="12" name="Hình chữ nhật 11">
            <a:extLst>
              <a:ext uri="{FF2B5EF4-FFF2-40B4-BE49-F238E27FC236}">
                <a16:creationId xmlns:a16="http://schemas.microsoft.com/office/drawing/2014/main" id="{11F0353A-48C9-480A-9473-F793C2E7E69B}"/>
              </a:ext>
            </a:extLst>
          </p:cNvPr>
          <p:cNvSpPr>
            <a:spLocks noGrp="1"/>
          </p:cNvSpPr>
          <p:nvPr/>
        </p:nvSpPr>
        <p:spPr>
          <a:xfrm>
            <a:off x="4381500" y="3780282"/>
            <a:ext cx="2324100" cy="977646"/>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Giúp xác định thái độ, cách thức hoạt động và nhân sinh quan tích cực.</a:t>
            </a:r>
          </a:p>
        </p:txBody>
      </p:sp>
      <p:sp>
        <p:nvSpPr>
          <p:cNvPr id="13" name="Hình chữ nhật: Góc Tròn 12">
            <a:extLst>
              <a:ext uri="{FF2B5EF4-FFF2-40B4-BE49-F238E27FC236}">
                <a16:creationId xmlns:a16="http://schemas.microsoft.com/office/drawing/2014/main" id="{2536D431-21E4-45F3-95F7-1EF2A0FE25CA}"/>
              </a:ext>
            </a:extLst>
          </p:cNvPr>
          <p:cNvSpPr>
            <a:spLocks noGrp="1"/>
          </p:cNvSpPr>
          <p:nvPr/>
        </p:nvSpPr>
        <p:spPr>
          <a:xfrm>
            <a:off x="7543800" y="2647950"/>
            <a:ext cx="2857500" cy="2305050"/>
          </a:xfrm>
          <a:prstGeom prst="roundRect">
            <a:avLst>
              <a:gd name="adj" fmla="val 3306"/>
            </a:avLst>
          </a:prstGeom>
          <a:solidFill>
            <a:srgbClr val="F6E6E1"/>
          </a:solidFill>
          <a:ln w="0">
            <a:noFill/>
          </a:ln>
        </p:spPr>
        <p:txBody>
          <a:bodyPr/>
          <a:lstStyle/>
          <a:p>
            <a:endParaRPr/>
          </a:p>
        </p:txBody>
      </p:sp>
      <p:sp>
        <p:nvSpPr>
          <p:cNvPr id="14" name="Hình chữ nhật 13">
            <a:extLst>
              <a:ext uri="{FF2B5EF4-FFF2-40B4-BE49-F238E27FC236}">
                <a16:creationId xmlns:a16="http://schemas.microsoft.com/office/drawing/2014/main" id="{103DC0F6-C84E-4C95-B0DD-9AA493A4231A}"/>
              </a:ext>
            </a:extLst>
          </p:cNvPr>
          <p:cNvSpPr>
            <a:spLocks noGrp="1"/>
          </p:cNvSpPr>
          <p:nvPr/>
        </p:nvSpPr>
        <p:spPr>
          <a:xfrm>
            <a:off x="7772400" y="2781300"/>
            <a:ext cx="2400300" cy="890778"/>
          </a:xfrm>
          <a:prstGeom prst="rect">
            <a:avLst/>
          </a:prstGeom>
          <a:noFill/>
          <a:ln w="0">
            <a:noFill/>
          </a:ln>
        </p:spPr>
        <p:txBody>
          <a:bodyPr anchor="t"/>
          <a:lstStyle/>
          <a:p>
            <a:pPr algn="ctr">
              <a:buNone/>
              <a:defRPr sz="1800" b="1" i="0">
                <a:solidFill>
                  <a:srgbClr val="142B43"/>
                </a:solidFill>
                <a:latin typeface="Times New Roman"/>
                <a:ea typeface="Times New Roman"/>
                <a:cs typeface="Times New Roman"/>
              </a:defRPr>
            </a:pPr>
            <a:r>
              <a:rPr sz="2300" b="1" i="0">
                <a:solidFill>
                  <a:srgbClr val="142B43"/>
                </a:solidFill>
                <a:latin typeface="Times New Roman"/>
                <a:ea typeface="Times New Roman"/>
                <a:cs typeface="Times New Roman"/>
              </a:rPr>
              <a:t>Phê phán sai lầm</a:t>
            </a:r>
          </a:p>
        </p:txBody>
      </p:sp>
      <p:sp>
        <p:nvSpPr>
          <p:cNvPr id="15" name="Hình chữ nhật 14">
            <a:extLst>
              <a:ext uri="{FF2B5EF4-FFF2-40B4-BE49-F238E27FC236}">
                <a16:creationId xmlns:a16="http://schemas.microsoft.com/office/drawing/2014/main" id="{FC7D9E3F-4BA9-4702-AE48-988DE314FFF7}"/>
              </a:ext>
            </a:extLst>
          </p:cNvPr>
          <p:cNvSpPr>
            <a:spLocks noGrp="1"/>
          </p:cNvSpPr>
          <p:nvPr/>
        </p:nvSpPr>
        <p:spPr>
          <a:xfrm>
            <a:off x="7810500" y="3780282"/>
            <a:ext cx="2324100" cy="977646"/>
          </a:xfrm>
          <a:prstGeom prst="rect">
            <a:avLst/>
          </a:prstGeom>
          <a:noFill/>
          <a:ln w="0">
            <a:noFill/>
          </a:ln>
        </p:spPr>
        <p:txBody>
          <a:bodyPr anchor="t"/>
          <a:lstStyle/>
          <a:p>
            <a:pPr algn="ctr">
              <a:buNone/>
              <a:defRPr sz="1500" b="0" i="0">
                <a:solidFill>
                  <a:srgbClr val="1D2A35"/>
                </a:solidFill>
                <a:latin typeface="Times New Roman"/>
                <a:ea typeface="Times New Roman"/>
                <a:cs typeface="Times New Roman"/>
              </a:defRPr>
            </a:pPr>
            <a:r>
              <a:rPr sz="1900" b="0" i="0">
                <a:solidFill>
                  <a:srgbClr val="1D2A35"/>
                </a:solidFill>
                <a:latin typeface="Times New Roman"/>
                <a:ea typeface="Times New Roman"/>
                <a:cs typeface="Times New Roman"/>
              </a:rPr>
              <a:t>Là cơ sở đấu tranh với duy tâm, tôn giáo và các quan điểm phản khoa học.</a:t>
            </a:r>
          </a:p>
        </p:txBody>
      </p:sp>
      <p:sp>
        <p:nvSpPr>
          <p:cNvPr id="16" name="Hình chữ nhật 15">
            <a:extLst>
              <a:ext uri="{FF2B5EF4-FFF2-40B4-BE49-F238E27FC236}">
                <a16:creationId xmlns:a16="http://schemas.microsoft.com/office/drawing/2014/main" id="{213EED17-1335-45AA-9725-1C3CF3673AD4}"/>
              </a:ext>
            </a:extLst>
          </p:cNvPr>
          <p:cNvSpPr>
            <a:spLocks noGrp="1"/>
          </p:cNvSpPr>
          <p:nvPr/>
        </p:nvSpPr>
        <p:spPr>
          <a:xfrm>
            <a:off x="1066800" y="5562600"/>
            <a:ext cx="9620250" cy="489204"/>
          </a:xfrm>
          <a:prstGeom prst="rect">
            <a:avLst/>
          </a:prstGeom>
          <a:noFill/>
          <a:ln w="0">
            <a:noFill/>
          </a:ln>
        </p:spPr>
        <p:txBody>
          <a:bodyPr anchor="t"/>
          <a:lstStyle/>
          <a:p>
            <a:pPr algn="ctr">
              <a:buNone/>
              <a:defRPr sz="1575" b="1" i="0">
                <a:solidFill>
                  <a:srgbClr val="C65B4B"/>
                </a:solidFill>
                <a:latin typeface="Times New Roman"/>
                <a:ea typeface="Times New Roman"/>
                <a:cs typeface="Times New Roman"/>
              </a:defRPr>
            </a:pPr>
            <a:r>
              <a:rPr sz="1875" b="1" i="0">
                <a:solidFill>
                  <a:srgbClr val="C65B4B"/>
                </a:solidFill>
                <a:latin typeface="Times New Roman"/>
                <a:ea typeface="Times New Roman"/>
                <a:cs typeface="Times New Roman"/>
              </a:rPr>
              <a:t>Triết học là hạt nhân lý luận, nhưng thế giới quan hình thành trong toàn bộ đời sống và hoạt động của con người.</a:t>
            </a:r>
          </a:p>
        </p:txBody>
      </p:sp>
    </p:spTree>
    <p:extLst>
      <p:ext uri="{BB962C8B-B14F-4D97-AF65-F5344CB8AC3E}">
        <p14:creationId xmlns:p14="http://schemas.microsoft.com/office/powerpoint/2010/main" val="6033250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8" name="Hình chữ nhật 7">
            <a:extLst>
              <a:ext uri="{FF2B5EF4-FFF2-40B4-BE49-F238E27FC236}">
                <a16:creationId xmlns:a16="http://schemas.microsoft.com/office/drawing/2014/main" id="{E73A652A-8E1A-45C1-8A17-451AEDAD67FB}"/>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2.5. ĐỐI TƯỢNG VÀ CHỨC NĂNG</a:t>
            </a:r>
          </a:p>
        </p:txBody>
      </p:sp>
      <p:sp>
        <p:nvSpPr>
          <p:cNvPr id="2" name="Hình chữ nhật 1">
            <a:extLst>
              <a:ext uri="{FF2B5EF4-FFF2-40B4-BE49-F238E27FC236}">
                <a16:creationId xmlns:a16="http://schemas.microsoft.com/office/drawing/2014/main" id="{0B6EF6BF-257C-4FD0-9F75-540FB20DC642}"/>
              </a:ext>
            </a:extLst>
          </p:cNvPr>
          <p:cNvSpPr>
            <a:spLocks noGrp="1"/>
          </p:cNvSpPr>
          <p:nvPr/>
        </p:nvSpPr>
        <p:spPr>
          <a:xfrm>
            <a:off x="685800" y="771518"/>
            <a:ext cx="10001250" cy="561981"/>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Phương pháp luận duy vật biện chứng</a:t>
            </a:r>
          </a:p>
        </p:txBody>
      </p:sp>
      <p:sp>
        <p:nvSpPr>
          <p:cNvPr id="3" name="Hình chữ nhật 2">
            <a:extLst>
              <a:ext uri="{FF2B5EF4-FFF2-40B4-BE49-F238E27FC236}">
                <a16:creationId xmlns:a16="http://schemas.microsoft.com/office/drawing/2014/main" id="{FB7CA96A-DD92-4973-A8C8-819DFFD8838E}"/>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94109126-425E-4BA4-8B32-8BC9EF7F59F8}"/>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100-101</a:t>
            </a:r>
          </a:p>
        </p:txBody>
      </p:sp>
      <p:sp>
        <p:nvSpPr>
          <p:cNvPr id="5" name="Hình chữ nhật 4">
            <a:extLst>
              <a:ext uri="{FF2B5EF4-FFF2-40B4-BE49-F238E27FC236}">
                <a16:creationId xmlns:a16="http://schemas.microsoft.com/office/drawing/2014/main" id="{9F5B81C3-0915-4452-BA5D-AB4469FDAA8D}"/>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37</a:t>
            </a:r>
          </a:p>
        </p:txBody>
      </p:sp>
      <p:pic>
        <p:nvPicPr>
          <p:cNvPr id="15" name="Hình ảnh 14"/>
          <p:cNvPicPr>
            <a:picLocks noChangeAspect="1"/>
          </p:cNvPicPr>
          <p:nvPr/>
        </p:nvPicPr>
        <p:blipFill>
          <a:blip r:embed="rId3"/>
          <a:srcRect l="17759" r="17759"/>
          <a:stretch>
            <a:fillRect/>
          </a:stretch>
        </p:blipFill>
        <p:spPr>
          <a:xfrm>
            <a:off x="6251509" y="1343022"/>
            <a:ext cx="5626359" cy="4833455"/>
          </a:xfrm>
          <a:prstGeom prst="roundRect">
            <a:avLst>
              <a:gd name="adj" fmla="val 4020"/>
            </a:avLst>
          </a:prstGeom>
        </p:spPr>
      </p:pic>
      <p:sp>
        <p:nvSpPr>
          <p:cNvPr id="7" name="Hình chữ nhật 6">
            <a:extLst>
              <a:ext uri="{FF2B5EF4-FFF2-40B4-BE49-F238E27FC236}">
                <a16:creationId xmlns:a16="http://schemas.microsoft.com/office/drawing/2014/main" id="{BAE8D25B-DEA4-494C-8203-BA6C10718275}"/>
              </a:ext>
            </a:extLst>
          </p:cNvPr>
          <p:cNvSpPr>
            <a:spLocks noGrp="1"/>
          </p:cNvSpPr>
          <p:nvPr/>
        </p:nvSpPr>
        <p:spPr>
          <a:xfrm>
            <a:off x="685800" y="1866894"/>
            <a:ext cx="5429250" cy="3562355"/>
          </a:xfrm>
          <a:prstGeom prst="rect">
            <a:avLst/>
          </a:prstGeom>
          <a:noFill/>
          <a:ln w="0">
            <a:noFill/>
          </a:ln>
        </p:spPr>
        <p:txBody>
          <a:bodyPr anchor="t"/>
          <a:lstStyle/>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Trang bị những nguyên tắc chung nhất cho nhận thức và hoạt động thực tiễn.</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Cung cấp các khái niệm, phạm trù và quy luật làm công cụ nhận thức khoa học.</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Giúp tránh bệnh chủ quan, duy ý chí và phương pháp tư duy siêu hình.</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Không phải “đơn thuốc vạn năng”: cần kết hợp với tri thức khoa học cụ thể và kinh nghiệm thực tiễn.</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Không được xem thường hoặc tuyệt đối hóa vai trò của phương pháp luận triết học.</a:t>
            </a:r>
          </a:p>
        </p:txBody>
      </p:sp>
    </p:spTree>
    <p:extLst>
      <p:ext uri="{BB962C8B-B14F-4D97-AF65-F5344CB8AC3E}">
        <p14:creationId xmlns:p14="http://schemas.microsoft.com/office/powerpoint/2010/main" val="2089444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7" name="Hình chữ nhật 16">
            <a:extLst>
              <a:ext uri="{FF2B5EF4-FFF2-40B4-BE49-F238E27FC236}">
                <a16:creationId xmlns:a16="http://schemas.microsoft.com/office/drawing/2014/main" id="{CE77592B-DCF8-4BB5-8AB6-894C9C2808EF}"/>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3. VAI TRÒ TRONG ĐỜI SỐNG XÃ HỘI</a:t>
            </a:r>
          </a:p>
        </p:txBody>
      </p:sp>
      <p:sp>
        <p:nvSpPr>
          <p:cNvPr id="2" name="Hình chữ nhật 1">
            <a:extLst>
              <a:ext uri="{FF2B5EF4-FFF2-40B4-BE49-F238E27FC236}">
                <a16:creationId xmlns:a16="http://schemas.microsoft.com/office/drawing/2014/main" id="{5541291C-FFDD-4197-B56E-F3DF6C478E74}"/>
              </a:ext>
            </a:extLst>
          </p:cNvPr>
          <p:cNvSpPr>
            <a:spLocks noGrp="1"/>
          </p:cNvSpPr>
          <p:nvPr/>
        </p:nvSpPr>
        <p:spPr>
          <a:xfrm>
            <a:off x="685800" y="876300"/>
            <a:ext cx="10001250" cy="457200"/>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Vai trò trong nhận thức và hoạt động thực tiễn</a:t>
            </a:r>
          </a:p>
        </p:txBody>
      </p:sp>
      <p:sp>
        <p:nvSpPr>
          <p:cNvPr id="3" name="Hình chữ nhật 2">
            <a:extLst>
              <a:ext uri="{FF2B5EF4-FFF2-40B4-BE49-F238E27FC236}">
                <a16:creationId xmlns:a16="http://schemas.microsoft.com/office/drawing/2014/main" id="{783AD0BF-E8F8-4FC6-834C-319465161898}"/>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FE745BAB-82C0-4ACB-83D6-40E662291900}"/>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102-106</a:t>
            </a:r>
          </a:p>
        </p:txBody>
      </p:sp>
      <p:sp>
        <p:nvSpPr>
          <p:cNvPr id="5" name="Hình chữ nhật 4">
            <a:extLst>
              <a:ext uri="{FF2B5EF4-FFF2-40B4-BE49-F238E27FC236}">
                <a16:creationId xmlns:a16="http://schemas.microsoft.com/office/drawing/2014/main" id="{5B0678C5-DE80-4585-99FA-139BA8841EA6}"/>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38</a:t>
            </a:r>
          </a:p>
        </p:txBody>
      </p:sp>
      <p:sp>
        <p:nvSpPr>
          <p:cNvPr id="6" name="Hình chữ nhật: Góc Tròn 5">
            <a:extLst>
              <a:ext uri="{FF2B5EF4-FFF2-40B4-BE49-F238E27FC236}">
                <a16:creationId xmlns:a16="http://schemas.microsoft.com/office/drawing/2014/main" id="{F8CB8EFE-9F88-49F5-87DA-EB252FE8CBC3}"/>
              </a:ext>
            </a:extLst>
          </p:cNvPr>
          <p:cNvSpPr>
            <a:spLocks noGrp="1"/>
          </p:cNvSpPr>
          <p:nvPr/>
        </p:nvSpPr>
        <p:spPr>
          <a:xfrm>
            <a:off x="685800" y="1905000"/>
            <a:ext cx="10363200" cy="952500"/>
          </a:xfrm>
          <a:prstGeom prst="roundRect">
            <a:avLst>
              <a:gd name="adj" fmla="val 8000"/>
            </a:avLst>
          </a:prstGeom>
          <a:solidFill>
            <a:srgbClr val="142B43"/>
          </a:solidFill>
          <a:ln w="0">
            <a:solidFill>
              <a:srgbClr val="142B43"/>
            </a:solidFill>
          </a:ln>
        </p:spPr>
        <p:txBody>
          <a:bodyPr/>
          <a:lstStyle/>
          <a:p>
            <a:endParaRPr/>
          </a:p>
        </p:txBody>
      </p:sp>
      <p:sp>
        <p:nvSpPr>
          <p:cNvPr id="7" name="Hình chữ nhật 6">
            <a:extLst>
              <a:ext uri="{FF2B5EF4-FFF2-40B4-BE49-F238E27FC236}">
                <a16:creationId xmlns:a16="http://schemas.microsoft.com/office/drawing/2014/main" id="{AE0615E6-FB42-4602-9517-D94A6B547370}"/>
              </a:ext>
            </a:extLst>
          </p:cNvPr>
          <p:cNvSpPr>
            <a:spLocks noGrp="1"/>
          </p:cNvSpPr>
          <p:nvPr/>
        </p:nvSpPr>
        <p:spPr>
          <a:xfrm>
            <a:off x="1047750" y="2057400"/>
            <a:ext cx="9620250" cy="717804"/>
          </a:xfrm>
          <a:prstGeom prst="rect">
            <a:avLst/>
          </a:prstGeom>
          <a:noFill/>
          <a:ln w="0">
            <a:noFill/>
          </a:ln>
        </p:spPr>
        <p:txBody>
          <a:bodyPr anchor="t"/>
          <a:lstStyle/>
          <a:p>
            <a:pPr algn="ctr">
              <a:buNone/>
              <a:defRPr sz="1875" b="1" i="0">
                <a:solidFill>
                  <a:srgbClr val="FFFFFF"/>
                </a:solidFill>
                <a:latin typeface="Times New Roman"/>
                <a:ea typeface="Times New Roman"/>
                <a:cs typeface="Times New Roman"/>
              </a:defRPr>
            </a:pPr>
            <a:r>
              <a:rPr sz="2100" b="1" i="0">
                <a:solidFill>
                  <a:srgbClr val="FFFFFF"/>
                </a:solidFill>
                <a:latin typeface="Times New Roman"/>
                <a:ea typeface="Times New Roman"/>
                <a:cs typeface="Times New Roman"/>
              </a:rPr>
              <a:t>Các nguyên lý và quy luật của triết học Mác - Lênin có giá trị định hướng chung nhất cho mọi lĩnh vực nhận thức và hoạt động.</a:t>
            </a:r>
          </a:p>
        </p:txBody>
      </p:sp>
      <p:sp>
        <p:nvSpPr>
          <p:cNvPr id="8" name="Hình chữ nhật: Góc Tròn 7">
            <a:extLst>
              <a:ext uri="{FF2B5EF4-FFF2-40B4-BE49-F238E27FC236}">
                <a16:creationId xmlns:a16="http://schemas.microsoft.com/office/drawing/2014/main" id="{210D9BDF-20BB-4FFA-B753-9BF0179BBBD1}"/>
              </a:ext>
            </a:extLst>
          </p:cNvPr>
          <p:cNvSpPr>
            <a:spLocks noGrp="1"/>
          </p:cNvSpPr>
          <p:nvPr/>
        </p:nvSpPr>
        <p:spPr>
          <a:xfrm>
            <a:off x="685800" y="3581400"/>
            <a:ext cx="2857500" cy="1714500"/>
          </a:xfrm>
          <a:prstGeom prst="roundRect">
            <a:avLst>
              <a:gd name="adj" fmla="val 4444"/>
            </a:avLst>
          </a:prstGeom>
          <a:solidFill>
            <a:srgbClr val="F8EFD9"/>
          </a:solidFill>
          <a:ln w="0">
            <a:noFill/>
          </a:ln>
        </p:spPr>
        <p:txBody>
          <a:bodyPr/>
          <a:lstStyle/>
          <a:p>
            <a:endParaRPr/>
          </a:p>
        </p:txBody>
      </p:sp>
      <p:sp>
        <p:nvSpPr>
          <p:cNvPr id="9" name="Hình chữ nhật 8">
            <a:extLst>
              <a:ext uri="{FF2B5EF4-FFF2-40B4-BE49-F238E27FC236}">
                <a16:creationId xmlns:a16="http://schemas.microsoft.com/office/drawing/2014/main" id="{8DAD3883-7FCF-427A-AA83-12D02F0672FA}"/>
              </a:ext>
            </a:extLst>
          </p:cNvPr>
          <p:cNvSpPr>
            <a:spLocks noGrp="1"/>
          </p:cNvSpPr>
          <p:nvPr/>
        </p:nvSpPr>
        <p:spPr>
          <a:xfrm>
            <a:off x="685799" y="3648269"/>
            <a:ext cx="2925148" cy="784285"/>
          </a:xfrm>
          <a:prstGeom prst="rect">
            <a:avLst/>
          </a:prstGeom>
          <a:noFill/>
          <a:ln w="0">
            <a:noFill/>
          </a:ln>
        </p:spPr>
        <p:txBody>
          <a:bodyPr anchor="t"/>
          <a:lstStyle/>
          <a:p>
            <a:pPr algn="ctr">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Xác định điểm xuất phát</a:t>
            </a:r>
          </a:p>
        </p:txBody>
      </p:sp>
      <p:sp>
        <p:nvSpPr>
          <p:cNvPr id="10" name="Hình chữ nhật 9">
            <a:extLst>
              <a:ext uri="{FF2B5EF4-FFF2-40B4-BE49-F238E27FC236}">
                <a16:creationId xmlns:a16="http://schemas.microsoft.com/office/drawing/2014/main" id="{6D67293D-9BB7-414E-9994-5071FB14C426}"/>
              </a:ext>
            </a:extLst>
          </p:cNvPr>
          <p:cNvSpPr>
            <a:spLocks noGrp="1"/>
          </p:cNvSpPr>
          <p:nvPr/>
        </p:nvSpPr>
        <p:spPr>
          <a:xfrm>
            <a:off x="685801" y="4157471"/>
            <a:ext cx="2775856" cy="1076707"/>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Không bắt đầu từ mảnh đất trống; luôn đứng trên một lập trường lý luận nhất định.</a:t>
            </a:r>
          </a:p>
        </p:txBody>
      </p:sp>
      <p:sp>
        <p:nvSpPr>
          <p:cNvPr id="11" name="Hình chữ nhật: Góc Tròn 10">
            <a:extLst>
              <a:ext uri="{FF2B5EF4-FFF2-40B4-BE49-F238E27FC236}">
                <a16:creationId xmlns:a16="http://schemas.microsoft.com/office/drawing/2014/main" id="{3BF9C83F-207E-412E-B4DC-47CB6CACCA3D}"/>
              </a:ext>
            </a:extLst>
          </p:cNvPr>
          <p:cNvSpPr>
            <a:spLocks noGrp="1"/>
          </p:cNvSpPr>
          <p:nvPr/>
        </p:nvSpPr>
        <p:spPr>
          <a:xfrm>
            <a:off x="4114800" y="3581400"/>
            <a:ext cx="2857500" cy="1714500"/>
          </a:xfrm>
          <a:prstGeom prst="roundRect">
            <a:avLst>
              <a:gd name="adj" fmla="val 4444"/>
            </a:avLst>
          </a:prstGeom>
          <a:solidFill>
            <a:srgbClr val="EAF1F4"/>
          </a:solidFill>
          <a:ln w="0">
            <a:noFill/>
          </a:ln>
        </p:spPr>
        <p:txBody>
          <a:bodyPr/>
          <a:lstStyle/>
          <a:p>
            <a:endParaRPr/>
          </a:p>
        </p:txBody>
      </p:sp>
      <p:sp>
        <p:nvSpPr>
          <p:cNvPr id="12" name="Hình chữ nhật 11">
            <a:extLst>
              <a:ext uri="{FF2B5EF4-FFF2-40B4-BE49-F238E27FC236}">
                <a16:creationId xmlns:a16="http://schemas.microsoft.com/office/drawing/2014/main" id="{DA061488-A9B4-49ED-B560-2940B5CA8F83}"/>
              </a:ext>
            </a:extLst>
          </p:cNvPr>
          <p:cNvSpPr>
            <a:spLocks noGrp="1"/>
          </p:cNvSpPr>
          <p:nvPr/>
        </p:nvSpPr>
        <p:spPr>
          <a:xfrm>
            <a:off x="4182447" y="3552825"/>
            <a:ext cx="2712875" cy="879729"/>
          </a:xfrm>
          <a:prstGeom prst="rect">
            <a:avLst/>
          </a:prstGeom>
          <a:noFill/>
          <a:ln w="0">
            <a:noFill/>
          </a:ln>
        </p:spPr>
        <p:txBody>
          <a:bodyPr anchor="t"/>
          <a:lstStyle/>
          <a:p>
            <a:pPr algn="ctr">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Thấy phương hướng vận động</a:t>
            </a:r>
          </a:p>
        </p:txBody>
      </p:sp>
      <p:sp>
        <p:nvSpPr>
          <p:cNvPr id="13" name="Hình chữ nhật 12">
            <a:extLst>
              <a:ext uri="{FF2B5EF4-FFF2-40B4-BE49-F238E27FC236}">
                <a16:creationId xmlns:a16="http://schemas.microsoft.com/office/drawing/2014/main" id="{2B8D7B0E-71FE-49B5-AE70-77B2910566A1}"/>
              </a:ext>
            </a:extLst>
          </p:cNvPr>
          <p:cNvSpPr>
            <a:spLocks noGrp="1"/>
          </p:cNvSpPr>
          <p:nvPr/>
        </p:nvSpPr>
        <p:spPr>
          <a:xfrm>
            <a:off x="4114800" y="4366727"/>
            <a:ext cx="2780522" cy="867451"/>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Nhận ra các mối liên hệ, xu hướng và những bước đi cơ bản của đối tượng.</a:t>
            </a:r>
          </a:p>
        </p:txBody>
      </p:sp>
      <p:sp>
        <p:nvSpPr>
          <p:cNvPr id="14" name="Hình chữ nhật: Góc Tròn 13">
            <a:extLst>
              <a:ext uri="{FF2B5EF4-FFF2-40B4-BE49-F238E27FC236}">
                <a16:creationId xmlns:a16="http://schemas.microsoft.com/office/drawing/2014/main" id="{BC1E67CA-7B54-48FD-B54B-AD1AE82EB795}"/>
              </a:ext>
            </a:extLst>
          </p:cNvPr>
          <p:cNvSpPr>
            <a:spLocks noGrp="1"/>
          </p:cNvSpPr>
          <p:nvPr/>
        </p:nvSpPr>
        <p:spPr>
          <a:xfrm>
            <a:off x="7543800" y="3581400"/>
            <a:ext cx="2857500" cy="1714500"/>
          </a:xfrm>
          <a:prstGeom prst="roundRect">
            <a:avLst>
              <a:gd name="adj" fmla="val 4444"/>
            </a:avLst>
          </a:prstGeom>
          <a:solidFill>
            <a:srgbClr val="F6E6E1"/>
          </a:solidFill>
          <a:ln w="0">
            <a:noFill/>
          </a:ln>
        </p:spPr>
        <p:txBody>
          <a:bodyPr/>
          <a:lstStyle/>
          <a:p>
            <a:endParaRPr/>
          </a:p>
        </p:txBody>
      </p:sp>
      <p:sp>
        <p:nvSpPr>
          <p:cNvPr id="15" name="Hình chữ nhật 14">
            <a:extLst>
              <a:ext uri="{FF2B5EF4-FFF2-40B4-BE49-F238E27FC236}">
                <a16:creationId xmlns:a16="http://schemas.microsoft.com/office/drawing/2014/main" id="{6DC144D4-EC0F-4B75-A754-B380CDA162B8}"/>
              </a:ext>
            </a:extLst>
          </p:cNvPr>
          <p:cNvSpPr>
            <a:spLocks noGrp="1"/>
          </p:cNvSpPr>
          <p:nvPr/>
        </p:nvSpPr>
        <p:spPr>
          <a:xfrm>
            <a:off x="7466822" y="3642827"/>
            <a:ext cx="2934478" cy="789727"/>
          </a:xfrm>
          <a:prstGeom prst="rect">
            <a:avLst/>
          </a:prstGeom>
          <a:noFill/>
          <a:ln w="0">
            <a:noFill/>
          </a:ln>
        </p:spPr>
        <p:txBody>
          <a:bodyPr anchor="t"/>
          <a:lstStyle/>
          <a:p>
            <a:pPr algn="ctr">
              <a:buNone/>
              <a:defRPr sz="1725" b="1" i="0">
                <a:solidFill>
                  <a:srgbClr val="142B43"/>
                </a:solidFill>
                <a:latin typeface="Times New Roman"/>
                <a:ea typeface="Times New Roman"/>
                <a:cs typeface="Times New Roman"/>
              </a:defRPr>
            </a:pPr>
            <a:r>
              <a:rPr sz="2100" b="1" i="0">
                <a:solidFill>
                  <a:srgbClr val="142B43"/>
                </a:solidFill>
                <a:latin typeface="Times New Roman"/>
                <a:ea typeface="Times New Roman"/>
                <a:cs typeface="Times New Roman"/>
              </a:rPr>
              <a:t>Gắn lý luận với thực tiễn</a:t>
            </a:r>
          </a:p>
        </p:txBody>
      </p:sp>
      <p:sp>
        <p:nvSpPr>
          <p:cNvPr id="16" name="Hình chữ nhật 15">
            <a:extLst>
              <a:ext uri="{FF2B5EF4-FFF2-40B4-BE49-F238E27FC236}">
                <a16:creationId xmlns:a16="http://schemas.microsoft.com/office/drawing/2014/main" id="{E7A32488-9A4B-4B39-89B6-42800D1292FF}"/>
              </a:ext>
            </a:extLst>
          </p:cNvPr>
          <p:cNvSpPr>
            <a:spLocks noGrp="1"/>
          </p:cNvSpPr>
          <p:nvPr/>
        </p:nvSpPr>
        <p:spPr>
          <a:xfrm>
            <a:off x="7543800" y="4157473"/>
            <a:ext cx="2857500" cy="1076706"/>
          </a:xfrm>
          <a:prstGeom prst="rect">
            <a:avLst/>
          </a:prstGeom>
          <a:noFill/>
          <a:ln w="0">
            <a:noFill/>
          </a:ln>
        </p:spPr>
        <p:txBody>
          <a:bodyPr anchor="t"/>
          <a:lstStyle/>
          <a:p>
            <a:pPr algn="ctr">
              <a:buNone/>
              <a:defRPr sz="1425" b="0" i="0">
                <a:solidFill>
                  <a:srgbClr val="1D2A35"/>
                </a:solidFill>
                <a:latin typeface="Times New Roman"/>
                <a:ea typeface="Times New Roman"/>
                <a:cs typeface="Times New Roman"/>
              </a:defRPr>
            </a:pPr>
            <a:r>
              <a:rPr sz="1850" b="0" i="0">
                <a:solidFill>
                  <a:srgbClr val="1D2A35"/>
                </a:solidFill>
                <a:latin typeface="Times New Roman"/>
                <a:ea typeface="Times New Roman"/>
                <a:cs typeface="Times New Roman"/>
              </a:rPr>
              <a:t>Dùng tri thức chung để định hướng giải quyết vấn đề cụ thể, không rơi vào máy móc.</a:t>
            </a:r>
          </a:p>
        </p:txBody>
      </p:sp>
    </p:spTree>
    <p:extLst>
      <p:ext uri="{BB962C8B-B14F-4D97-AF65-F5344CB8AC3E}">
        <p14:creationId xmlns:p14="http://schemas.microsoft.com/office/powerpoint/2010/main" val="547095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8" name="Hình chữ nhật 7">
            <a:extLst>
              <a:ext uri="{FF2B5EF4-FFF2-40B4-BE49-F238E27FC236}">
                <a16:creationId xmlns:a16="http://schemas.microsoft.com/office/drawing/2014/main" id="{68CB54A5-159E-488B-A5E6-482403582A1E}"/>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000" b="1" i="0">
                <a:solidFill>
                  <a:srgbClr val="C65B4B"/>
                </a:solidFill>
                <a:latin typeface="Times New Roman"/>
                <a:ea typeface="Times New Roman"/>
                <a:cs typeface="Times New Roman"/>
              </a:rPr>
              <a:t>3. VAI TRÒ TRONG ĐỜI SỐNG XÃ HỘI</a:t>
            </a:r>
          </a:p>
        </p:txBody>
      </p:sp>
      <p:sp>
        <p:nvSpPr>
          <p:cNvPr id="2" name="Hình chữ nhật 1">
            <a:extLst>
              <a:ext uri="{FF2B5EF4-FFF2-40B4-BE49-F238E27FC236}">
                <a16:creationId xmlns:a16="http://schemas.microsoft.com/office/drawing/2014/main" id="{CF545D8F-1874-4633-B2BE-FCABC6EE451D}"/>
              </a:ext>
            </a:extLst>
          </p:cNvPr>
          <p:cNvSpPr>
            <a:spLocks noGrp="1"/>
          </p:cNvSpPr>
          <p:nvPr/>
        </p:nvSpPr>
        <p:spPr>
          <a:xfrm>
            <a:off x="685800" y="714368"/>
            <a:ext cx="10001250" cy="619131"/>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Vai trò trong sự nghiệp đổi mới ở Việt Nam</a:t>
            </a:r>
          </a:p>
        </p:txBody>
      </p:sp>
      <p:sp>
        <p:nvSpPr>
          <p:cNvPr id="3" name="Hình chữ nhật 2">
            <a:extLst>
              <a:ext uri="{FF2B5EF4-FFF2-40B4-BE49-F238E27FC236}">
                <a16:creationId xmlns:a16="http://schemas.microsoft.com/office/drawing/2014/main" id="{36C76153-0412-47BA-8BA3-9A742435580C}"/>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AE511F3B-E2E2-4D5D-9462-3F837D9759CD}"/>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tr. 102-106</a:t>
            </a:r>
          </a:p>
        </p:txBody>
      </p:sp>
      <p:sp>
        <p:nvSpPr>
          <p:cNvPr id="5" name="Hình chữ nhật 4">
            <a:extLst>
              <a:ext uri="{FF2B5EF4-FFF2-40B4-BE49-F238E27FC236}">
                <a16:creationId xmlns:a16="http://schemas.microsoft.com/office/drawing/2014/main" id="{2B0C210A-7BC6-4ECC-9FEB-D2DD55B3304E}"/>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39</a:t>
            </a:r>
          </a:p>
        </p:txBody>
      </p:sp>
      <p:pic>
        <p:nvPicPr>
          <p:cNvPr id="15" name="Hình ảnh 14"/>
          <p:cNvPicPr>
            <a:picLocks noChangeAspect="1"/>
          </p:cNvPicPr>
          <p:nvPr/>
        </p:nvPicPr>
        <p:blipFill>
          <a:blip r:embed="rId3"/>
          <a:srcRect l="16894" r="16894"/>
          <a:stretch>
            <a:fillRect/>
          </a:stretch>
        </p:blipFill>
        <p:spPr>
          <a:xfrm>
            <a:off x="685800" y="1790700"/>
            <a:ext cx="4572000" cy="3886200"/>
          </a:xfrm>
          <a:prstGeom prst="roundRect">
            <a:avLst>
              <a:gd name="adj" fmla="val 3922"/>
            </a:avLst>
          </a:prstGeom>
        </p:spPr>
      </p:pic>
      <p:sp>
        <p:nvSpPr>
          <p:cNvPr id="7" name="Hình chữ nhật 6">
            <a:extLst>
              <a:ext uri="{FF2B5EF4-FFF2-40B4-BE49-F238E27FC236}">
                <a16:creationId xmlns:a16="http://schemas.microsoft.com/office/drawing/2014/main" id="{17BD92EF-7705-4195-A66F-6D1B68DC8574}"/>
              </a:ext>
            </a:extLst>
          </p:cNvPr>
          <p:cNvSpPr>
            <a:spLocks noGrp="1"/>
          </p:cNvSpPr>
          <p:nvPr/>
        </p:nvSpPr>
        <p:spPr>
          <a:xfrm>
            <a:off x="5905500" y="2038350"/>
            <a:ext cx="5143500" cy="3314700"/>
          </a:xfrm>
          <a:prstGeom prst="rect">
            <a:avLst/>
          </a:prstGeom>
          <a:noFill/>
          <a:ln w="0">
            <a:noFill/>
          </a:ln>
        </p:spPr>
        <p:txBody>
          <a:bodyPr anchor="t"/>
          <a:lstStyle/>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Xuất phát từ lập trường duy vật biện chứng để nhận diện đúng các điều kiện khách quan của đất nước và thời đại.</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Kết hợp đổi mới kinh tế với đổi mới chính trị; phát huy nội lực và chủ động hội nhập quốc tế.</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Tổng kết thực tiễn đổi mới để bổ sung và phát triển lý luận.</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Kiên định nền tảng Mác - Lênin, đồng thời khắc phục giáo điều, duy ý chí và chủ quan.</a:t>
            </a:r>
          </a:p>
          <a:p>
            <a:pPr algn="l">
              <a:buNone/>
              <a:defRPr sz="1575" b="0" i="0">
                <a:solidFill>
                  <a:srgbClr val="1D2A35"/>
                </a:solidFill>
                <a:latin typeface="Times New Roman"/>
                <a:ea typeface="Times New Roman"/>
                <a:cs typeface="Times New Roman"/>
              </a:defRPr>
            </a:pPr>
            <a:r>
              <a:rPr sz="1950" b="0" i="0">
                <a:solidFill>
                  <a:srgbClr val="1D2A35"/>
                </a:solidFill>
                <a:latin typeface="Times New Roman"/>
                <a:ea typeface="Times New Roman"/>
                <a:cs typeface="Times New Roman"/>
              </a:rPr>
              <a:t>•  Biến các nguyên lý lý luận thành phương hướng và giải pháp phù hợp với điều kiện cụ thể của Việt Nam.</a:t>
            </a:r>
          </a:p>
        </p:txBody>
      </p:sp>
    </p:spTree>
    <p:extLst>
      <p:ext uri="{BB962C8B-B14F-4D97-AF65-F5344CB8AC3E}">
        <p14:creationId xmlns:p14="http://schemas.microsoft.com/office/powerpoint/2010/main" val="15520240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0" name="Hình chữ nhật 9">
            <a:extLst>
              <a:ext uri="{FF2B5EF4-FFF2-40B4-BE49-F238E27FC236}">
                <a16:creationId xmlns:a16="http://schemas.microsoft.com/office/drawing/2014/main" id="{B6DCD089-D892-4F8A-86BA-47B9F9951978}"/>
              </a:ext>
            </a:extLst>
          </p:cNvPr>
          <p:cNvSpPr>
            <a:spLocks noGrp="1"/>
          </p:cNvSpPr>
          <p:nvPr/>
        </p:nvSpPr>
        <p:spPr>
          <a:xfrm>
            <a:off x="685800" y="361950"/>
            <a:ext cx="6096000" cy="228600"/>
          </a:xfrm>
          <a:prstGeom prst="rect">
            <a:avLst/>
          </a:prstGeom>
          <a:noFill/>
          <a:ln w="0">
            <a:noFill/>
          </a:ln>
        </p:spPr>
        <p:txBody>
          <a:bodyPr anchor="t">
            <a:noAutofit/>
          </a:bodyPr>
          <a:lstStyle/>
          <a:p>
            <a:pPr algn="l">
              <a:buNone/>
              <a:defRPr sz="975" b="1" i="0">
                <a:solidFill>
                  <a:srgbClr val="C65B4B"/>
                </a:solidFill>
                <a:latin typeface="Times New Roman"/>
                <a:ea typeface="Times New Roman"/>
                <a:cs typeface="Times New Roman"/>
              </a:defRPr>
            </a:pPr>
            <a:r>
              <a:rPr sz="2400" b="1" i="0">
                <a:solidFill>
                  <a:srgbClr val="C65B4B"/>
                </a:solidFill>
                <a:latin typeface="Times New Roman"/>
                <a:ea typeface="Times New Roman"/>
                <a:cs typeface="Times New Roman"/>
              </a:rPr>
              <a:t>ÔN TẬP</a:t>
            </a:r>
          </a:p>
        </p:txBody>
      </p:sp>
      <p:sp>
        <p:nvSpPr>
          <p:cNvPr id="2" name="Hình chữ nhật 1">
            <a:extLst>
              <a:ext uri="{FF2B5EF4-FFF2-40B4-BE49-F238E27FC236}">
                <a16:creationId xmlns:a16="http://schemas.microsoft.com/office/drawing/2014/main" id="{A963C1A2-851F-4774-A4D4-60154CAFDAA1}"/>
              </a:ext>
            </a:extLst>
          </p:cNvPr>
          <p:cNvSpPr>
            <a:spLocks noGrp="1"/>
          </p:cNvSpPr>
          <p:nvPr/>
        </p:nvSpPr>
        <p:spPr>
          <a:xfrm>
            <a:off x="685800" y="783770"/>
            <a:ext cx="10001250" cy="549729"/>
          </a:xfrm>
          <a:prstGeom prst="rect">
            <a:avLst/>
          </a:prstGeom>
          <a:noFill/>
          <a:ln w="0">
            <a:noFill/>
          </a:ln>
        </p:spPr>
        <p:txBody>
          <a:bodyPr anchor="t"/>
          <a:lstStyle/>
          <a:p>
            <a:pPr algn="l">
              <a:buNone/>
              <a:defRPr sz="2550" b="1" i="0">
                <a:solidFill>
                  <a:srgbClr val="142B43"/>
                </a:solidFill>
                <a:latin typeface="Times New Roman"/>
                <a:ea typeface="Times New Roman"/>
                <a:cs typeface="Times New Roman"/>
              </a:defRPr>
            </a:pPr>
            <a:r>
              <a:rPr sz="3000" b="1" i="0">
                <a:solidFill>
                  <a:srgbClr val="142B43"/>
                </a:solidFill>
                <a:latin typeface="Times New Roman"/>
                <a:ea typeface="Times New Roman"/>
                <a:cs typeface="Times New Roman"/>
              </a:rPr>
              <a:t>Tổng kết Chương 1</a:t>
            </a:r>
          </a:p>
        </p:txBody>
      </p:sp>
      <p:sp>
        <p:nvSpPr>
          <p:cNvPr id="3" name="Hình chữ nhật 2">
            <a:extLst>
              <a:ext uri="{FF2B5EF4-FFF2-40B4-BE49-F238E27FC236}">
                <a16:creationId xmlns:a16="http://schemas.microsoft.com/office/drawing/2014/main" id="{FBED37B6-E8BE-450A-91FE-95F860FA4EED}"/>
              </a:ext>
            </a:extLst>
          </p:cNvPr>
          <p:cNvSpPr>
            <a:spLocks noGrp="1"/>
          </p:cNvSpPr>
          <p:nvPr/>
        </p:nvSpPr>
        <p:spPr>
          <a:xfrm>
            <a:off x="685800" y="6534150"/>
            <a:ext cx="10820400" cy="9525"/>
          </a:xfrm>
          <a:prstGeom prst="rect">
            <a:avLst/>
          </a:prstGeom>
          <a:solidFill>
            <a:srgbClr val="D7D2C8"/>
          </a:solidFill>
          <a:ln w="0">
            <a:solidFill>
              <a:srgbClr val="D7D2C8"/>
            </a:solidFill>
          </a:ln>
        </p:spPr>
        <p:txBody>
          <a:bodyPr/>
          <a:lstStyle/>
          <a:p>
            <a:endParaRPr/>
          </a:p>
        </p:txBody>
      </p:sp>
      <p:sp>
        <p:nvSpPr>
          <p:cNvPr id="4" name="Hình chữ nhật 3">
            <a:extLst>
              <a:ext uri="{FF2B5EF4-FFF2-40B4-BE49-F238E27FC236}">
                <a16:creationId xmlns:a16="http://schemas.microsoft.com/office/drawing/2014/main" id="{7D023882-B8D0-4913-8F2C-EE542D392BE7}"/>
              </a:ext>
            </a:extLst>
          </p:cNvPr>
          <p:cNvSpPr>
            <a:spLocks noGrp="1"/>
          </p:cNvSpPr>
          <p:nvPr/>
        </p:nvSpPr>
        <p:spPr>
          <a:xfrm>
            <a:off x="685800" y="6610350"/>
            <a:ext cx="9048750" cy="152400"/>
          </a:xfrm>
          <a:prstGeom prst="rect">
            <a:avLst/>
          </a:prstGeom>
          <a:noFill/>
          <a:ln w="0">
            <a:noFill/>
          </a:ln>
        </p:spPr>
        <p:txBody>
          <a:bodyPr anchor="t">
            <a:noAutofit/>
          </a:bodyPr>
          <a:lstStyle/>
          <a:p>
            <a:pPr algn="l">
              <a:buNone/>
              <a:defRPr sz="825" b="0" i="0">
                <a:solidFill>
                  <a:srgbClr val="5B6B76"/>
                </a:solidFill>
                <a:latin typeface="Times New Roman"/>
                <a:ea typeface="Times New Roman"/>
                <a:cs typeface="Times New Roman"/>
              </a:defRPr>
            </a:pPr>
            <a:r>
              <a:rPr sz="825" b="0" i="0">
                <a:solidFill>
                  <a:srgbClr val="5B6B76"/>
                </a:solidFill>
                <a:latin typeface="Times New Roman"/>
                <a:ea typeface="Times New Roman"/>
                <a:cs typeface="Times New Roman"/>
              </a:rPr>
              <a:t>Giáo trình Chương 1; Đề cương chi tiết học phần</a:t>
            </a:r>
          </a:p>
        </p:txBody>
      </p:sp>
      <p:sp>
        <p:nvSpPr>
          <p:cNvPr id="5" name="Hình chữ nhật 4">
            <a:extLst>
              <a:ext uri="{FF2B5EF4-FFF2-40B4-BE49-F238E27FC236}">
                <a16:creationId xmlns:a16="http://schemas.microsoft.com/office/drawing/2014/main" id="{9D742755-395E-4D9D-9BC8-25C613ECDF27}"/>
              </a:ext>
            </a:extLst>
          </p:cNvPr>
          <p:cNvSpPr>
            <a:spLocks noGrp="1"/>
          </p:cNvSpPr>
          <p:nvPr/>
        </p:nvSpPr>
        <p:spPr>
          <a:xfrm>
            <a:off x="11049000" y="6572250"/>
            <a:ext cx="457200" cy="209550"/>
          </a:xfrm>
          <a:prstGeom prst="rect">
            <a:avLst/>
          </a:prstGeom>
          <a:noFill/>
          <a:ln w="0">
            <a:noFill/>
          </a:ln>
        </p:spPr>
        <p:txBody>
          <a:bodyPr anchor="t">
            <a:noAutofit/>
          </a:bodyPr>
          <a:lstStyle/>
          <a:p>
            <a:pPr algn="r">
              <a:buNone/>
              <a:defRPr sz="975" b="1" i="0">
                <a:solidFill>
                  <a:srgbClr val="C65B4B"/>
                </a:solidFill>
                <a:latin typeface="Times New Roman"/>
                <a:ea typeface="Times New Roman"/>
                <a:cs typeface="Times New Roman"/>
              </a:defRPr>
            </a:pPr>
            <a:r>
              <a:rPr sz="975" b="1" i="0">
                <a:solidFill>
                  <a:srgbClr val="C65B4B"/>
                </a:solidFill>
                <a:latin typeface="Times New Roman"/>
                <a:ea typeface="Times New Roman"/>
                <a:cs typeface="Times New Roman"/>
              </a:rPr>
              <a:t>40</a:t>
            </a:r>
          </a:p>
        </p:txBody>
      </p:sp>
      <p:sp>
        <p:nvSpPr>
          <p:cNvPr id="6" name="Hình chữ nhật: Góc Tròn 5">
            <a:extLst>
              <a:ext uri="{FF2B5EF4-FFF2-40B4-BE49-F238E27FC236}">
                <a16:creationId xmlns:a16="http://schemas.microsoft.com/office/drawing/2014/main" id="{9D3B27E5-6A73-4FC0-941A-F5BE7DC96CA7}"/>
              </a:ext>
            </a:extLst>
          </p:cNvPr>
          <p:cNvSpPr>
            <a:spLocks noGrp="1"/>
          </p:cNvSpPr>
          <p:nvPr/>
        </p:nvSpPr>
        <p:spPr>
          <a:xfrm>
            <a:off x="685800" y="1614196"/>
            <a:ext cx="10363200" cy="1300454"/>
          </a:xfrm>
          <a:prstGeom prst="roundRect">
            <a:avLst>
              <a:gd name="adj" fmla="val 7143"/>
            </a:avLst>
          </a:prstGeom>
          <a:solidFill>
            <a:srgbClr val="142B43"/>
          </a:solidFill>
          <a:ln w="0">
            <a:solidFill>
              <a:srgbClr val="142B43"/>
            </a:solidFill>
          </a:ln>
        </p:spPr>
        <p:txBody>
          <a:bodyPr/>
          <a:lstStyle/>
          <a:p>
            <a:endParaRPr/>
          </a:p>
        </p:txBody>
      </p:sp>
      <p:sp>
        <p:nvSpPr>
          <p:cNvPr id="7" name="Hình chữ nhật 6">
            <a:extLst>
              <a:ext uri="{FF2B5EF4-FFF2-40B4-BE49-F238E27FC236}">
                <a16:creationId xmlns:a16="http://schemas.microsoft.com/office/drawing/2014/main" id="{7F2A8632-C4CB-433C-9040-852480BCAC3A}"/>
              </a:ext>
            </a:extLst>
          </p:cNvPr>
          <p:cNvSpPr>
            <a:spLocks noGrp="1"/>
          </p:cNvSpPr>
          <p:nvPr/>
        </p:nvSpPr>
        <p:spPr>
          <a:xfrm>
            <a:off x="1047750" y="1810139"/>
            <a:ext cx="9620250" cy="984115"/>
          </a:xfrm>
          <a:prstGeom prst="rect">
            <a:avLst/>
          </a:prstGeom>
          <a:noFill/>
          <a:ln w="0">
            <a:noFill/>
          </a:ln>
        </p:spPr>
        <p:txBody>
          <a:bodyPr anchor="t"/>
          <a:lstStyle/>
          <a:p>
            <a:pPr algn="ctr">
              <a:buNone/>
              <a:defRPr sz="2025" b="1" i="0">
                <a:solidFill>
                  <a:srgbClr val="FFFFFF"/>
                </a:solidFill>
                <a:latin typeface="Times New Roman"/>
                <a:ea typeface="Times New Roman"/>
                <a:cs typeface="Times New Roman"/>
              </a:defRPr>
            </a:pPr>
            <a:r>
              <a:rPr sz="2300" b="1" i="0">
                <a:solidFill>
                  <a:srgbClr val="FFFFFF"/>
                </a:solidFill>
                <a:latin typeface="Times New Roman"/>
                <a:ea typeface="Times New Roman"/>
                <a:cs typeface="Times New Roman"/>
              </a:rPr>
              <a:t>Triết học Mác - Lênin là thế giới quan và phương pháp luận khoa học, cách mạng để nhận thức và cải tạo thế giới.</a:t>
            </a:r>
          </a:p>
        </p:txBody>
      </p:sp>
      <p:sp>
        <p:nvSpPr>
          <p:cNvPr id="8" name="Hình chữ nhật 7">
            <a:extLst>
              <a:ext uri="{FF2B5EF4-FFF2-40B4-BE49-F238E27FC236}">
                <a16:creationId xmlns:a16="http://schemas.microsoft.com/office/drawing/2014/main" id="{0AFB2BB7-B236-4A91-94C7-59478A66FFC0}"/>
              </a:ext>
            </a:extLst>
          </p:cNvPr>
          <p:cNvSpPr>
            <a:spLocks noGrp="1"/>
          </p:cNvSpPr>
          <p:nvPr/>
        </p:nvSpPr>
        <p:spPr>
          <a:xfrm>
            <a:off x="685800" y="3219450"/>
            <a:ext cx="9906000" cy="2568702"/>
          </a:xfrm>
          <a:prstGeom prst="rect">
            <a:avLst/>
          </a:prstGeom>
          <a:noFill/>
          <a:ln w="0">
            <a:noFill/>
          </a:ln>
        </p:spPr>
        <p:txBody>
          <a:bodyPr anchor="t"/>
          <a:lstStyle/>
          <a:p>
            <a:pPr algn="l">
              <a:buNone/>
              <a:defRPr sz="1575" b="0" i="0">
                <a:solidFill>
                  <a:srgbClr val="1D2A35"/>
                </a:solidFill>
                <a:latin typeface="Times New Roman"/>
                <a:ea typeface="Times New Roman"/>
                <a:cs typeface="Times New Roman"/>
              </a:defRPr>
            </a:pP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Triết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học</a:t>
            </a:r>
            <a:r>
              <a:rPr sz="1800" b="0" i="0" dirty="0">
                <a:solidFill>
                  <a:srgbClr val="1D2A35"/>
                </a:solidFill>
                <a:latin typeface="Times New Roman"/>
                <a:ea typeface="Times New Roman"/>
                <a:cs typeface="Times New Roman"/>
              </a:rPr>
              <a:t> ra </a:t>
            </a:r>
            <a:r>
              <a:rPr sz="1800" b="0" i="0" dirty="0" err="1">
                <a:solidFill>
                  <a:srgbClr val="1D2A35"/>
                </a:solidFill>
                <a:latin typeface="Times New Roman"/>
                <a:ea typeface="Times New Roman"/>
                <a:cs typeface="Times New Roman"/>
              </a:rPr>
              <a:t>đời</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từ</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nguồn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gốc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nhận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thức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và</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nguồn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gốc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xã</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hội</a:t>
            </a:r>
            <a:r>
              <a:rPr sz="1800" b="0" i="0" dirty="0">
                <a:solidFill>
                  <a:srgbClr val="1D2A35"/>
                </a:solidFill>
                <a:latin typeface="Times New Roman"/>
                <a:ea typeface="Times New Roman"/>
                <a:cs typeface="Times New Roman"/>
              </a:rPr>
              <a:t>.</a:t>
            </a:r>
          </a:p>
          <a:p>
            <a:pPr algn="l">
              <a:buNone/>
              <a:defRPr sz="1575" b="0" i="0">
                <a:solidFill>
                  <a:srgbClr val="1D2A35"/>
                </a:solidFill>
                <a:latin typeface="Times New Roman"/>
                <a:ea typeface="Times New Roman"/>
                <a:cs typeface="Times New Roman"/>
              </a:defRPr>
            </a:pP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Vấn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đề</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cơ</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bản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của</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triết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học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gồm</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hai</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mặt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quan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hệ</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vật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chất</a:t>
            </a:r>
            <a:r>
              <a:rPr sz="1800" b="0" i="0" dirty="0">
                <a:solidFill>
                  <a:srgbClr val="1D2A35"/>
                </a:solidFill>
                <a:latin typeface="Times New Roman"/>
                <a:ea typeface="Times New Roman"/>
                <a:cs typeface="Times New Roman"/>
              </a:rPr>
              <a:t> - ý </a:t>
            </a:r>
            <a:r>
              <a:rPr sz="1800" b="0" i="0" dirty="0" err="1">
                <a:solidFill>
                  <a:srgbClr val="1D2A35"/>
                </a:solidFill>
                <a:latin typeface="Times New Roman"/>
                <a:ea typeface="Times New Roman"/>
                <a:cs typeface="Times New Roman"/>
              </a:rPr>
              <a:t>thức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và</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khả</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năng</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nhận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thức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thế</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giới</a:t>
            </a:r>
            <a:r>
              <a:rPr sz="1800" b="0" i="0" dirty="0">
                <a:solidFill>
                  <a:srgbClr val="1D2A35"/>
                </a:solidFill>
                <a:latin typeface="Times New Roman"/>
                <a:ea typeface="Times New Roman"/>
                <a:cs typeface="Times New Roman"/>
              </a:rPr>
              <a:t>.</a:t>
            </a:r>
          </a:p>
          <a:p>
            <a:pPr algn="l">
              <a:buNone/>
              <a:defRPr sz="1575" b="0" i="0">
                <a:solidFill>
                  <a:srgbClr val="1D2A35"/>
                </a:solidFill>
                <a:latin typeface="Times New Roman"/>
                <a:ea typeface="Times New Roman"/>
                <a:cs typeface="Times New Roman"/>
              </a:defRPr>
            </a:pP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Duy</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vật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biện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chứng</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thống</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nhất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chủ</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nghĩa</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duy</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vật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với</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phép</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biện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chứng</a:t>
            </a:r>
            <a:r>
              <a:rPr sz="1800" b="0" i="0" dirty="0">
                <a:solidFill>
                  <a:srgbClr val="1D2A35"/>
                </a:solidFill>
                <a:latin typeface="Times New Roman"/>
                <a:ea typeface="Times New Roman"/>
                <a:cs typeface="Times New Roman"/>
              </a:rPr>
              <a:t>.</a:t>
            </a:r>
          </a:p>
          <a:p>
            <a:pPr algn="l">
              <a:buNone/>
              <a:defRPr sz="1575" b="0" i="0">
                <a:solidFill>
                  <a:srgbClr val="1D2A35"/>
                </a:solidFill>
                <a:latin typeface="Times New Roman"/>
                <a:ea typeface="Times New Roman"/>
                <a:cs typeface="Times New Roman"/>
              </a:defRPr>
            </a:pP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Triết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học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Mác</a:t>
            </a:r>
            <a:r>
              <a:rPr sz="1800" b="0" i="0" dirty="0">
                <a:solidFill>
                  <a:srgbClr val="1D2A35"/>
                </a:solidFill>
                <a:latin typeface="Times New Roman"/>
                <a:ea typeface="Times New Roman"/>
                <a:cs typeface="Times New Roman"/>
              </a:rPr>
              <a:t> ra </a:t>
            </a:r>
            <a:r>
              <a:rPr sz="1800" b="0" i="0" dirty="0" err="1">
                <a:solidFill>
                  <a:srgbClr val="1D2A35"/>
                </a:solidFill>
                <a:latin typeface="Times New Roman"/>
                <a:ea typeface="Times New Roman"/>
                <a:cs typeface="Times New Roman"/>
              </a:rPr>
              <a:t>đời</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từ</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điều</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kiện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kinh</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tế</a:t>
            </a:r>
            <a:r>
              <a:rPr sz="1800" b="0" i="0" dirty="0">
                <a:solidFill>
                  <a:srgbClr val="1D2A35"/>
                </a:solidFill>
                <a:latin typeface="Times New Roman"/>
                <a:ea typeface="Times New Roman"/>
                <a:cs typeface="Times New Roman"/>
              </a:rPr>
              <a:t> - </a:t>
            </a:r>
            <a:r>
              <a:rPr sz="1800" b="0" i="0" dirty="0" err="1">
                <a:solidFill>
                  <a:srgbClr val="1D2A35"/>
                </a:solidFill>
                <a:latin typeface="Times New Roman"/>
                <a:ea typeface="Times New Roman"/>
                <a:cs typeface="Times New Roman"/>
              </a:rPr>
              <a:t>xã</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hội</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nguồn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gốc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lý</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luận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tiền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đề</a:t>
            </a:r>
            <a:r>
              <a:rPr sz="1800" b="0" i="0" dirty="0">
                <a:solidFill>
                  <a:srgbClr val="1D2A35"/>
                </a:solidFill>
                <a:latin typeface="Times New Roman"/>
                <a:ea typeface="Times New Roman"/>
                <a:cs typeface="Times New Roman"/>
              </a:rPr>
              <a:t> khoa </a:t>
            </a:r>
            <a:r>
              <a:rPr sz="1800" b="0" i="0" dirty="0" err="1">
                <a:solidFill>
                  <a:srgbClr val="1D2A35"/>
                </a:solidFill>
                <a:latin typeface="Times New Roman"/>
                <a:ea typeface="Times New Roman"/>
                <a:cs typeface="Times New Roman"/>
              </a:rPr>
              <a:t>học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và</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nhân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tố</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chủ</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quan</a:t>
            </a:r>
            <a:r>
              <a:rPr sz="1800" b="0" i="0" dirty="0">
                <a:solidFill>
                  <a:srgbClr val="1D2A35"/>
                </a:solidFill>
                <a:latin typeface="Times New Roman"/>
                <a:ea typeface="Times New Roman"/>
                <a:cs typeface="Times New Roman"/>
              </a:rPr>
              <a:t>.</a:t>
            </a:r>
          </a:p>
          <a:p>
            <a:pPr algn="l">
              <a:buNone/>
              <a:defRPr sz="1575" b="0" i="0">
                <a:solidFill>
                  <a:srgbClr val="1D2A35"/>
                </a:solidFill>
                <a:latin typeface="Times New Roman"/>
                <a:ea typeface="Times New Roman"/>
                <a:cs typeface="Times New Roman"/>
              </a:defRPr>
            </a:pP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Lênin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bảo</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vệ</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phát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triển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triết</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học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Mác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trong</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thời</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đại</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đế</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quốc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chủ</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nghĩa</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và</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cách</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mạng</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vô</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sản</a:t>
            </a:r>
            <a:r>
              <a:rPr sz="1800" b="0" i="0" dirty="0">
                <a:solidFill>
                  <a:srgbClr val="1D2A35"/>
                </a:solidFill>
                <a:latin typeface="Times New Roman"/>
                <a:ea typeface="Times New Roman"/>
                <a:cs typeface="Times New Roman"/>
              </a:rPr>
              <a:t>.</a:t>
            </a:r>
          </a:p>
          <a:p>
            <a:pPr algn="l">
              <a:buNone/>
              <a:defRPr sz="1575" b="0" i="0">
                <a:solidFill>
                  <a:srgbClr val="1D2A35"/>
                </a:solidFill>
                <a:latin typeface="Times New Roman"/>
                <a:ea typeface="Times New Roman"/>
                <a:cs typeface="Times New Roman"/>
              </a:defRPr>
            </a:pPr>
            <a:r>
              <a:rPr sz="1800" b="0" i="0" dirty="0">
                <a:solidFill>
                  <a:srgbClr val="1D2A35"/>
                </a:solidFill>
                <a:latin typeface="Times New Roman"/>
                <a:ea typeface="Times New Roman"/>
                <a:cs typeface="Times New Roman"/>
              </a:rPr>
              <a:t>•  Hai </a:t>
            </a:r>
            <a:r>
              <a:rPr sz="1800" b="0" i="0" dirty="0" err="1">
                <a:solidFill>
                  <a:srgbClr val="1D2A35"/>
                </a:solidFill>
                <a:latin typeface="Times New Roman"/>
                <a:ea typeface="Times New Roman"/>
                <a:cs typeface="Times New Roman"/>
              </a:rPr>
              <a:t>chức</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năng</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cơ</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bản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thế</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giới</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quan</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và</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phương</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pháp</a:t>
            </a:r>
            <a:r>
              <a:rPr sz="1800" b="0" i="0" dirty="0">
                <a:solidFill>
                  <a:srgbClr val="1D2A35"/>
                </a:solidFill>
                <a:latin typeface="Times New Roman"/>
                <a:ea typeface="Times New Roman"/>
                <a:cs typeface="Times New Roman"/>
              </a:rPr>
              <a:t> </a:t>
            </a:r>
            <a:r>
              <a:rPr sz="1800" b="0" i="0" dirty="0" err="1">
                <a:solidFill>
                  <a:srgbClr val="1D2A35"/>
                </a:solidFill>
                <a:latin typeface="Times New Roman"/>
                <a:ea typeface="Times New Roman"/>
                <a:cs typeface="Times New Roman"/>
              </a:rPr>
              <a:t>luận</a:t>
            </a:r>
            <a:r>
              <a:rPr sz="1800" b="0" i="0" dirty="0">
                <a:solidFill>
                  <a:srgbClr val="1D2A35"/>
                </a:solidFill>
                <a:latin typeface="Times New Roman"/>
                <a:ea typeface="Times New Roman"/>
                <a:cs typeface="Times New Roman"/>
              </a:rPr>
              <a:t>.</a:t>
            </a:r>
          </a:p>
        </p:txBody>
      </p:sp>
      <p:sp>
        <p:nvSpPr>
          <p:cNvPr id="9" name="Hình chữ nhật 8">
            <a:extLst>
              <a:ext uri="{FF2B5EF4-FFF2-40B4-BE49-F238E27FC236}">
                <a16:creationId xmlns:a16="http://schemas.microsoft.com/office/drawing/2014/main" id="{EA3653B0-9478-492B-91A3-8E53F2A7DD78}"/>
              </a:ext>
            </a:extLst>
          </p:cNvPr>
          <p:cNvSpPr>
            <a:spLocks noGrp="1"/>
          </p:cNvSpPr>
          <p:nvPr/>
        </p:nvSpPr>
        <p:spPr>
          <a:xfrm>
            <a:off x="990600" y="5810250"/>
            <a:ext cx="9906000" cy="637794"/>
          </a:xfrm>
          <a:prstGeom prst="rect">
            <a:avLst/>
          </a:prstGeom>
          <a:noFill/>
          <a:ln w="0">
            <a:noFill/>
          </a:ln>
        </p:spPr>
        <p:txBody>
          <a:bodyPr anchor="t"/>
          <a:lstStyle/>
          <a:p>
            <a:pPr algn="ctr">
              <a:buNone/>
              <a:defRPr sz="1425" b="0" i="1">
                <a:solidFill>
                  <a:srgbClr val="C65B4B"/>
                </a:solidFill>
                <a:latin typeface="Times New Roman"/>
                <a:ea typeface="Times New Roman"/>
                <a:cs typeface="Times New Roman"/>
              </a:defRPr>
            </a:pPr>
            <a:endParaRPr sz="1850" b="0" i="1" dirty="0">
              <a:solidFill>
                <a:srgbClr val="C65B4B"/>
              </a:solidFill>
              <a:latin typeface="Times New Roman"/>
              <a:ea typeface="Times New Roman"/>
              <a:cs typeface="Times New Roman"/>
            </a:endParaRPr>
          </a:p>
        </p:txBody>
      </p:sp>
    </p:spTree>
    <p:extLst>
      <p:ext uri="{BB962C8B-B14F-4D97-AF65-F5344CB8AC3E}">
        <p14:creationId xmlns:p14="http://schemas.microsoft.com/office/powerpoint/2010/main" val="30244886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imes New Roman"/>
        <a:ea typeface="Times New Roman"/>
        <a:cs typeface="Times New Roman"/>
      </a:majorFont>
      <a:minorFont>
        <a:latin typeface="Times New Roman"/>
        <a:ea typeface="Times New Roman"/>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imes New Roman"/>
        <a:ea typeface="Times New Roman"/>
        <a:cs typeface="Times New Roman"/>
      </a:majorFont>
      <a:minorFont>
        <a:latin typeface="Times New Roman"/>
        <a:ea typeface="Times New Roman"/>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7490</Words>
  <Application>Microsoft Office PowerPoint</Application>
  <DocSecurity>0</DocSecurity>
  <PresentationFormat>Màn hình rộng</PresentationFormat>
  <Paragraphs>541</Paragraphs>
  <Slides>40</Slides>
  <Notes>40</Notes>
  <HiddenSlides>0</HiddenSlides>
  <MMClips>0</MMClips>
  <ScaleCrop>false</ScaleCrop>
  <HeadingPairs>
    <vt:vector size="6" baseType="variant">
      <vt:variant>
        <vt:lpstr>Phông được Dùng</vt:lpstr>
      </vt:variant>
      <vt:variant>
        <vt:i4>1</vt:i4>
      </vt:variant>
      <vt:variant>
        <vt:lpstr>Chủ đề</vt:lpstr>
      </vt:variant>
      <vt:variant>
        <vt:i4>1</vt:i4>
      </vt:variant>
      <vt:variant>
        <vt:lpstr>Tiêu đề Bản chiếu</vt:lpstr>
      </vt:variant>
      <vt:variant>
        <vt:i4>40</vt:i4>
      </vt:variant>
    </vt:vector>
  </HeadingPairs>
  <TitlesOfParts>
    <vt:vector size="42" baseType="lpstr">
      <vt:lpstr>Times New Roman</vt:lpstr>
      <vt:lpstr>ChatGPT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Tran Thi Lan  Anh</cp:lastModifiedBy>
  <cp:revision>18</cp:revision>
  <dcterms:created xsi:type="dcterms:W3CDTF">2026-09-14T09:40:48Z</dcterms:created>
  <dcterms:modified xsi:type="dcterms:W3CDTF">2026-09-16T01:57:18Z</dcterms:modified>
</cp:coreProperties>
</file>